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490"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CD2DFDC9-FE69-453A-AE7E-FD2F5CEC623B}" type="datetimeFigureOut">
              <a:rPr lang="en-IN" smtClean="0"/>
              <a:t>26-03-2026</a:t>
            </a:fld>
            <a:endParaRPr lang="en-IN"/>
          </a:p>
        </p:txBody>
      </p:sp>
      <p:sp>
        <p:nvSpPr>
          <p:cNvPr id="4" name="Slide Image Placeholder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A5C52324-1134-4BA5-B3CC-F9FFA4552376}" type="slidenum">
              <a:rPr lang="en-IN" smtClean="0"/>
              <a:t>‹#›</a:t>
            </a:fld>
            <a:endParaRPr lang="en-IN"/>
          </a:p>
        </p:txBody>
      </p:sp>
    </p:spTree>
    <p:extLst>
      <p:ext uri="{BB962C8B-B14F-4D97-AF65-F5344CB8AC3E}">
        <p14:creationId xmlns:p14="http://schemas.microsoft.com/office/powerpoint/2010/main" val="3291051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6E"/>
        </a:solidFill>
        <a:effectLst/>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BCEAC"/>
          </a:solidFill>
          <a:ln w="12700">
            <a:solidFill>
              <a:srgbClr val="3BCEAC"/>
            </a:solidFill>
            <a:prstDash val="solid"/>
          </a:ln>
        </p:spPr>
      </p:sp>
      <p:sp>
        <p:nvSpPr>
          <p:cNvPr id="3" name="Shape 1"/>
          <p:cNvSpPr/>
          <p:nvPr/>
        </p:nvSpPr>
        <p:spPr>
          <a:xfrm>
            <a:off x="365760" y="0"/>
            <a:ext cx="109728" cy="5143500"/>
          </a:xfrm>
          <a:prstGeom prst="rect">
            <a:avLst/>
          </a:prstGeom>
          <a:solidFill>
            <a:srgbClr val="2E86AB"/>
          </a:solidFill>
          <a:ln w="12700">
            <a:solidFill>
              <a:srgbClr val="2E86AB"/>
            </a:solidFill>
            <a:prstDash val="solid"/>
          </a:ln>
        </p:spPr>
      </p:sp>
      <p:sp>
        <p:nvSpPr>
          <p:cNvPr id="4" name="Text 2"/>
          <p:cNvSpPr/>
          <p:nvPr/>
        </p:nvSpPr>
        <p:spPr>
          <a:xfrm>
            <a:off x="731520" y="731520"/>
            <a:ext cx="8046720" cy="822960"/>
          </a:xfrm>
          <a:prstGeom prst="rect">
            <a:avLst/>
          </a:prstGeom>
          <a:noFill/>
          <a:ln/>
        </p:spPr>
        <p:txBody>
          <a:bodyPr wrap="square" lIns="0" tIns="0" rIns="0" bIns="0" rtlCol="0" anchor="ctr"/>
          <a:lstStyle/>
          <a:p>
            <a:pPr marL="0" indent="0" algn="l">
              <a:buNone/>
            </a:pPr>
            <a:r>
              <a:rPr lang="en-US" sz="4600" b="1" kern="0" spc="200" dirty="0">
                <a:solidFill>
                  <a:srgbClr val="FFFFFF"/>
                </a:solidFill>
              </a:rPr>
              <a:t>LIVER CIRRHOSIS</a:t>
            </a:r>
            <a:endParaRPr lang="en-US" sz="4600" dirty="0"/>
          </a:p>
        </p:txBody>
      </p:sp>
      <p:sp>
        <p:nvSpPr>
          <p:cNvPr id="5" name="Text 3"/>
          <p:cNvSpPr/>
          <p:nvPr/>
        </p:nvSpPr>
        <p:spPr>
          <a:xfrm>
            <a:off x="731520" y="1508760"/>
            <a:ext cx="8046720" cy="640080"/>
          </a:xfrm>
          <a:prstGeom prst="rect">
            <a:avLst/>
          </a:prstGeom>
          <a:noFill/>
          <a:ln/>
        </p:spPr>
        <p:txBody>
          <a:bodyPr wrap="square" lIns="0" tIns="0" rIns="0" bIns="0" rtlCol="0" anchor="ctr"/>
          <a:lstStyle/>
          <a:p>
            <a:pPr marL="0" indent="0" algn="l">
              <a:buNone/>
            </a:pPr>
            <a:r>
              <a:rPr lang="en-US" sz="3000" kern="0" spc="400" dirty="0">
                <a:solidFill>
                  <a:srgbClr val="3BCEAC"/>
                </a:solidFill>
              </a:rPr>
              <a:t>CLINICAL ANALYSIS</a:t>
            </a:r>
            <a:endParaRPr lang="en-US" sz="3000" dirty="0"/>
          </a:p>
        </p:txBody>
      </p:sp>
      <p:sp>
        <p:nvSpPr>
          <p:cNvPr id="6" name="Shape 4"/>
          <p:cNvSpPr/>
          <p:nvPr/>
        </p:nvSpPr>
        <p:spPr>
          <a:xfrm>
            <a:off x="731520" y="2286000"/>
            <a:ext cx="7772400" cy="0"/>
          </a:xfrm>
          <a:prstGeom prst="line">
            <a:avLst/>
          </a:prstGeom>
          <a:noFill/>
          <a:ln w="15240">
            <a:solidFill>
              <a:srgbClr val="2E86AB"/>
            </a:solidFill>
            <a:prstDash val="solid"/>
          </a:ln>
        </p:spPr>
      </p:sp>
      <p:sp>
        <p:nvSpPr>
          <p:cNvPr id="7" name="Text 5"/>
          <p:cNvSpPr/>
          <p:nvPr/>
        </p:nvSpPr>
        <p:spPr>
          <a:xfrm>
            <a:off x="731520" y="2423160"/>
            <a:ext cx="8046720" cy="411480"/>
          </a:xfrm>
          <a:prstGeom prst="rect">
            <a:avLst/>
          </a:prstGeom>
          <a:noFill/>
          <a:ln/>
        </p:spPr>
        <p:txBody>
          <a:bodyPr wrap="square" lIns="0" tIns="0" rIns="0" bIns="0" rtlCol="0" anchor="ctr"/>
          <a:lstStyle/>
          <a:p>
            <a:pPr marL="0" indent="0" algn="l">
              <a:buNone/>
            </a:pPr>
            <a:r>
              <a:rPr lang="en-US" sz="1500" dirty="0">
                <a:solidFill>
                  <a:srgbClr val="A8C5DA"/>
                </a:solidFill>
              </a:rPr>
              <a:t>Power BI Dashboard Project · Healthcare Data Analytics</a:t>
            </a:r>
            <a:endParaRPr lang="en-US" sz="1500" dirty="0"/>
          </a:p>
        </p:txBody>
      </p:sp>
      <p:sp>
        <p:nvSpPr>
          <p:cNvPr id="8" name="Shape 6"/>
          <p:cNvSpPr/>
          <p:nvPr/>
        </p:nvSpPr>
        <p:spPr>
          <a:xfrm>
            <a:off x="731520" y="3017520"/>
            <a:ext cx="1554480" cy="1005840"/>
          </a:xfrm>
          <a:prstGeom prst="rect">
            <a:avLst/>
          </a:prstGeom>
          <a:solidFill>
            <a:srgbClr val="3BCEAC">
              <a:alpha val="85000"/>
            </a:srgbClr>
          </a:solidFill>
          <a:ln w="12700">
            <a:solidFill>
              <a:srgbClr val="3BCEAC"/>
            </a:solidFill>
            <a:prstDash val="solid"/>
          </a:ln>
        </p:spPr>
      </p:sp>
      <p:sp>
        <p:nvSpPr>
          <p:cNvPr id="9" name="Text 7"/>
          <p:cNvSpPr/>
          <p:nvPr/>
        </p:nvSpPr>
        <p:spPr>
          <a:xfrm>
            <a:off x="731520" y="3017520"/>
            <a:ext cx="1554480" cy="566928"/>
          </a:xfrm>
          <a:prstGeom prst="rect">
            <a:avLst/>
          </a:prstGeom>
          <a:noFill/>
          <a:ln/>
        </p:spPr>
        <p:txBody>
          <a:bodyPr wrap="square" lIns="0" tIns="0" rIns="0" bIns="0" rtlCol="0" anchor="b"/>
          <a:lstStyle/>
          <a:p>
            <a:pPr marL="0" indent="0" algn="ctr">
              <a:buNone/>
            </a:pPr>
            <a:r>
              <a:rPr lang="en-US" sz="2200" b="1" dirty="0">
                <a:solidFill>
                  <a:srgbClr val="FFFFFF"/>
                </a:solidFill>
              </a:rPr>
              <a:t>25,000</a:t>
            </a:r>
            <a:endParaRPr lang="en-US" sz="2200" dirty="0"/>
          </a:p>
        </p:txBody>
      </p:sp>
      <p:sp>
        <p:nvSpPr>
          <p:cNvPr id="10" name="Text 8"/>
          <p:cNvSpPr/>
          <p:nvPr/>
        </p:nvSpPr>
        <p:spPr>
          <a:xfrm>
            <a:off x="731520" y="3566160"/>
            <a:ext cx="1554480" cy="457200"/>
          </a:xfrm>
          <a:prstGeom prst="rect">
            <a:avLst/>
          </a:prstGeom>
          <a:noFill/>
          <a:ln/>
        </p:spPr>
        <p:txBody>
          <a:bodyPr wrap="square" lIns="0" tIns="0" rIns="0" bIns="0" rtlCol="0" anchor="t"/>
          <a:lstStyle/>
          <a:p>
            <a:pPr marL="0" indent="0" algn="ctr">
              <a:buNone/>
            </a:pPr>
            <a:r>
              <a:rPr lang="en-US" sz="900" dirty="0">
                <a:solidFill>
                  <a:srgbClr val="E0EDF5"/>
                </a:solidFill>
              </a:rPr>
              <a:t>Patients</a:t>
            </a:r>
            <a:endParaRPr lang="en-US" sz="900" dirty="0"/>
          </a:p>
        </p:txBody>
      </p:sp>
      <p:sp>
        <p:nvSpPr>
          <p:cNvPr id="11" name="Shape 9"/>
          <p:cNvSpPr/>
          <p:nvPr/>
        </p:nvSpPr>
        <p:spPr>
          <a:xfrm>
            <a:off x="2423160" y="3017520"/>
            <a:ext cx="1554480" cy="1005840"/>
          </a:xfrm>
          <a:prstGeom prst="rect">
            <a:avLst/>
          </a:prstGeom>
          <a:solidFill>
            <a:srgbClr val="2E86AB">
              <a:alpha val="85000"/>
            </a:srgbClr>
          </a:solidFill>
          <a:ln w="12700">
            <a:solidFill>
              <a:srgbClr val="2E86AB"/>
            </a:solidFill>
            <a:prstDash val="solid"/>
          </a:ln>
        </p:spPr>
      </p:sp>
      <p:sp>
        <p:nvSpPr>
          <p:cNvPr id="12" name="Text 10"/>
          <p:cNvSpPr/>
          <p:nvPr/>
        </p:nvSpPr>
        <p:spPr>
          <a:xfrm>
            <a:off x="2423160" y="3017520"/>
            <a:ext cx="1554480" cy="566928"/>
          </a:xfrm>
          <a:prstGeom prst="rect">
            <a:avLst/>
          </a:prstGeom>
          <a:noFill/>
          <a:ln/>
        </p:spPr>
        <p:txBody>
          <a:bodyPr wrap="square" lIns="0" tIns="0" rIns="0" bIns="0" rtlCol="0" anchor="b"/>
          <a:lstStyle/>
          <a:p>
            <a:pPr marL="0" indent="0" algn="ctr">
              <a:buNone/>
            </a:pPr>
            <a:r>
              <a:rPr lang="en-US" sz="2200" b="1" dirty="0">
                <a:solidFill>
                  <a:srgbClr val="FFFFFF"/>
                </a:solidFill>
              </a:rPr>
              <a:t>8</a:t>
            </a:r>
            <a:endParaRPr lang="en-US" sz="2200" dirty="0"/>
          </a:p>
        </p:txBody>
      </p:sp>
      <p:sp>
        <p:nvSpPr>
          <p:cNvPr id="13" name="Text 11"/>
          <p:cNvSpPr/>
          <p:nvPr/>
        </p:nvSpPr>
        <p:spPr>
          <a:xfrm>
            <a:off x="2423160" y="3566160"/>
            <a:ext cx="1554480" cy="457200"/>
          </a:xfrm>
          <a:prstGeom prst="rect">
            <a:avLst/>
          </a:prstGeom>
          <a:noFill/>
          <a:ln/>
        </p:spPr>
        <p:txBody>
          <a:bodyPr wrap="square" lIns="0" tIns="0" rIns="0" bIns="0" rtlCol="0" anchor="t"/>
          <a:lstStyle/>
          <a:p>
            <a:pPr marL="0" indent="0" algn="ctr">
              <a:buNone/>
            </a:pPr>
            <a:r>
              <a:rPr lang="en-US" sz="900" dirty="0">
                <a:solidFill>
                  <a:srgbClr val="E0EDF5"/>
                </a:solidFill>
              </a:rPr>
              <a:t>Dashboards</a:t>
            </a:r>
            <a:endParaRPr lang="en-US" sz="900" dirty="0"/>
          </a:p>
        </p:txBody>
      </p:sp>
      <p:sp>
        <p:nvSpPr>
          <p:cNvPr id="14" name="Shape 12"/>
          <p:cNvSpPr/>
          <p:nvPr/>
        </p:nvSpPr>
        <p:spPr>
          <a:xfrm>
            <a:off x="4114800" y="3017520"/>
            <a:ext cx="1554480" cy="1005840"/>
          </a:xfrm>
          <a:prstGeom prst="rect">
            <a:avLst/>
          </a:prstGeom>
          <a:solidFill>
            <a:srgbClr val="E84855">
              <a:alpha val="85000"/>
            </a:srgbClr>
          </a:solidFill>
          <a:ln w="12700">
            <a:solidFill>
              <a:srgbClr val="E84855"/>
            </a:solidFill>
            <a:prstDash val="solid"/>
          </a:ln>
        </p:spPr>
      </p:sp>
      <p:sp>
        <p:nvSpPr>
          <p:cNvPr id="15" name="Text 13"/>
          <p:cNvSpPr/>
          <p:nvPr/>
        </p:nvSpPr>
        <p:spPr>
          <a:xfrm>
            <a:off x="4114800" y="3017520"/>
            <a:ext cx="1554480" cy="566928"/>
          </a:xfrm>
          <a:prstGeom prst="rect">
            <a:avLst/>
          </a:prstGeom>
          <a:noFill/>
          <a:ln/>
        </p:spPr>
        <p:txBody>
          <a:bodyPr wrap="square" lIns="0" tIns="0" rIns="0" bIns="0" rtlCol="0" anchor="b"/>
          <a:lstStyle/>
          <a:p>
            <a:pPr marL="0" indent="0" algn="ctr">
              <a:buNone/>
            </a:pPr>
            <a:r>
              <a:rPr lang="en-US" sz="2200" b="1" dirty="0">
                <a:solidFill>
                  <a:srgbClr val="FFFFFF"/>
                </a:solidFill>
              </a:rPr>
              <a:t>37.8%</a:t>
            </a:r>
            <a:endParaRPr lang="en-US" sz="2200" dirty="0"/>
          </a:p>
        </p:txBody>
      </p:sp>
      <p:sp>
        <p:nvSpPr>
          <p:cNvPr id="16" name="Text 14"/>
          <p:cNvSpPr/>
          <p:nvPr/>
        </p:nvSpPr>
        <p:spPr>
          <a:xfrm>
            <a:off x="4114800" y="3566160"/>
            <a:ext cx="1554480" cy="457200"/>
          </a:xfrm>
          <a:prstGeom prst="rect">
            <a:avLst/>
          </a:prstGeom>
          <a:noFill/>
          <a:ln/>
        </p:spPr>
        <p:txBody>
          <a:bodyPr wrap="square" lIns="0" tIns="0" rIns="0" bIns="0" rtlCol="0" anchor="t"/>
          <a:lstStyle/>
          <a:p>
            <a:pPr marL="0" indent="0" algn="ctr">
              <a:buNone/>
            </a:pPr>
            <a:r>
              <a:rPr lang="en-US" sz="900" dirty="0">
                <a:solidFill>
                  <a:srgbClr val="E0EDF5"/>
                </a:solidFill>
              </a:rPr>
              <a:t>Mortality</a:t>
            </a:r>
            <a:endParaRPr lang="en-US" sz="900" dirty="0"/>
          </a:p>
        </p:txBody>
      </p:sp>
      <p:sp>
        <p:nvSpPr>
          <p:cNvPr id="17" name="Shape 15"/>
          <p:cNvSpPr/>
          <p:nvPr/>
        </p:nvSpPr>
        <p:spPr>
          <a:xfrm>
            <a:off x="5806440" y="3017520"/>
            <a:ext cx="1554480" cy="1005840"/>
          </a:xfrm>
          <a:prstGeom prst="rect">
            <a:avLst/>
          </a:prstGeom>
          <a:solidFill>
            <a:srgbClr val="F4A261">
              <a:alpha val="85000"/>
            </a:srgbClr>
          </a:solidFill>
          <a:ln w="12700">
            <a:solidFill>
              <a:srgbClr val="F4A261"/>
            </a:solidFill>
            <a:prstDash val="solid"/>
          </a:ln>
        </p:spPr>
      </p:sp>
      <p:sp>
        <p:nvSpPr>
          <p:cNvPr id="18" name="Text 16"/>
          <p:cNvSpPr/>
          <p:nvPr/>
        </p:nvSpPr>
        <p:spPr>
          <a:xfrm>
            <a:off x="5806440" y="3017520"/>
            <a:ext cx="1554480" cy="566928"/>
          </a:xfrm>
          <a:prstGeom prst="rect">
            <a:avLst/>
          </a:prstGeom>
          <a:noFill/>
          <a:ln/>
        </p:spPr>
        <p:txBody>
          <a:bodyPr wrap="square" lIns="0" tIns="0" rIns="0" bIns="0" rtlCol="0" anchor="b"/>
          <a:lstStyle/>
          <a:p>
            <a:pPr marL="0" indent="0" algn="ctr">
              <a:buNone/>
            </a:pPr>
            <a:r>
              <a:rPr lang="en-US" sz="2200" b="1" dirty="0">
                <a:solidFill>
                  <a:srgbClr val="FFFFFF"/>
                </a:solidFill>
              </a:rPr>
              <a:t>88.5%</a:t>
            </a:r>
            <a:endParaRPr lang="en-US" sz="2200" dirty="0"/>
          </a:p>
        </p:txBody>
      </p:sp>
      <p:sp>
        <p:nvSpPr>
          <p:cNvPr id="19" name="Text 17"/>
          <p:cNvSpPr/>
          <p:nvPr/>
        </p:nvSpPr>
        <p:spPr>
          <a:xfrm>
            <a:off x="5806440" y="3566160"/>
            <a:ext cx="1554480" cy="457200"/>
          </a:xfrm>
          <a:prstGeom prst="rect">
            <a:avLst/>
          </a:prstGeom>
          <a:noFill/>
          <a:ln/>
        </p:spPr>
        <p:txBody>
          <a:bodyPr wrap="square" lIns="0" tIns="0" rIns="0" bIns="0" rtlCol="0" anchor="t"/>
          <a:lstStyle/>
          <a:p>
            <a:pPr marL="0" indent="0" algn="ctr">
              <a:buNone/>
            </a:pPr>
            <a:r>
              <a:rPr lang="en-US" sz="900" dirty="0">
                <a:solidFill>
                  <a:srgbClr val="E0EDF5"/>
                </a:solidFill>
              </a:rPr>
              <a:t>Female</a:t>
            </a:r>
            <a:endParaRPr lang="en-US" sz="900" dirty="0"/>
          </a:p>
        </p:txBody>
      </p:sp>
      <p:sp>
        <p:nvSpPr>
          <p:cNvPr id="20" name="Shape 18"/>
          <p:cNvSpPr/>
          <p:nvPr/>
        </p:nvSpPr>
        <p:spPr>
          <a:xfrm>
            <a:off x="7498080" y="3017520"/>
            <a:ext cx="1554480" cy="1005840"/>
          </a:xfrm>
          <a:prstGeom prst="rect">
            <a:avLst/>
          </a:prstGeom>
          <a:solidFill>
            <a:srgbClr val="533AB7">
              <a:alpha val="85000"/>
            </a:srgbClr>
          </a:solidFill>
          <a:ln w="12700">
            <a:solidFill>
              <a:srgbClr val="533AB7"/>
            </a:solidFill>
            <a:prstDash val="solid"/>
          </a:ln>
        </p:spPr>
      </p:sp>
      <p:sp>
        <p:nvSpPr>
          <p:cNvPr id="21" name="Text 19"/>
          <p:cNvSpPr/>
          <p:nvPr/>
        </p:nvSpPr>
        <p:spPr>
          <a:xfrm>
            <a:off x="7498080" y="3017520"/>
            <a:ext cx="1554480" cy="566928"/>
          </a:xfrm>
          <a:prstGeom prst="rect">
            <a:avLst/>
          </a:prstGeom>
          <a:noFill/>
          <a:ln/>
        </p:spPr>
        <p:txBody>
          <a:bodyPr wrap="square" lIns="0" tIns="0" rIns="0" bIns="0" rtlCol="0" anchor="b"/>
          <a:lstStyle/>
          <a:p>
            <a:pPr marL="0" indent="0" algn="ctr">
              <a:buNone/>
            </a:pPr>
            <a:r>
              <a:rPr lang="en-US" sz="2200" b="1" dirty="0">
                <a:solidFill>
                  <a:srgbClr val="FFFFFF"/>
                </a:solidFill>
              </a:rPr>
              <a:t>1974–84</a:t>
            </a:r>
            <a:endParaRPr lang="en-US" sz="2200" dirty="0"/>
          </a:p>
        </p:txBody>
      </p:sp>
      <p:sp>
        <p:nvSpPr>
          <p:cNvPr id="22" name="Text 20"/>
          <p:cNvSpPr/>
          <p:nvPr/>
        </p:nvSpPr>
        <p:spPr>
          <a:xfrm>
            <a:off x="7498080" y="3566160"/>
            <a:ext cx="1554480" cy="457200"/>
          </a:xfrm>
          <a:prstGeom prst="rect">
            <a:avLst/>
          </a:prstGeom>
          <a:noFill/>
          <a:ln/>
        </p:spPr>
        <p:txBody>
          <a:bodyPr wrap="square" lIns="0" tIns="0" rIns="0" bIns="0" rtlCol="0" anchor="t"/>
          <a:lstStyle/>
          <a:p>
            <a:pPr marL="0" indent="0" algn="ctr">
              <a:buNone/>
            </a:pPr>
            <a:r>
              <a:rPr lang="en-US" sz="900" dirty="0">
                <a:solidFill>
                  <a:srgbClr val="E0EDF5"/>
                </a:solidFill>
              </a:rPr>
              <a:t>Trial Years</a:t>
            </a:r>
            <a:endParaRPr lang="en-US" sz="900" dirty="0"/>
          </a:p>
        </p:txBody>
      </p:sp>
      <p:sp>
        <p:nvSpPr>
          <p:cNvPr id="23" name="Text 21"/>
          <p:cNvSpPr/>
          <p:nvPr/>
        </p:nvSpPr>
        <p:spPr>
          <a:xfrm>
            <a:off x="731520" y="4572000"/>
            <a:ext cx="8229600" cy="320040"/>
          </a:xfrm>
          <a:prstGeom prst="rect">
            <a:avLst/>
          </a:prstGeom>
          <a:noFill/>
          <a:ln/>
        </p:spPr>
        <p:txBody>
          <a:bodyPr wrap="square" lIns="0" tIns="0" rIns="0" bIns="0" rtlCol="0" anchor="ctr"/>
          <a:lstStyle/>
          <a:p>
            <a:pPr marL="0" indent="0" algn="l">
              <a:buNone/>
            </a:pPr>
            <a:r>
              <a:rPr lang="en-US" sz="800" dirty="0">
                <a:solidFill>
                  <a:srgbClr val="5A7D99"/>
                </a:solidFill>
              </a:rPr>
              <a:t>Mayo Clinic PBC Trial · 1974–1984 · Kaggle Dataset · For Academic &amp; Research Purposes Only</a:t>
            </a:r>
            <a:endParaRPr lang="en-US" sz="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4A6E"/>
          </a:solidFill>
          <a:ln w="12700">
            <a:solidFill>
              <a:srgbClr val="1A4A6E"/>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lgn="l">
              <a:buNone/>
            </a:pPr>
            <a:r>
              <a:rPr lang="en-US" sz="2000" b="1" kern="0" spc="200" dirty="0">
                <a:solidFill>
                  <a:srgbClr val="FFFFFF"/>
                </a:solidFill>
              </a:rPr>
              <a:t>PRESENTATION OVERVIEW</a:t>
            </a:r>
            <a:endParaRPr lang="en-US" sz="2000" dirty="0"/>
          </a:p>
        </p:txBody>
      </p:sp>
      <p:sp>
        <p:nvSpPr>
          <p:cNvPr id="4" name="Shape 2"/>
          <p:cNvSpPr/>
          <p:nvPr/>
        </p:nvSpPr>
        <p:spPr>
          <a:xfrm>
            <a:off x="365760" y="1143000"/>
            <a:ext cx="4114800" cy="771319"/>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5" name="Shape 3"/>
          <p:cNvSpPr/>
          <p:nvPr/>
        </p:nvSpPr>
        <p:spPr>
          <a:xfrm>
            <a:off x="365760" y="1143000"/>
            <a:ext cx="45719" cy="771319"/>
          </a:xfrm>
          <a:prstGeom prst="rect">
            <a:avLst/>
          </a:prstGeom>
          <a:solidFill>
            <a:srgbClr val="1A4A6E"/>
          </a:solidFill>
          <a:ln w="12700">
            <a:solidFill>
              <a:srgbClr val="1A4A6E"/>
            </a:solidFill>
            <a:prstDash val="solid"/>
          </a:ln>
        </p:spPr>
      </p:sp>
      <p:sp>
        <p:nvSpPr>
          <p:cNvPr id="6" name="Text 4"/>
          <p:cNvSpPr/>
          <p:nvPr/>
        </p:nvSpPr>
        <p:spPr>
          <a:xfrm>
            <a:off x="530352" y="1216152"/>
            <a:ext cx="457200" cy="365760"/>
          </a:xfrm>
          <a:prstGeom prst="rect">
            <a:avLst/>
          </a:prstGeom>
          <a:noFill/>
          <a:ln/>
        </p:spPr>
        <p:txBody>
          <a:bodyPr wrap="square" lIns="0" tIns="0" rIns="0" bIns="0" rtlCol="0" anchor="ctr"/>
          <a:lstStyle/>
          <a:p>
            <a:pPr marL="0" indent="0" algn="l">
              <a:buNone/>
            </a:pPr>
            <a:r>
              <a:rPr lang="en-US" sz="2000" b="1" dirty="0">
                <a:solidFill>
                  <a:srgbClr val="1A4A6E"/>
                </a:solidFill>
              </a:rPr>
              <a:t>01</a:t>
            </a:r>
            <a:endParaRPr lang="en-US" sz="2000" dirty="0"/>
          </a:p>
        </p:txBody>
      </p:sp>
      <p:sp>
        <p:nvSpPr>
          <p:cNvPr id="7" name="Text 5"/>
          <p:cNvSpPr/>
          <p:nvPr/>
        </p:nvSpPr>
        <p:spPr>
          <a:xfrm>
            <a:off x="960120" y="1234440"/>
            <a:ext cx="3429000" cy="347472"/>
          </a:xfrm>
          <a:prstGeom prst="rect">
            <a:avLst/>
          </a:prstGeom>
          <a:noFill/>
          <a:ln/>
        </p:spPr>
        <p:txBody>
          <a:bodyPr wrap="square" lIns="0" tIns="0" rIns="0" bIns="0" rtlCol="0" anchor="ctr"/>
          <a:lstStyle/>
          <a:p>
            <a:pPr marL="0" indent="0" algn="l">
              <a:buNone/>
            </a:pPr>
            <a:r>
              <a:rPr lang="en-US" sz="1200" b="1" dirty="0">
                <a:solidFill>
                  <a:srgbClr val="1A4A6E"/>
                </a:solidFill>
              </a:rPr>
              <a:t>Project Background</a:t>
            </a:r>
            <a:endParaRPr lang="en-US" sz="1200" dirty="0"/>
          </a:p>
        </p:txBody>
      </p:sp>
      <p:sp>
        <p:nvSpPr>
          <p:cNvPr id="8" name="Text 6"/>
          <p:cNvSpPr/>
          <p:nvPr/>
        </p:nvSpPr>
        <p:spPr>
          <a:xfrm>
            <a:off x="530352" y="1618488"/>
            <a:ext cx="3858768" cy="384048"/>
          </a:xfrm>
          <a:prstGeom prst="rect">
            <a:avLst/>
          </a:prstGeom>
          <a:noFill/>
          <a:ln/>
        </p:spPr>
        <p:txBody>
          <a:bodyPr wrap="square" lIns="0" tIns="0" rIns="0" bIns="0" rtlCol="0" anchor="t"/>
          <a:lstStyle/>
          <a:p>
            <a:pPr marL="0" indent="0" algn="l">
              <a:buNone/>
            </a:pPr>
            <a:r>
              <a:rPr lang="en-US" sz="950" dirty="0">
                <a:solidFill>
                  <a:srgbClr val="5A7D99"/>
                </a:solidFill>
              </a:rPr>
              <a:t>Problem statement · objectives · dataset overview</a:t>
            </a:r>
            <a:endParaRPr lang="en-US" sz="950" dirty="0"/>
          </a:p>
        </p:txBody>
      </p:sp>
      <p:sp>
        <p:nvSpPr>
          <p:cNvPr id="9" name="Shape 7"/>
          <p:cNvSpPr/>
          <p:nvPr/>
        </p:nvSpPr>
        <p:spPr>
          <a:xfrm>
            <a:off x="4846320" y="1143000"/>
            <a:ext cx="4114800" cy="909466"/>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10" name="Shape 8"/>
          <p:cNvSpPr/>
          <p:nvPr/>
        </p:nvSpPr>
        <p:spPr>
          <a:xfrm>
            <a:off x="4846320" y="1143000"/>
            <a:ext cx="64008" cy="771319"/>
          </a:xfrm>
          <a:prstGeom prst="rect">
            <a:avLst/>
          </a:prstGeom>
          <a:solidFill>
            <a:srgbClr val="2E86AB"/>
          </a:solidFill>
          <a:ln w="12700">
            <a:solidFill>
              <a:srgbClr val="2E86AB"/>
            </a:solidFill>
            <a:prstDash val="solid"/>
          </a:ln>
        </p:spPr>
      </p:sp>
      <p:sp>
        <p:nvSpPr>
          <p:cNvPr id="11" name="Text 9"/>
          <p:cNvSpPr/>
          <p:nvPr/>
        </p:nvSpPr>
        <p:spPr>
          <a:xfrm>
            <a:off x="5010912" y="1216152"/>
            <a:ext cx="457200" cy="365760"/>
          </a:xfrm>
          <a:prstGeom prst="rect">
            <a:avLst/>
          </a:prstGeom>
          <a:noFill/>
          <a:ln/>
        </p:spPr>
        <p:txBody>
          <a:bodyPr wrap="square" lIns="0" tIns="0" rIns="0" bIns="0" rtlCol="0" anchor="ctr"/>
          <a:lstStyle/>
          <a:p>
            <a:pPr marL="0" indent="0" algn="l">
              <a:buNone/>
            </a:pPr>
            <a:r>
              <a:rPr lang="en-US" sz="2000" b="1" dirty="0">
                <a:solidFill>
                  <a:srgbClr val="2E86AB"/>
                </a:solidFill>
              </a:rPr>
              <a:t>02</a:t>
            </a:r>
            <a:endParaRPr lang="en-US" sz="2000" dirty="0"/>
          </a:p>
        </p:txBody>
      </p:sp>
      <p:sp>
        <p:nvSpPr>
          <p:cNvPr id="12" name="Text 10"/>
          <p:cNvSpPr/>
          <p:nvPr/>
        </p:nvSpPr>
        <p:spPr>
          <a:xfrm>
            <a:off x="5440680" y="1234440"/>
            <a:ext cx="3429000" cy="347472"/>
          </a:xfrm>
          <a:prstGeom prst="rect">
            <a:avLst/>
          </a:prstGeom>
          <a:noFill/>
          <a:ln/>
        </p:spPr>
        <p:txBody>
          <a:bodyPr wrap="square" lIns="0" tIns="0" rIns="0" bIns="0" rtlCol="0" anchor="ctr"/>
          <a:lstStyle/>
          <a:p>
            <a:pPr marL="0" indent="0" algn="l">
              <a:buNone/>
            </a:pPr>
            <a:r>
              <a:rPr lang="en-US" sz="1200" b="1" dirty="0">
                <a:solidFill>
                  <a:srgbClr val="1A4A6E"/>
                </a:solidFill>
              </a:rPr>
              <a:t>Data &amp; Methodology</a:t>
            </a:r>
            <a:endParaRPr lang="en-US" sz="1200" dirty="0"/>
          </a:p>
        </p:txBody>
      </p:sp>
      <p:sp>
        <p:nvSpPr>
          <p:cNvPr id="13" name="Text 11"/>
          <p:cNvSpPr/>
          <p:nvPr/>
        </p:nvSpPr>
        <p:spPr>
          <a:xfrm>
            <a:off x="5010912" y="1618488"/>
            <a:ext cx="3858768" cy="384048"/>
          </a:xfrm>
          <a:prstGeom prst="rect">
            <a:avLst/>
          </a:prstGeom>
          <a:noFill/>
          <a:ln/>
        </p:spPr>
        <p:txBody>
          <a:bodyPr wrap="square" lIns="0" tIns="0" rIns="0" bIns="0" rtlCol="0" anchor="t"/>
          <a:lstStyle/>
          <a:p>
            <a:pPr marL="0" indent="0" algn="l">
              <a:buNone/>
            </a:pPr>
            <a:r>
              <a:rPr lang="en-US" sz="950" dirty="0">
                <a:solidFill>
                  <a:srgbClr val="5A7D99"/>
                </a:solidFill>
              </a:rPr>
              <a:t>25,000 patients · Power Query · DAX · calculated columns</a:t>
            </a:r>
            <a:endParaRPr lang="en-US" sz="950" dirty="0"/>
          </a:p>
        </p:txBody>
      </p:sp>
      <p:sp>
        <p:nvSpPr>
          <p:cNvPr id="14" name="Shape 12"/>
          <p:cNvSpPr/>
          <p:nvPr/>
        </p:nvSpPr>
        <p:spPr>
          <a:xfrm>
            <a:off x="361484" y="2052466"/>
            <a:ext cx="4114800" cy="626726"/>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15" name="Shape 13"/>
          <p:cNvSpPr/>
          <p:nvPr/>
        </p:nvSpPr>
        <p:spPr>
          <a:xfrm>
            <a:off x="365760" y="2052466"/>
            <a:ext cx="45719" cy="663302"/>
          </a:xfrm>
          <a:prstGeom prst="rect">
            <a:avLst/>
          </a:prstGeom>
          <a:solidFill>
            <a:srgbClr val="3BCEAC"/>
          </a:solidFill>
          <a:ln w="12700">
            <a:solidFill>
              <a:srgbClr val="3BCEAC"/>
            </a:solidFill>
            <a:prstDash val="solid"/>
          </a:ln>
        </p:spPr>
      </p:sp>
      <p:sp>
        <p:nvSpPr>
          <p:cNvPr id="16" name="Text 14"/>
          <p:cNvSpPr/>
          <p:nvPr/>
        </p:nvSpPr>
        <p:spPr>
          <a:xfrm>
            <a:off x="530352" y="2052466"/>
            <a:ext cx="457200" cy="443846"/>
          </a:xfrm>
          <a:prstGeom prst="rect">
            <a:avLst/>
          </a:prstGeom>
          <a:noFill/>
          <a:ln/>
        </p:spPr>
        <p:txBody>
          <a:bodyPr wrap="square" lIns="0" tIns="0" rIns="0" bIns="0" rtlCol="0" anchor="ctr"/>
          <a:lstStyle/>
          <a:p>
            <a:pPr marL="0" indent="0" algn="l">
              <a:buNone/>
            </a:pPr>
            <a:r>
              <a:rPr lang="en-US" sz="2000" b="1" dirty="0">
                <a:solidFill>
                  <a:srgbClr val="3BCEAC"/>
                </a:solidFill>
              </a:rPr>
              <a:t>03</a:t>
            </a:r>
            <a:endParaRPr lang="en-US" sz="2000" dirty="0"/>
          </a:p>
        </p:txBody>
      </p:sp>
      <p:sp>
        <p:nvSpPr>
          <p:cNvPr id="17" name="Text 15"/>
          <p:cNvSpPr/>
          <p:nvPr/>
        </p:nvSpPr>
        <p:spPr>
          <a:xfrm>
            <a:off x="960120" y="2137986"/>
            <a:ext cx="3429000" cy="270603"/>
          </a:xfrm>
          <a:prstGeom prst="rect">
            <a:avLst/>
          </a:prstGeom>
          <a:noFill/>
          <a:ln/>
        </p:spPr>
        <p:txBody>
          <a:bodyPr wrap="square" lIns="0" tIns="0" rIns="0" bIns="0" rtlCol="0" anchor="ctr"/>
          <a:lstStyle/>
          <a:p>
            <a:pPr marL="0" indent="0" algn="l">
              <a:buNone/>
            </a:pPr>
            <a:r>
              <a:rPr lang="en-US" sz="1200" b="1" dirty="0">
                <a:solidFill>
                  <a:srgbClr val="1A4A6E"/>
                </a:solidFill>
              </a:rPr>
              <a:t>Patient Overview</a:t>
            </a:r>
            <a:endParaRPr lang="en-US" sz="1200" dirty="0"/>
          </a:p>
        </p:txBody>
      </p:sp>
      <p:sp>
        <p:nvSpPr>
          <p:cNvPr id="18" name="Text 16"/>
          <p:cNvSpPr/>
          <p:nvPr/>
        </p:nvSpPr>
        <p:spPr>
          <a:xfrm>
            <a:off x="530352" y="2408589"/>
            <a:ext cx="3858768" cy="311751"/>
          </a:xfrm>
          <a:prstGeom prst="rect">
            <a:avLst/>
          </a:prstGeom>
          <a:noFill/>
          <a:ln/>
        </p:spPr>
        <p:txBody>
          <a:bodyPr wrap="square" lIns="0" tIns="0" rIns="0" bIns="0" rtlCol="0" anchor="t"/>
          <a:lstStyle/>
          <a:p>
            <a:pPr marL="0" indent="0" algn="l">
              <a:buNone/>
            </a:pPr>
            <a:r>
              <a:rPr lang="en-US" sz="950" dirty="0">
                <a:solidFill>
                  <a:srgbClr val="5A7D99"/>
                </a:solidFill>
              </a:rPr>
              <a:t>Demographics · age · sex · stage distribution</a:t>
            </a:r>
            <a:endParaRPr lang="en-US" sz="950" dirty="0"/>
          </a:p>
        </p:txBody>
      </p:sp>
      <p:sp>
        <p:nvSpPr>
          <p:cNvPr id="19" name="Shape 17"/>
          <p:cNvSpPr/>
          <p:nvPr/>
        </p:nvSpPr>
        <p:spPr>
          <a:xfrm>
            <a:off x="4846320" y="2240280"/>
            <a:ext cx="4114800" cy="96012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20" name="Shape 18"/>
          <p:cNvSpPr/>
          <p:nvPr/>
        </p:nvSpPr>
        <p:spPr>
          <a:xfrm>
            <a:off x="4846320" y="2240280"/>
            <a:ext cx="64008" cy="960120"/>
          </a:xfrm>
          <a:prstGeom prst="rect">
            <a:avLst/>
          </a:prstGeom>
          <a:solidFill>
            <a:srgbClr val="F4A261"/>
          </a:solidFill>
          <a:ln w="12700">
            <a:solidFill>
              <a:srgbClr val="F4A261"/>
            </a:solidFill>
            <a:prstDash val="solid"/>
          </a:ln>
        </p:spPr>
      </p:sp>
      <p:sp>
        <p:nvSpPr>
          <p:cNvPr id="21" name="Text 19"/>
          <p:cNvSpPr/>
          <p:nvPr/>
        </p:nvSpPr>
        <p:spPr>
          <a:xfrm>
            <a:off x="5010912" y="2313432"/>
            <a:ext cx="457200" cy="365760"/>
          </a:xfrm>
          <a:prstGeom prst="rect">
            <a:avLst/>
          </a:prstGeom>
          <a:noFill/>
          <a:ln/>
        </p:spPr>
        <p:txBody>
          <a:bodyPr wrap="square" lIns="0" tIns="0" rIns="0" bIns="0" rtlCol="0" anchor="ctr"/>
          <a:lstStyle/>
          <a:p>
            <a:pPr marL="0" indent="0" algn="l">
              <a:buNone/>
            </a:pPr>
            <a:r>
              <a:rPr lang="en-US" sz="2000" b="1" dirty="0">
                <a:solidFill>
                  <a:srgbClr val="F4A261"/>
                </a:solidFill>
              </a:rPr>
              <a:t>04</a:t>
            </a:r>
            <a:endParaRPr lang="en-US" sz="2000" dirty="0"/>
          </a:p>
        </p:txBody>
      </p:sp>
      <p:sp>
        <p:nvSpPr>
          <p:cNvPr id="22" name="Text 20"/>
          <p:cNvSpPr/>
          <p:nvPr/>
        </p:nvSpPr>
        <p:spPr>
          <a:xfrm>
            <a:off x="5440680" y="2331720"/>
            <a:ext cx="3429000" cy="347472"/>
          </a:xfrm>
          <a:prstGeom prst="rect">
            <a:avLst/>
          </a:prstGeom>
          <a:noFill/>
          <a:ln/>
        </p:spPr>
        <p:txBody>
          <a:bodyPr wrap="square" lIns="0" tIns="0" rIns="0" bIns="0" rtlCol="0" anchor="ctr"/>
          <a:lstStyle/>
          <a:p>
            <a:pPr marL="0" indent="0" algn="l">
              <a:buNone/>
            </a:pPr>
            <a:r>
              <a:rPr lang="en-US" sz="1200" b="1" dirty="0">
                <a:solidFill>
                  <a:srgbClr val="1A4A6E"/>
                </a:solidFill>
              </a:rPr>
              <a:t>Symptom Analysis</a:t>
            </a:r>
            <a:endParaRPr lang="en-US" sz="1200" dirty="0"/>
          </a:p>
        </p:txBody>
      </p:sp>
      <p:sp>
        <p:nvSpPr>
          <p:cNvPr id="23" name="Text 21"/>
          <p:cNvSpPr/>
          <p:nvPr/>
        </p:nvSpPr>
        <p:spPr>
          <a:xfrm>
            <a:off x="5010912" y="2715768"/>
            <a:ext cx="3858768" cy="384048"/>
          </a:xfrm>
          <a:prstGeom prst="rect">
            <a:avLst/>
          </a:prstGeom>
          <a:noFill/>
          <a:ln/>
        </p:spPr>
        <p:txBody>
          <a:bodyPr wrap="square" lIns="0" tIns="0" rIns="0" bIns="0" rtlCol="0" anchor="t"/>
          <a:lstStyle/>
          <a:p>
            <a:pPr marL="0" indent="0" algn="l">
              <a:buNone/>
            </a:pPr>
            <a:r>
              <a:rPr lang="en-US" sz="950" dirty="0">
                <a:solidFill>
                  <a:srgbClr val="5A7D99"/>
                </a:solidFill>
              </a:rPr>
              <a:t>Hepatomegaly · Spiders · Ascites · Edema severity</a:t>
            </a:r>
            <a:endParaRPr lang="en-US" sz="950" dirty="0"/>
          </a:p>
        </p:txBody>
      </p:sp>
      <p:sp>
        <p:nvSpPr>
          <p:cNvPr id="24" name="Shape 22"/>
          <p:cNvSpPr/>
          <p:nvPr/>
        </p:nvSpPr>
        <p:spPr>
          <a:xfrm>
            <a:off x="365760" y="2907792"/>
            <a:ext cx="4114800" cy="68580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25" name="Shape 23"/>
          <p:cNvSpPr/>
          <p:nvPr/>
        </p:nvSpPr>
        <p:spPr>
          <a:xfrm>
            <a:off x="371942" y="2907792"/>
            <a:ext cx="45719" cy="694944"/>
          </a:xfrm>
          <a:prstGeom prst="rect">
            <a:avLst/>
          </a:prstGeom>
          <a:solidFill>
            <a:srgbClr val="533AB7"/>
          </a:solidFill>
          <a:ln w="12700">
            <a:solidFill>
              <a:srgbClr val="533AB7"/>
            </a:solidFill>
            <a:prstDash val="solid"/>
          </a:ln>
        </p:spPr>
      </p:sp>
      <p:sp>
        <p:nvSpPr>
          <p:cNvPr id="26" name="Text 24"/>
          <p:cNvSpPr/>
          <p:nvPr/>
        </p:nvSpPr>
        <p:spPr>
          <a:xfrm>
            <a:off x="530352" y="3052386"/>
            <a:ext cx="457200" cy="285174"/>
          </a:xfrm>
          <a:prstGeom prst="rect">
            <a:avLst/>
          </a:prstGeom>
          <a:noFill/>
          <a:ln/>
        </p:spPr>
        <p:txBody>
          <a:bodyPr wrap="square" lIns="0" tIns="0" rIns="0" bIns="0" rtlCol="0" anchor="ctr"/>
          <a:lstStyle/>
          <a:p>
            <a:pPr marL="0" indent="0" algn="l">
              <a:buNone/>
            </a:pPr>
            <a:r>
              <a:rPr lang="en-US" sz="2000" b="1" dirty="0">
                <a:solidFill>
                  <a:srgbClr val="533AB7"/>
                </a:solidFill>
              </a:rPr>
              <a:t>05</a:t>
            </a:r>
            <a:endParaRPr lang="en-US" sz="2000" dirty="0"/>
          </a:p>
        </p:txBody>
      </p:sp>
      <p:sp>
        <p:nvSpPr>
          <p:cNvPr id="27" name="Text 25"/>
          <p:cNvSpPr/>
          <p:nvPr/>
        </p:nvSpPr>
        <p:spPr>
          <a:xfrm>
            <a:off x="960120" y="3052386"/>
            <a:ext cx="3429000" cy="285174"/>
          </a:xfrm>
          <a:prstGeom prst="rect">
            <a:avLst/>
          </a:prstGeom>
          <a:noFill/>
          <a:ln/>
        </p:spPr>
        <p:txBody>
          <a:bodyPr wrap="square" lIns="0" tIns="0" rIns="0" bIns="0" rtlCol="0" anchor="ctr"/>
          <a:lstStyle/>
          <a:p>
            <a:pPr marL="0" indent="0" algn="l">
              <a:buNone/>
            </a:pPr>
            <a:r>
              <a:rPr lang="en-US" sz="1200" b="1" dirty="0">
                <a:solidFill>
                  <a:srgbClr val="1A4A6E"/>
                </a:solidFill>
              </a:rPr>
              <a:t>Biomarker Dashboards</a:t>
            </a:r>
            <a:endParaRPr lang="en-US" sz="1200" dirty="0"/>
          </a:p>
        </p:txBody>
      </p:sp>
      <p:sp>
        <p:nvSpPr>
          <p:cNvPr id="28" name="Text 26"/>
          <p:cNvSpPr/>
          <p:nvPr/>
        </p:nvSpPr>
        <p:spPr>
          <a:xfrm>
            <a:off x="530352" y="3410712"/>
            <a:ext cx="3858768" cy="192024"/>
          </a:xfrm>
          <a:prstGeom prst="rect">
            <a:avLst/>
          </a:prstGeom>
          <a:noFill/>
          <a:ln/>
        </p:spPr>
        <p:txBody>
          <a:bodyPr wrap="square" lIns="0" tIns="0" rIns="0" bIns="0" rtlCol="0" anchor="t"/>
          <a:lstStyle/>
          <a:p>
            <a:pPr marL="0" indent="0" algn="l">
              <a:buNone/>
            </a:pPr>
            <a:r>
              <a:rPr lang="en-US" sz="950" dirty="0">
                <a:solidFill>
                  <a:srgbClr val="5A7D99"/>
                </a:solidFill>
              </a:rPr>
              <a:t>Lab values · reference ranges · Severity Score</a:t>
            </a:r>
            <a:endParaRPr lang="en-US" sz="950" dirty="0"/>
          </a:p>
        </p:txBody>
      </p:sp>
      <p:sp>
        <p:nvSpPr>
          <p:cNvPr id="29" name="Shape 27"/>
          <p:cNvSpPr/>
          <p:nvPr/>
        </p:nvSpPr>
        <p:spPr>
          <a:xfrm>
            <a:off x="4846320" y="3337560"/>
            <a:ext cx="4114800" cy="96012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30" name="Shape 28"/>
          <p:cNvSpPr/>
          <p:nvPr/>
        </p:nvSpPr>
        <p:spPr>
          <a:xfrm>
            <a:off x="4846320" y="3337560"/>
            <a:ext cx="64008" cy="960120"/>
          </a:xfrm>
          <a:prstGeom prst="rect">
            <a:avLst/>
          </a:prstGeom>
          <a:solidFill>
            <a:srgbClr val="E84855"/>
          </a:solidFill>
          <a:ln w="12700">
            <a:solidFill>
              <a:srgbClr val="E84855"/>
            </a:solidFill>
            <a:prstDash val="solid"/>
          </a:ln>
        </p:spPr>
      </p:sp>
      <p:sp>
        <p:nvSpPr>
          <p:cNvPr id="31" name="Text 29"/>
          <p:cNvSpPr/>
          <p:nvPr/>
        </p:nvSpPr>
        <p:spPr>
          <a:xfrm>
            <a:off x="5010912" y="3410712"/>
            <a:ext cx="457200" cy="365760"/>
          </a:xfrm>
          <a:prstGeom prst="rect">
            <a:avLst/>
          </a:prstGeom>
          <a:noFill/>
          <a:ln/>
        </p:spPr>
        <p:txBody>
          <a:bodyPr wrap="square" lIns="0" tIns="0" rIns="0" bIns="0" rtlCol="0" anchor="ctr"/>
          <a:lstStyle/>
          <a:p>
            <a:pPr marL="0" indent="0" algn="l">
              <a:buNone/>
            </a:pPr>
            <a:r>
              <a:rPr lang="en-US" sz="2000" b="1" dirty="0">
                <a:solidFill>
                  <a:srgbClr val="E84855"/>
                </a:solidFill>
              </a:rPr>
              <a:t>06</a:t>
            </a:r>
            <a:endParaRPr lang="en-US" sz="2000" dirty="0"/>
          </a:p>
        </p:txBody>
      </p:sp>
      <p:sp>
        <p:nvSpPr>
          <p:cNvPr id="32" name="Text 30"/>
          <p:cNvSpPr/>
          <p:nvPr/>
        </p:nvSpPr>
        <p:spPr>
          <a:xfrm>
            <a:off x="5440680" y="3429000"/>
            <a:ext cx="3429000" cy="347472"/>
          </a:xfrm>
          <a:prstGeom prst="rect">
            <a:avLst/>
          </a:prstGeom>
          <a:noFill/>
          <a:ln/>
        </p:spPr>
        <p:txBody>
          <a:bodyPr wrap="square" lIns="0" tIns="0" rIns="0" bIns="0" rtlCol="0" anchor="ctr"/>
          <a:lstStyle/>
          <a:p>
            <a:pPr marL="0" indent="0" algn="l">
              <a:buNone/>
            </a:pPr>
            <a:r>
              <a:rPr lang="en-US" sz="1200" b="1" dirty="0">
                <a:solidFill>
                  <a:srgbClr val="1A4A6E"/>
                </a:solidFill>
              </a:rPr>
              <a:t>Survival &amp; Treatment</a:t>
            </a:r>
            <a:endParaRPr lang="en-US" sz="1200" dirty="0"/>
          </a:p>
        </p:txBody>
      </p:sp>
      <p:sp>
        <p:nvSpPr>
          <p:cNvPr id="33" name="Text 31"/>
          <p:cNvSpPr/>
          <p:nvPr/>
        </p:nvSpPr>
        <p:spPr>
          <a:xfrm>
            <a:off x="5010912" y="3813048"/>
            <a:ext cx="3858768" cy="384048"/>
          </a:xfrm>
          <a:prstGeom prst="rect">
            <a:avLst/>
          </a:prstGeom>
          <a:noFill/>
          <a:ln/>
        </p:spPr>
        <p:txBody>
          <a:bodyPr wrap="square" lIns="0" tIns="0" rIns="0" bIns="0" rtlCol="0" anchor="t"/>
          <a:lstStyle/>
          <a:p>
            <a:pPr marL="0" indent="0" algn="l">
              <a:buNone/>
            </a:pPr>
            <a:r>
              <a:rPr lang="en-US" sz="950" dirty="0">
                <a:solidFill>
                  <a:srgbClr val="5A7D99"/>
                </a:solidFill>
              </a:rPr>
              <a:t>Outcomes · stage impact · D-penicillamine vs Placebo</a:t>
            </a:r>
            <a:endParaRPr lang="en-US" sz="950" dirty="0"/>
          </a:p>
        </p:txBody>
      </p:sp>
      <p:sp>
        <p:nvSpPr>
          <p:cNvPr id="34" name="Shape 32"/>
          <p:cNvSpPr/>
          <p:nvPr/>
        </p:nvSpPr>
        <p:spPr>
          <a:xfrm>
            <a:off x="429768" y="3776473"/>
            <a:ext cx="4114800" cy="521208"/>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35" name="Shape 33"/>
          <p:cNvSpPr/>
          <p:nvPr/>
        </p:nvSpPr>
        <p:spPr>
          <a:xfrm>
            <a:off x="365760" y="3776472"/>
            <a:ext cx="51901" cy="521208"/>
          </a:xfrm>
          <a:prstGeom prst="rect">
            <a:avLst/>
          </a:prstGeom>
          <a:solidFill>
            <a:srgbClr val="2E86AB"/>
          </a:solidFill>
          <a:ln w="12700">
            <a:solidFill>
              <a:srgbClr val="2E86AB"/>
            </a:solidFill>
            <a:prstDash val="solid"/>
          </a:ln>
        </p:spPr>
      </p:sp>
      <p:sp>
        <p:nvSpPr>
          <p:cNvPr id="36" name="Text 34"/>
          <p:cNvSpPr/>
          <p:nvPr/>
        </p:nvSpPr>
        <p:spPr>
          <a:xfrm>
            <a:off x="530352" y="3817620"/>
            <a:ext cx="457200" cy="438912"/>
          </a:xfrm>
          <a:prstGeom prst="rect">
            <a:avLst/>
          </a:prstGeom>
          <a:noFill/>
          <a:ln/>
        </p:spPr>
        <p:txBody>
          <a:bodyPr wrap="square" lIns="0" tIns="0" rIns="0" bIns="0" rtlCol="0" anchor="ctr"/>
          <a:lstStyle/>
          <a:p>
            <a:pPr marL="0" indent="0" algn="l">
              <a:buNone/>
            </a:pPr>
            <a:r>
              <a:rPr lang="en-US" sz="2000" b="1" dirty="0">
                <a:solidFill>
                  <a:srgbClr val="2E86AB"/>
                </a:solidFill>
              </a:rPr>
              <a:t>07</a:t>
            </a:r>
            <a:endParaRPr lang="en-US" sz="2000" dirty="0"/>
          </a:p>
        </p:txBody>
      </p:sp>
      <p:sp>
        <p:nvSpPr>
          <p:cNvPr id="37" name="Text 35"/>
          <p:cNvSpPr/>
          <p:nvPr/>
        </p:nvSpPr>
        <p:spPr>
          <a:xfrm>
            <a:off x="960120" y="3813048"/>
            <a:ext cx="3429000" cy="384048"/>
          </a:xfrm>
          <a:prstGeom prst="rect">
            <a:avLst/>
          </a:prstGeom>
          <a:noFill/>
          <a:ln/>
        </p:spPr>
        <p:txBody>
          <a:bodyPr wrap="square" lIns="0" tIns="0" rIns="0" bIns="0" rtlCol="0" anchor="ctr"/>
          <a:lstStyle/>
          <a:p>
            <a:pPr marL="0" indent="0" algn="l">
              <a:buNone/>
            </a:pPr>
            <a:r>
              <a:rPr lang="en-US" sz="1200" b="1" dirty="0">
                <a:solidFill>
                  <a:srgbClr val="1A4A6E"/>
                </a:solidFill>
              </a:rPr>
              <a:t>Key Insights</a:t>
            </a:r>
            <a:endParaRPr lang="en-US" sz="1200" dirty="0"/>
          </a:p>
        </p:txBody>
      </p:sp>
      <p:sp>
        <p:nvSpPr>
          <p:cNvPr id="38" name="Text 36"/>
          <p:cNvSpPr/>
          <p:nvPr/>
        </p:nvSpPr>
        <p:spPr>
          <a:xfrm>
            <a:off x="530352" y="4910328"/>
            <a:ext cx="3858768" cy="384048"/>
          </a:xfrm>
          <a:prstGeom prst="rect">
            <a:avLst/>
          </a:prstGeom>
          <a:noFill/>
          <a:ln/>
        </p:spPr>
        <p:txBody>
          <a:bodyPr wrap="square" lIns="0" tIns="0" rIns="0" bIns="0" rtlCol="0" anchor="t"/>
          <a:lstStyle/>
          <a:p>
            <a:pPr marL="0" indent="0" algn="l">
              <a:buNone/>
            </a:pPr>
            <a:r>
              <a:rPr lang="en-US" sz="950" dirty="0">
                <a:solidFill>
                  <a:srgbClr val="5A7D99"/>
                </a:solidFill>
              </a:rPr>
              <a:t>6 headline findings · business value · conclusions</a:t>
            </a:r>
            <a:endParaRPr lang="en-US" sz="950" dirty="0"/>
          </a:p>
        </p:txBody>
      </p:sp>
      <p:sp>
        <p:nvSpPr>
          <p:cNvPr id="39" name="Shape 37"/>
          <p:cNvSpPr/>
          <p:nvPr/>
        </p:nvSpPr>
        <p:spPr>
          <a:xfrm>
            <a:off x="0" y="4800600"/>
            <a:ext cx="9144000" cy="342900"/>
          </a:xfrm>
          <a:prstGeom prst="rect">
            <a:avLst/>
          </a:prstGeom>
          <a:solidFill>
            <a:srgbClr val="1A4A6E"/>
          </a:solidFill>
          <a:ln w="12700">
            <a:solidFill>
              <a:srgbClr val="1A4A6E"/>
            </a:solidFill>
            <a:prstDash val="solid"/>
          </a:ln>
        </p:spPr>
      </p:sp>
      <p:sp>
        <p:nvSpPr>
          <p:cNvPr id="40" name="Text 38"/>
          <p:cNvSpPr/>
          <p:nvPr/>
        </p:nvSpPr>
        <p:spPr>
          <a:xfrm>
            <a:off x="274320" y="4800600"/>
            <a:ext cx="8595360" cy="342900"/>
          </a:xfrm>
          <a:prstGeom prst="rect">
            <a:avLst/>
          </a:prstGeom>
          <a:noFill/>
          <a:ln/>
        </p:spPr>
        <p:txBody>
          <a:bodyPr wrap="square" lIns="0" tIns="0" rIns="0" bIns="0" rtlCol="0" anchor="ctr"/>
          <a:lstStyle/>
          <a:p>
            <a:pPr marL="0" indent="0" algn="ctr">
              <a:buNone/>
            </a:pPr>
            <a:r>
              <a:rPr lang="en-US" sz="800" dirty="0">
                <a:solidFill>
                  <a:srgbClr val="A8C5DA"/>
                </a:solidFill>
              </a:rPr>
              <a:t>Liver Cirrhosis Clinical Analysis · Power BI Dashboard Project</a:t>
            </a:r>
            <a:endParaRPr lang="en-US" sz="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4A6E"/>
          </a:solidFill>
          <a:ln w="12700">
            <a:solidFill>
              <a:srgbClr val="1A4A6E"/>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lgn="l">
              <a:buNone/>
            </a:pPr>
            <a:r>
              <a:rPr lang="en-US" sz="1800" b="1" kern="0" spc="100" dirty="0">
                <a:solidFill>
                  <a:srgbClr val="FFFFFF"/>
                </a:solidFill>
              </a:rPr>
              <a:t>01 · PROJECT BACKGROUND</a:t>
            </a:r>
            <a:endParaRPr lang="en-US" sz="1800" dirty="0"/>
          </a:p>
        </p:txBody>
      </p:sp>
      <p:sp>
        <p:nvSpPr>
          <p:cNvPr id="4" name="Shape 2"/>
          <p:cNvSpPr/>
          <p:nvPr/>
        </p:nvSpPr>
        <p:spPr>
          <a:xfrm>
            <a:off x="274320" y="1051560"/>
            <a:ext cx="3931920" cy="192024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5" name="Shape 3"/>
          <p:cNvSpPr/>
          <p:nvPr/>
        </p:nvSpPr>
        <p:spPr>
          <a:xfrm>
            <a:off x="274320" y="1051560"/>
            <a:ext cx="64008" cy="1920240"/>
          </a:xfrm>
          <a:prstGeom prst="rect">
            <a:avLst/>
          </a:prstGeom>
          <a:solidFill>
            <a:srgbClr val="1A4A6E"/>
          </a:solidFill>
          <a:ln w="12700">
            <a:solidFill>
              <a:srgbClr val="1A4A6E"/>
            </a:solidFill>
            <a:prstDash val="solid"/>
          </a:ln>
        </p:spPr>
      </p:sp>
      <p:sp>
        <p:nvSpPr>
          <p:cNvPr id="6" name="Text 4"/>
          <p:cNvSpPr/>
          <p:nvPr/>
        </p:nvSpPr>
        <p:spPr>
          <a:xfrm>
            <a:off x="502920" y="1143000"/>
            <a:ext cx="3657600" cy="320040"/>
          </a:xfrm>
          <a:prstGeom prst="rect">
            <a:avLst/>
          </a:prstGeom>
          <a:noFill/>
          <a:ln/>
        </p:spPr>
        <p:txBody>
          <a:bodyPr wrap="square" lIns="0" tIns="0" rIns="0" bIns="0" rtlCol="0" anchor="ctr"/>
          <a:lstStyle/>
          <a:p>
            <a:pPr marL="0" indent="0" algn="l">
              <a:buNone/>
            </a:pPr>
            <a:r>
              <a:rPr lang="en-US" sz="1200" b="1" dirty="0">
                <a:solidFill>
                  <a:srgbClr val="1A4A6E"/>
                </a:solidFill>
              </a:rPr>
              <a:t>Problem Statement</a:t>
            </a:r>
            <a:endParaRPr lang="en-US" sz="1200" dirty="0"/>
          </a:p>
        </p:txBody>
      </p:sp>
      <p:sp>
        <p:nvSpPr>
          <p:cNvPr id="7" name="Text 5"/>
          <p:cNvSpPr/>
          <p:nvPr/>
        </p:nvSpPr>
        <p:spPr>
          <a:xfrm>
            <a:off x="502920" y="1481328"/>
            <a:ext cx="3520440" cy="1325880"/>
          </a:xfrm>
          <a:prstGeom prst="rect">
            <a:avLst/>
          </a:prstGeom>
          <a:noFill/>
          <a:ln/>
        </p:spPr>
        <p:txBody>
          <a:bodyPr wrap="square" lIns="0" tIns="0" rIns="0" bIns="0" rtlCol="0" anchor="t"/>
          <a:lstStyle/>
          <a:p>
            <a:pPr marL="0" indent="0" algn="l">
              <a:buNone/>
            </a:pPr>
            <a:r>
              <a:rPr lang="en-US" sz="950" dirty="0">
                <a:solidFill>
                  <a:srgbClr val="1A4A6E"/>
                </a:solidFill>
              </a:rPr>
              <a:t>Liver cirrhosis generates complex multi-variable clinical datasets. Without structured visualisation, identifying patterns in disease progression, treatment response, and patient outcomes requires specialist statistical expertise — creating a barrier between raw data and actionable clinical insight.</a:t>
            </a:r>
            <a:endParaRPr lang="en-US" sz="950" dirty="0"/>
          </a:p>
        </p:txBody>
      </p:sp>
      <p:sp>
        <p:nvSpPr>
          <p:cNvPr id="8" name="Shape 6"/>
          <p:cNvSpPr/>
          <p:nvPr/>
        </p:nvSpPr>
        <p:spPr>
          <a:xfrm>
            <a:off x="274320" y="3108960"/>
            <a:ext cx="3931920" cy="164592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9" name="Shape 7"/>
          <p:cNvSpPr/>
          <p:nvPr/>
        </p:nvSpPr>
        <p:spPr>
          <a:xfrm>
            <a:off x="274320" y="3108960"/>
            <a:ext cx="64008" cy="1645920"/>
          </a:xfrm>
          <a:prstGeom prst="rect">
            <a:avLst/>
          </a:prstGeom>
          <a:solidFill>
            <a:srgbClr val="2E86AB"/>
          </a:solidFill>
          <a:ln w="12700">
            <a:solidFill>
              <a:srgbClr val="2E86AB"/>
            </a:solidFill>
            <a:prstDash val="solid"/>
          </a:ln>
        </p:spPr>
      </p:sp>
      <p:sp>
        <p:nvSpPr>
          <p:cNvPr id="10" name="Text 8"/>
          <p:cNvSpPr/>
          <p:nvPr/>
        </p:nvSpPr>
        <p:spPr>
          <a:xfrm>
            <a:off x="502920" y="3200400"/>
            <a:ext cx="3657600" cy="320040"/>
          </a:xfrm>
          <a:prstGeom prst="rect">
            <a:avLst/>
          </a:prstGeom>
          <a:noFill/>
          <a:ln/>
        </p:spPr>
        <p:txBody>
          <a:bodyPr wrap="square" lIns="0" tIns="0" rIns="0" bIns="0" rtlCol="0" anchor="ctr"/>
          <a:lstStyle/>
          <a:p>
            <a:pPr marL="0" indent="0" algn="l">
              <a:buNone/>
            </a:pPr>
            <a:r>
              <a:rPr lang="en-US" sz="1200" b="1" dirty="0">
                <a:solidFill>
                  <a:srgbClr val="1A4A6E"/>
                </a:solidFill>
              </a:rPr>
              <a:t>Project Objective</a:t>
            </a:r>
            <a:endParaRPr lang="en-US" sz="1200" dirty="0"/>
          </a:p>
        </p:txBody>
      </p:sp>
      <p:sp>
        <p:nvSpPr>
          <p:cNvPr id="11" name="Text 9"/>
          <p:cNvSpPr/>
          <p:nvPr/>
        </p:nvSpPr>
        <p:spPr>
          <a:xfrm>
            <a:off x="502920" y="3538728"/>
            <a:ext cx="3520440" cy="1097280"/>
          </a:xfrm>
          <a:prstGeom prst="rect">
            <a:avLst/>
          </a:prstGeom>
          <a:noFill/>
          <a:ln/>
        </p:spPr>
        <p:txBody>
          <a:bodyPr wrap="square" lIns="0" tIns="0" rIns="0" bIns="0" rtlCol="0" anchor="t"/>
          <a:lstStyle/>
          <a:p>
            <a:pPr marL="0" indent="0" algn="l">
              <a:buNone/>
            </a:pPr>
            <a:r>
              <a:rPr lang="en-US" sz="950" dirty="0">
                <a:solidFill>
                  <a:srgbClr val="1A4A6E"/>
                </a:solidFill>
              </a:rPr>
              <a:t>Develop 8 interactive Power BI dashboards to analyse a 25,000-patient liver cirrhosis dataset — surfacing clinical patterns in demographics, symptoms, biomarkers, survival, and treatment effectiveness without requiring statistical expertise.</a:t>
            </a:r>
            <a:endParaRPr lang="en-US" sz="950" dirty="0"/>
          </a:p>
        </p:txBody>
      </p:sp>
      <p:sp>
        <p:nvSpPr>
          <p:cNvPr id="12" name="Shape 10"/>
          <p:cNvSpPr/>
          <p:nvPr/>
        </p:nvSpPr>
        <p:spPr>
          <a:xfrm>
            <a:off x="4480560" y="1051560"/>
            <a:ext cx="4389120" cy="370332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13" name="Shape 11"/>
          <p:cNvSpPr/>
          <p:nvPr/>
        </p:nvSpPr>
        <p:spPr>
          <a:xfrm>
            <a:off x="4480560" y="1051560"/>
            <a:ext cx="64008" cy="3703320"/>
          </a:xfrm>
          <a:prstGeom prst="rect">
            <a:avLst/>
          </a:prstGeom>
          <a:solidFill>
            <a:srgbClr val="3BCEAC"/>
          </a:solidFill>
          <a:ln w="12700">
            <a:solidFill>
              <a:srgbClr val="3BCEAC"/>
            </a:solidFill>
            <a:prstDash val="solid"/>
          </a:ln>
        </p:spPr>
      </p:sp>
      <p:sp>
        <p:nvSpPr>
          <p:cNvPr id="14" name="Text 12"/>
          <p:cNvSpPr/>
          <p:nvPr/>
        </p:nvSpPr>
        <p:spPr>
          <a:xfrm>
            <a:off x="4709160" y="1143000"/>
            <a:ext cx="4023360" cy="320040"/>
          </a:xfrm>
          <a:prstGeom prst="rect">
            <a:avLst/>
          </a:prstGeom>
          <a:noFill/>
          <a:ln/>
        </p:spPr>
        <p:txBody>
          <a:bodyPr wrap="square" lIns="0" tIns="0" rIns="0" bIns="0" rtlCol="0" anchor="ctr"/>
          <a:lstStyle/>
          <a:p>
            <a:pPr marL="0" indent="0" algn="l">
              <a:buNone/>
            </a:pPr>
            <a:r>
              <a:rPr lang="en-US" sz="1200" b="1" dirty="0">
                <a:solidFill>
                  <a:srgbClr val="1A4A6E"/>
                </a:solidFill>
              </a:rPr>
              <a:t>Dataset Overview</a:t>
            </a:r>
            <a:endParaRPr lang="en-US" sz="1200" dirty="0"/>
          </a:p>
        </p:txBody>
      </p:sp>
      <p:sp>
        <p:nvSpPr>
          <p:cNvPr id="15" name="Text 13"/>
          <p:cNvSpPr/>
          <p:nvPr/>
        </p:nvSpPr>
        <p:spPr>
          <a:xfrm>
            <a:off x="4709160" y="1572768"/>
            <a:ext cx="1005840" cy="365760"/>
          </a:xfrm>
          <a:prstGeom prst="rect">
            <a:avLst/>
          </a:prstGeom>
          <a:noFill/>
          <a:ln/>
        </p:spPr>
        <p:txBody>
          <a:bodyPr wrap="square" lIns="0" tIns="0" rIns="0" bIns="0" rtlCol="0" anchor="ctr"/>
          <a:lstStyle/>
          <a:p>
            <a:pPr marL="0" indent="0" algn="l">
              <a:buNone/>
            </a:pPr>
            <a:r>
              <a:rPr lang="en-US" sz="900" b="1" dirty="0">
                <a:solidFill>
                  <a:srgbClr val="1A4A6E"/>
                </a:solidFill>
              </a:rPr>
              <a:t>Source:</a:t>
            </a:r>
            <a:endParaRPr lang="en-US" sz="900" dirty="0"/>
          </a:p>
        </p:txBody>
      </p:sp>
      <p:sp>
        <p:nvSpPr>
          <p:cNvPr id="16" name="Text 14"/>
          <p:cNvSpPr/>
          <p:nvPr/>
        </p:nvSpPr>
        <p:spPr>
          <a:xfrm>
            <a:off x="5760720" y="1572768"/>
            <a:ext cx="2926080" cy="365760"/>
          </a:xfrm>
          <a:prstGeom prst="rect">
            <a:avLst/>
          </a:prstGeom>
          <a:noFill/>
          <a:ln/>
        </p:spPr>
        <p:txBody>
          <a:bodyPr wrap="square" lIns="0" tIns="0" rIns="0" bIns="0" rtlCol="0" anchor="ctr"/>
          <a:lstStyle/>
          <a:p>
            <a:pPr marL="0" indent="0" algn="l">
              <a:buNone/>
            </a:pPr>
            <a:r>
              <a:rPr lang="en-US" sz="950" dirty="0">
                <a:solidFill>
                  <a:srgbClr val="1A4A6E"/>
                </a:solidFill>
              </a:rPr>
              <a:t>Mayo Clinic PBC Trial · 1974–1984</a:t>
            </a:r>
            <a:endParaRPr lang="en-US" sz="950" dirty="0"/>
          </a:p>
        </p:txBody>
      </p:sp>
      <p:sp>
        <p:nvSpPr>
          <p:cNvPr id="17" name="Text 15"/>
          <p:cNvSpPr/>
          <p:nvPr/>
        </p:nvSpPr>
        <p:spPr>
          <a:xfrm>
            <a:off x="4709160" y="2075688"/>
            <a:ext cx="1005840" cy="365760"/>
          </a:xfrm>
          <a:prstGeom prst="rect">
            <a:avLst/>
          </a:prstGeom>
          <a:noFill/>
          <a:ln/>
        </p:spPr>
        <p:txBody>
          <a:bodyPr wrap="square" lIns="0" tIns="0" rIns="0" bIns="0" rtlCol="0" anchor="ctr"/>
          <a:lstStyle/>
          <a:p>
            <a:pPr marL="0" indent="0" algn="l">
              <a:buNone/>
            </a:pPr>
            <a:r>
              <a:rPr lang="en-US" sz="900" b="1" dirty="0">
                <a:solidFill>
                  <a:srgbClr val="1A4A6E"/>
                </a:solidFill>
              </a:rPr>
              <a:t>Platform:</a:t>
            </a:r>
            <a:endParaRPr lang="en-US" sz="900" dirty="0"/>
          </a:p>
        </p:txBody>
      </p:sp>
      <p:sp>
        <p:nvSpPr>
          <p:cNvPr id="18" name="Text 16"/>
          <p:cNvSpPr/>
          <p:nvPr/>
        </p:nvSpPr>
        <p:spPr>
          <a:xfrm>
            <a:off x="5760720" y="2075688"/>
            <a:ext cx="2926080" cy="365760"/>
          </a:xfrm>
          <a:prstGeom prst="rect">
            <a:avLst/>
          </a:prstGeom>
          <a:noFill/>
          <a:ln/>
        </p:spPr>
        <p:txBody>
          <a:bodyPr wrap="square" lIns="0" tIns="0" rIns="0" bIns="0" rtlCol="0" anchor="ctr"/>
          <a:lstStyle/>
          <a:p>
            <a:pPr marL="0" indent="0" algn="l">
              <a:buNone/>
            </a:pPr>
            <a:r>
              <a:rPr lang="en-US" sz="950" dirty="0">
                <a:solidFill>
                  <a:srgbClr val="1A4A6E"/>
                </a:solidFill>
              </a:rPr>
              <a:t>Kaggle — Aadharsh Velu</a:t>
            </a:r>
            <a:endParaRPr lang="en-US" sz="950" dirty="0"/>
          </a:p>
        </p:txBody>
      </p:sp>
      <p:sp>
        <p:nvSpPr>
          <p:cNvPr id="19" name="Text 17"/>
          <p:cNvSpPr/>
          <p:nvPr/>
        </p:nvSpPr>
        <p:spPr>
          <a:xfrm>
            <a:off x="4709160" y="2578608"/>
            <a:ext cx="1005840" cy="365760"/>
          </a:xfrm>
          <a:prstGeom prst="rect">
            <a:avLst/>
          </a:prstGeom>
          <a:noFill/>
          <a:ln/>
        </p:spPr>
        <p:txBody>
          <a:bodyPr wrap="square" lIns="0" tIns="0" rIns="0" bIns="0" rtlCol="0" anchor="ctr"/>
          <a:lstStyle/>
          <a:p>
            <a:pPr marL="0" indent="0" algn="l">
              <a:buNone/>
            </a:pPr>
            <a:r>
              <a:rPr lang="en-US" sz="900" b="1" dirty="0">
                <a:solidFill>
                  <a:srgbClr val="1A4A6E"/>
                </a:solidFill>
              </a:rPr>
              <a:t>Records:</a:t>
            </a:r>
            <a:endParaRPr lang="en-US" sz="900" dirty="0"/>
          </a:p>
        </p:txBody>
      </p:sp>
      <p:sp>
        <p:nvSpPr>
          <p:cNvPr id="20" name="Text 18"/>
          <p:cNvSpPr/>
          <p:nvPr/>
        </p:nvSpPr>
        <p:spPr>
          <a:xfrm>
            <a:off x="5760720" y="2578608"/>
            <a:ext cx="2926080" cy="365760"/>
          </a:xfrm>
          <a:prstGeom prst="rect">
            <a:avLst/>
          </a:prstGeom>
          <a:noFill/>
          <a:ln/>
        </p:spPr>
        <p:txBody>
          <a:bodyPr wrap="square" lIns="0" tIns="0" rIns="0" bIns="0" rtlCol="0" anchor="ctr"/>
          <a:lstStyle/>
          <a:p>
            <a:pPr marL="0" indent="0" algn="l">
              <a:buNone/>
            </a:pPr>
            <a:r>
              <a:rPr lang="en-US" sz="950" dirty="0">
                <a:solidFill>
                  <a:srgbClr val="1A4A6E"/>
                </a:solidFill>
              </a:rPr>
              <a:t>25,000 patient rows</a:t>
            </a:r>
            <a:endParaRPr lang="en-US" sz="950" dirty="0"/>
          </a:p>
        </p:txBody>
      </p:sp>
      <p:sp>
        <p:nvSpPr>
          <p:cNvPr id="21" name="Text 19"/>
          <p:cNvSpPr/>
          <p:nvPr/>
        </p:nvSpPr>
        <p:spPr>
          <a:xfrm>
            <a:off x="4709160" y="3081528"/>
            <a:ext cx="1005840" cy="365760"/>
          </a:xfrm>
          <a:prstGeom prst="rect">
            <a:avLst/>
          </a:prstGeom>
          <a:noFill/>
          <a:ln/>
        </p:spPr>
        <p:txBody>
          <a:bodyPr wrap="square" lIns="0" tIns="0" rIns="0" bIns="0" rtlCol="0" anchor="ctr"/>
          <a:lstStyle/>
          <a:p>
            <a:pPr marL="0" indent="0" algn="l">
              <a:buNone/>
            </a:pPr>
            <a:r>
              <a:rPr lang="en-US" sz="900" b="1" dirty="0">
                <a:solidFill>
                  <a:srgbClr val="1A4A6E"/>
                </a:solidFill>
              </a:rPr>
              <a:t>Variables:</a:t>
            </a:r>
            <a:endParaRPr lang="en-US" sz="900" dirty="0"/>
          </a:p>
        </p:txBody>
      </p:sp>
      <p:sp>
        <p:nvSpPr>
          <p:cNvPr id="22" name="Text 20"/>
          <p:cNvSpPr/>
          <p:nvPr/>
        </p:nvSpPr>
        <p:spPr>
          <a:xfrm>
            <a:off x="5760720" y="3081528"/>
            <a:ext cx="2926080" cy="365760"/>
          </a:xfrm>
          <a:prstGeom prst="rect">
            <a:avLst/>
          </a:prstGeom>
          <a:noFill/>
          <a:ln/>
        </p:spPr>
        <p:txBody>
          <a:bodyPr wrap="square" lIns="0" tIns="0" rIns="0" bIns="0" rtlCol="0" anchor="ctr"/>
          <a:lstStyle/>
          <a:p>
            <a:pPr marL="0" indent="0" algn="l">
              <a:buNone/>
            </a:pPr>
            <a:r>
              <a:rPr lang="en-US" sz="950" dirty="0">
                <a:solidFill>
                  <a:srgbClr val="1A4A6E"/>
                </a:solidFill>
              </a:rPr>
              <a:t>19 clinical columns</a:t>
            </a:r>
            <a:endParaRPr lang="en-US" sz="950" dirty="0"/>
          </a:p>
        </p:txBody>
      </p:sp>
      <p:sp>
        <p:nvSpPr>
          <p:cNvPr id="23" name="Text 21"/>
          <p:cNvSpPr/>
          <p:nvPr/>
        </p:nvSpPr>
        <p:spPr>
          <a:xfrm>
            <a:off x="4709160" y="3584448"/>
            <a:ext cx="1005840" cy="365760"/>
          </a:xfrm>
          <a:prstGeom prst="rect">
            <a:avLst/>
          </a:prstGeom>
          <a:noFill/>
          <a:ln/>
        </p:spPr>
        <p:txBody>
          <a:bodyPr wrap="square" lIns="0" tIns="0" rIns="0" bIns="0" rtlCol="0" anchor="ctr"/>
          <a:lstStyle/>
          <a:p>
            <a:pPr marL="0" indent="0" algn="l">
              <a:buNone/>
            </a:pPr>
            <a:r>
              <a:rPr lang="en-US" sz="900" b="1" dirty="0">
                <a:solidFill>
                  <a:srgbClr val="1A4A6E"/>
                </a:solidFill>
              </a:rPr>
              <a:t>Type:</a:t>
            </a:r>
            <a:endParaRPr lang="en-US" sz="900" dirty="0"/>
          </a:p>
        </p:txBody>
      </p:sp>
      <p:sp>
        <p:nvSpPr>
          <p:cNvPr id="24" name="Text 22"/>
          <p:cNvSpPr/>
          <p:nvPr/>
        </p:nvSpPr>
        <p:spPr>
          <a:xfrm>
            <a:off x="5760720" y="3584448"/>
            <a:ext cx="2926080" cy="365760"/>
          </a:xfrm>
          <a:prstGeom prst="rect">
            <a:avLst/>
          </a:prstGeom>
          <a:noFill/>
          <a:ln/>
        </p:spPr>
        <p:txBody>
          <a:bodyPr wrap="square" lIns="0" tIns="0" rIns="0" bIns="0" rtlCol="0" anchor="ctr"/>
          <a:lstStyle/>
          <a:p>
            <a:pPr marL="0" indent="0" algn="l">
              <a:buNone/>
            </a:pPr>
            <a:r>
              <a:rPr lang="en-US" sz="950" dirty="0">
                <a:solidFill>
                  <a:srgbClr val="1A4A6E"/>
                </a:solidFill>
              </a:rPr>
              <a:t>Observational clinical trial</a:t>
            </a:r>
            <a:endParaRPr lang="en-US" sz="950" dirty="0"/>
          </a:p>
        </p:txBody>
      </p:sp>
      <p:sp>
        <p:nvSpPr>
          <p:cNvPr id="25" name="Text 23"/>
          <p:cNvSpPr/>
          <p:nvPr/>
        </p:nvSpPr>
        <p:spPr>
          <a:xfrm>
            <a:off x="4709160" y="4087368"/>
            <a:ext cx="1005840" cy="365760"/>
          </a:xfrm>
          <a:prstGeom prst="rect">
            <a:avLst/>
          </a:prstGeom>
          <a:noFill/>
          <a:ln/>
        </p:spPr>
        <p:txBody>
          <a:bodyPr wrap="square" lIns="0" tIns="0" rIns="0" bIns="0" rtlCol="0" anchor="ctr"/>
          <a:lstStyle/>
          <a:p>
            <a:pPr marL="0" indent="0" algn="l">
              <a:buNone/>
            </a:pPr>
            <a:r>
              <a:rPr lang="en-US" sz="900" b="1" dirty="0">
                <a:solidFill>
                  <a:srgbClr val="1A4A6E"/>
                </a:solidFill>
              </a:rPr>
              <a:t>Status:</a:t>
            </a:r>
            <a:endParaRPr lang="en-US" sz="900" dirty="0"/>
          </a:p>
        </p:txBody>
      </p:sp>
      <p:sp>
        <p:nvSpPr>
          <p:cNvPr id="26" name="Text 24"/>
          <p:cNvSpPr/>
          <p:nvPr/>
        </p:nvSpPr>
        <p:spPr>
          <a:xfrm>
            <a:off x="5760720" y="4087368"/>
            <a:ext cx="2926080" cy="365760"/>
          </a:xfrm>
          <a:prstGeom prst="rect">
            <a:avLst/>
          </a:prstGeom>
          <a:noFill/>
          <a:ln/>
        </p:spPr>
        <p:txBody>
          <a:bodyPr wrap="square" lIns="0" tIns="0" rIns="0" bIns="0" rtlCol="0" anchor="ctr"/>
          <a:lstStyle/>
          <a:p>
            <a:pPr marL="0" indent="0" algn="l">
              <a:buNone/>
            </a:pPr>
            <a:r>
              <a:rPr lang="en-US" sz="950" dirty="0">
                <a:solidFill>
                  <a:srgbClr val="1A4A6E"/>
                </a:solidFill>
              </a:rPr>
              <a:t>Censored · Deceased · Transplant</a:t>
            </a:r>
            <a:endParaRPr lang="en-US" sz="950" dirty="0"/>
          </a:p>
        </p:txBody>
      </p:sp>
      <p:sp>
        <p:nvSpPr>
          <p:cNvPr id="27" name="Shape 25"/>
          <p:cNvSpPr/>
          <p:nvPr/>
        </p:nvSpPr>
        <p:spPr>
          <a:xfrm>
            <a:off x="0" y="4800600"/>
            <a:ext cx="9144000" cy="342900"/>
          </a:xfrm>
          <a:prstGeom prst="rect">
            <a:avLst/>
          </a:prstGeom>
          <a:solidFill>
            <a:srgbClr val="1A4A6E"/>
          </a:solidFill>
          <a:ln w="12700">
            <a:solidFill>
              <a:srgbClr val="1A4A6E"/>
            </a:solidFill>
            <a:prstDash val="solid"/>
          </a:ln>
        </p:spPr>
      </p:sp>
      <p:sp>
        <p:nvSpPr>
          <p:cNvPr id="28" name="Text 26"/>
          <p:cNvSpPr/>
          <p:nvPr/>
        </p:nvSpPr>
        <p:spPr>
          <a:xfrm>
            <a:off x="274320" y="4800600"/>
            <a:ext cx="8595360" cy="342900"/>
          </a:xfrm>
          <a:prstGeom prst="rect">
            <a:avLst/>
          </a:prstGeom>
          <a:noFill/>
          <a:ln/>
        </p:spPr>
        <p:txBody>
          <a:bodyPr wrap="square" lIns="0" tIns="0" rIns="0" bIns="0" rtlCol="0" anchor="ctr"/>
          <a:lstStyle/>
          <a:p>
            <a:pPr marL="0" indent="0" algn="ctr">
              <a:buNone/>
            </a:pPr>
            <a:r>
              <a:rPr lang="en-US" sz="800" dirty="0">
                <a:solidFill>
                  <a:srgbClr val="A8C5DA"/>
                </a:solidFill>
              </a:rPr>
              <a:t>Liver Cirrhosis Clinical Analysis · Power BI Dashboard Project</a:t>
            </a:r>
            <a:endParaRPr lang="en-US" sz="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86AB"/>
          </a:solidFill>
          <a:ln w="12700">
            <a:solidFill>
              <a:srgbClr val="2E86AB"/>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lgn="l">
              <a:buNone/>
            </a:pPr>
            <a:r>
              <a:rPr lang="en-US" sz="1800" b="1" kern="0" spc="100" dirty="0">
                <a:solidFill>
                  <a:srgbClr val="FFFFFF"/>
                </a:solidFill>
              </a:rPr>
              <a:t>02 · DATA &amp; METHODOLOGY</a:t>
            </a:r>
            <a:endParaRPr lang="en-US" sz="1800" dirty="0"/>
          </a:p>
        </p:txBody>
      </p:sp>
      <p:sp>
        <p:nvSpPr>
          <p:cNvPr id="4" name="Shape 2"/>
          <p:cNvSpPr/>
          <p:nvPr/>
        </p:nvSpPr>
        <p:spPr>
          <a:xfrm>
            <a:off x="2304288" y="2743200"/>
            <a:ext cx="137160" cy="0"/>
          </a:xfrm>
          <a:prstGeom prst="line">
            <a:avLst/>
          </a:prstGeom>
          <a:noFill/>
          <a:ln w="19050">
            <a:solidFill>
              <a:srgbClr val="5A7D99"/>
            </a:solidFill>
            <a:prstDash val="solid"/>
          </a:ln>
        </p:spPr>
      </p:sp>
      <p:sp>
        <p:nvSpPr>
          <p:cNvPr id="5" name="Text 3"/>
          <p:cNvSpPr/>
          <p:nvPr/>
        </p:nvSpPr>
        <p:spPr>
          <a:xfrm>
            <a:off x="2267712" y="2578608"/>
            <a:ext cx="228600" cy="320040"/>
          </a:xfrm>
          <a:prstGeom prst="rect">
            <a:avLst/>
          </a:prstGeom>
          <a:noFill/>
          <a:ln/>
        </p:spPr>
        <p:txBody>
          <a:bodyPr wrap="square" lIns="0" tIns="0" rIns="0" bIns="0" rtlCol="0" anchor="ctr"/>
          <a:lstStyle/>
          <a:p>
            <a:pPr marL="0" indent="0" algn="ctr">
              <a:buNone/>
            </a:pPr>
            <a:r>
              <a:rPr lang="en-US" sz="1600" dirty="0">
                <a:solidFill>
                  <a:srgbClr val="5A7D99"/>
                </a:solidFill>
              </a:rPr>
              <a:t>›</a:t>
            </a:r>
            <a:endParaRPr lang="en-US" sz="1600" dirty="0"/>
          </a:p>
        </p:txBody>
      </p:sp>
      <p:sp>
        <p:nvSpPr>
          <p:cNvPr id="6" name="Shape 4"/>
          <p:cNvSpPr/>
          <p:nvPr/>
        </p:nvSpPr>
        <p:spPr>
          <a:xfrm>
            <a:off x="274320" y="1051560"/>
            <a:ext cx="2011680" cy="1463040"/>
          </a:xfrm>
          <a:prstGeom prst="rect">
            <a:avLst/>
          </a:prstGeom>
          <a:solidFill>
            <a:srgbClr val="1A4A6E"/>
          </a:solidFill>
          <a:ln w="12700">
            <a:solidFill>
              <a:srgbClr val="1A4A6E"/>
            </a:solidFill>
            <a:prstDash val="solid"/>
          </a:ln>
          <a:effectLst>
            <a:outerShdw blurRad="101600" dist="38100" dir="8100000" algn="bl" rotWithShape="0">
              <a:srgbClr val="000000">
                <a:alpha val="10000"/>
              </a:srgbClr>
            </a:outerShdw>
          </a:effectLst>
        </p:spPr>
      </p:sp>
      <p:sp>
        <p:nvSpPr>
          <p:cNvPr id="7" name="Text 5"/>
          <p:cNvSpPr/>
          <p:nvPr/>
        </p:nvSpPr>
        <p:spPr>
          <a:xfrm>
            <a:off x="274320" y="1097280"/>
            <a:ext cx="2011680" cy="411480"/>
          </a:xfrm>
          <a:prstGeom prst="rect">
            <a:avLst/>
          </a:prstGeom>
          <a:noFill/>
          <a:ln/>
        </p:spPr>
        <p:txBody>
          <a:bodyPr wrap="square" lIns="0" tIns="0" rIns="0" bIns="0" rtlCol="0" anchor="ctr"/>
          <a:lstStyle/>
          <a:p>
            <a:pPr marL="0" indent="0" algn="ctr">
              <a:buNone/>
            </a:pPr>
            <a:r>
              <a:rPr lang="en-US" sz="2200" b="1" dirty="0">
                <a:solidFill>
                  <a:srgbClr val="FFFFFF"/>
                </a:solidFill>
              </a:rPr>
              <a:t>01</a:t>
            </a:r>
            <a:endParaRPr lang="en-US" sz="2200" dirty="0"/>
          </a:p>
        </p:txBody>
      </p:sp>
      <p:sp>
        <p:nvSpPr>
          <p:cNvPr id="8" name="Text 6"/>
          <p:cNvSpPr/>
          <p:nvPr/>
        </p:nvSpPr>
        <p:spPr>
          <a:xfrm>
            <a:off x="274320" y="1481328"/>
            <a:ext cx="2011680" cy="640080"/>
          </a:xfrm>
          <a:prstGeom prst="rect">
            <a:avLst/>
          </a:prstGeom>
          <a:noFill/>
          <a:ln/>
        </p:spPr>
        <p:txBody>
          <a:bodyPr wrap="square" lIns="0" tIns="0" rIns="0" bIns="0" rtlCol="0" anchor="ctr"/>
          <a:lstStyle/>
          <a:p>
            <a:pPr marL="0" indent="0" algn="ctr">
              <a:buNone/>
            </a:pPr>
            <a:r>
              <a:rPr lang="en-US" sz="1100" b="1" dirty="0">
                <a:solidFill>
                  <a:srgbClr val="FFFFFF"/>
                </a:solidFill>
              </a:rPr>
              <a:t>Power Query</a:t>
            </a:r>
            <a:endParaRPr lang="en-US" sz="1100" dirty="0"/>
          </a:p>
          <a:p>
            <a:pPr marL="0" indent="0" algn="ctr">
              <a:buNone/>
            </a:pPr>
            <a:r>
              <a:rPr lang="en-US" sz="1100" b="1" dirty="0">
                <a:solidFill>
                  <a:srgbClr val="FFFFFF"/>
                </a:solidFill>
              </a:rPr>
              <a:t>Preparation</a:t>
            </a:r>
            <a:endParaRPr lang="en-US" sz="1100" dirty="0"/>
          </a:p>
        </p:txBody>
      </p:sp>
      <p:sp>
        <p:nvSpPr>
          <p:cNvPr id="9" name="Shape 7"/>
          <p:cNvSpPr/>
          <p:nvPr/>
        </p:nvSpPr>
        <p:spPr>
          <a:xfrm>
            <a:off x="274320" y="2606040"/>
            <a:ext cx="2011680" cy="210312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10" name="Shape 8"/>
          <p:cNvSpPr/>
          <p:nvPr/>
        </p:nvSpPr>
        <p:spPr>
          <a:xfrm>
            <a:off x="274320" y="2606040"/>
            <a:ext cx="64008" cy="2103120"/>
          </a:xfrm>
          <a:prstGeom prst="rect">
            <a:avLst/>
          </a:prstGeom>
          <a:solidFill>
            <a:srgbClr val="1A4A6E"/>
          </a:solidFill>
          <a:ln w="12700">
            <a:solidFill>
              <a:srgbClr val="1A4A6E"/>
            </a:solidFill>
            <a:prstDash val="solid"/>
          </a:ln>
        </p:spPr>
      </p:sp>
      <p:sp>
        <p:nvSpPr>
          <p:cNvPr id="11" name="Text 9"/>
          <p:cNvSpPr/>
          <p:nvPr/>
        </p:nvSpPr>
        <p:spPr>
          <a:xfrm>
            <a:off x="438912" y="2651760"/>
            <a:ext cx="1828800" cy="2011680"/>
          </a:xfrm>
          <a:prstGeom prst="rect">
            <a:avLst/>
          </a:prstGeom>
          <a:noFill/>
          <a:ln/>
        </p:spPr>
        <p:txBody>
          <a:bodyPr wrap="square" lIns="0" tIns="0" rIns="0" bIns="0" rtlCol="0" anchor="t"/>
          <a:lstStyle/>
          <a:p>
            <a:pPr marL="0" indent="0" algn="l">
              <a:buNone/>
            </a:pPr>
            <a:r>
              <a:rPr lang="en-US" sz="900" dirty="0">
                <a:solidFill>
                  <a:srgbClr val="1A4A6E"/>
                </a:solidFill>
              </a:rPr>
              <a:t>Renamed coded values</a:t>
            </a:r>
            <a:endParaRPr lang="en-US" sz="900" dirty="0"/>
          </a:p>
          <a:p>
            <a:pPr marL="0" indent="0" algn="l">
              <a:buNone/>
            </a:pPr>
            <a:r>
              <a:rPr lang="en-US" sz="900" dirty="0">
                <a:solidFill>
                  <a:srgbClr val="1A4A6E"/>
                </a:solidFill>
              </a:rPr>
              <a:t>(C→Censored, D→Deceased)</a:t>
            </a:r>
            <a:endParaRPr lang="en-US" sz="900" dirty="0"/>
          </a:p>
          <a:p>
            <a:pPr marL="0" indent="0" algn="l">
              <a:buNone/>
            </a:pPr>
            <a:r>
              <a:rPr lang="en-US" sz="900" dirty="0">
                <a:solidFill>
                  <a:srgbClr val="1A4A6E"/>
                </a:solidFill>
              </a:rPr>
              <a:t>Fixed data types</a:t>
            </a:r>
            <a:endParaRPr lang="en-US" sz="900" dirty="0"/>
          </a:p>
          <a:p>
            <a:pPr marL="0" indent="0" algn="l">
              <a:buNone/>
            </a:pPr>
            <a:r>
              <a:rPr lang="en-US" sz="900" dirty="0">
                <a:solidFill>
                  <a:srgbClr val="1A4A6E"/>
                </a:solidFill>
              </a:rPr>
              <a:t>Replaced D-penicillamine→Drug</a:t>
            </a:r>
            <a:endParaRPr lang="en-US" sz="900" dirty="0"/>
          </a:p>
        </p:txBody>
      </p:sp>
      <p:sp>
        <p:nvSpPr>
          <p:cNvPr id="12" name="Shape 10"/>
          <p:cNvSpPr/>
          <p:nvPr/>
        </p:nvSpPr>
        <p:spPr>
          <a:xfrm>
            <a:off x="4471416" y="2743200"/>
            <a:ext cx="137160" cy="0"/>
          </a:xfrm>
          <a:prstGeom prst="line">
            <a:avLst/>
          </a:prstGeom>
          <a:noFill/>
          <a:ln w="19050">
            <a:solidFill>
              <a:srgbClr val="5A7D99"/>
            </a:solidFill>
            <a:prstDash val="solid"/>
          </a:ln>
        </p:spPr>
      </p:sp>
      <p:sp>
        <p:nvSpPr>
          <p:cNvPr id="13" name="Text 11"/>
          <p:cNvSpPr/>
          <p:nvPr/>
        </p:nvSpPr>
        <p:spPr>
          <a:xfrm>
            <a:off x="4434840" y="2578608"/>
            <a:ext cx="228600" cy="320040"/>
          </a:xfrm>
          <a:prstGeom prst="rect">
            <a:avLst/>
          </a:prstGeom>
          <a:noFill/>
          <a:ln/>
        </p:spPr>
        <p:txBody>
          <a:bodyPr wrap="square" lIns="0" tIns="0" rIns="0" bIns="0" rtlCol="0" anchor="ctr"/>
          <a:lstStyle/>
          <a:p>
            <a:pPr marL="0" indent="0" algn="ctr">
              <a:buNone/>
            </a:pPr>
            <a:r>
              <a:rPr lang="en-US" sz="1600" dirty="0">
                <a:solidFill>
                  <a:srgbClr val="5A7D99"/>
                </a:solidFill>
              </a:rPr>
              <a:t>›</a:t>
            </a:r>
            <a:endParaRPr lang="en-US" sz="1600" dirty="0"/>
          </a:p>
        </p:txBody>
      </p:sp>
      <p:sp>
        <p:nvSpPr>
          <p:cNvPr id="14" name="Shape 12"/>
          <p:cNvSpPr/>
          <p:nvPr/>
        </p:nvSpPr>
        <p:spPr>
          <a:xfrm>
            <a:off x="2441448" y="1051560"/>
            <a:ext cx="2011680" cy="1463040"/>
          </a:xfrm>
          <a:prstGeom prst="rect">
            <a:avLst/>
          </a:prstGeom>
          <a:solidFill>
            <a:srgbClr val="2E86AB"/>
          </a:solidFill>
          <a:ln w="12700">
            <a:solidFill>
              <a:srgbClr val="2E86AB"/>
            </a:solidFill>
            <a:prstDash val="solid"/>
          </a:ln>
          <a:effectLst>
            <a:outerShdw blurRad="101600" dist="38100" dir="8100000" algn="bl" rotWithShape="0">
              <a:srgbClr val="000000">
                <a:alpha val="10000"/>
              </a:srgbClr>
            </a:outerShdw>
          </a:effectLst>
        </p:spPr>
      </p:sp>
      <p:sp>
        <p:nvSpPr>
          <p:cNvPr id="15" name="Text 13"/>
          <p:cNvSpPr/>
          <p:nvPr/>
        </p:nvSpPr>
        <p:spPr>
          <a:xfrm>
            <a:off x="2441448" y="1097280"/>
            <a:ext cx="2011680" cy="411480"/>
          </a:xfrm>
          <a:prstGeom prst="rect">
            <a:avLst/>
          </a:prstGeom>
          <a:noFill/>
          <a:ln/>
        </p:spPr>
        <p:txBody>
          <a:bodyPr wrap="square" lIns="0" tIns="0" rIns="0" bIns="0" rtlCol="0" anchor="ctr"/>
          <a:lstStyle/>
          <a:p>
            <a:pPr marL="0" indent="0" algn="ctr">
              <a:buNone/>
            </a:pPr>
            <a:r>
              <a:rPr lang="en-US" sz="2200" b="1" dirty="0">
                <a:solidFill>
                  <a:srgbClr val="FFFFFF"/>
                </a:solidFill>
              </a:rPr>
              <a:t>02</a:t>
            </a:r>
            <a:endParaRPr lang="en-US" sz="2200" dirty="0"/>
          </a:p>
        </p:txBody>
      </p:sp>
      <p:sp>
        <p:nvSpPr>
          <p:cNvPr id="16" name="Text 14"/>
          <p:cNvSpPr/>
          <p:nvPr/>
        </p:nvSpPr>
        <p:spPr>
          <a:xfrm>
            <a:off x="2441448" y="1481328"/>
            <a:ext cx="2011680" cy="640080"/>
          </a:xfrm>
          <a:prstGeom prst="rect">
            <a:avLst/>
          </a:prstGeom>
          <a:noFill/>
          <a:ln/>
        </p:spPr>
        <p:txBody>
          <a:bodyPr wrap="square" lIns="0" tIns="0" rIns="0" bIns="0" rtlCol="0" anchor="ctr"/>
          <a:lstStyle/>
          <a:p>
            <a:pPr marL="0" indent="0" algn="ctr">
              <a:buNone/>
            </a:pPr>
            <a:r>
              <a:rPr lang="en-US" sz="1100" b="1" dirty="0">
                <a:solidFill>
                  <a:srgbClr val="FFFFFF"/>
                </a:solidFill>
              </a:rPr>
              <a:t>Calculated</a:t>
            </a:r>
            <a:endParaRPr lang="en-US" sz="1100" dirty="0"/>
          </a:p>
          <a:p>
            <a:pPr marL="0" indent="0" algn="ctr">
              <a:buNone/>
            </a:pPr>
            <a:r>
              <a:rPr lang="en-US" sz="1100" b="1" dirty="0">
                <a:solidFill>
                  <a:srgbClr val="FFFFFF"/>
                </a:solidFill>
              </a:rPr>
              <a:t>Columns</a:t>
            </a:r>
            <a:endParaRPr lang="en-US" sz="1100" dirty="0"/>
          </a:p>
        </p:txBody>
      </p:sp>
      <p:sp>
        <p:nvSpPr>
          <p:cNvPr id="17" name="Shape 15"/>
          <p:cNvSpPr/>
          <p:nvPr/>
        </p:nvSpPr>
        <p:spPr>
          <a:xfrm>
            <a:off x="2441448" y="2606040"/>
            <a:ext cx="2011680" cy="210312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18" name="Shape 16"/>
          <p:cNvSpPr/>
          <p:nvPr/>
        </p:nvSpPr>
        <p:spPr>
          <a:xfrm>
            <a:off x="2441448" y="2606040"/>
            <a:ext cx="64008" cy="2103120"/>
          </a:xfrm>
          <a:prstGeom prst="rect">
            <a:avLst/>
          </a:prstGeom>
          <a:solidFill>
            <a:srgbClr val="2E86AB"/>
          </a:solidFill>
          <a:ln w="12700">
            <a:solidFill>
              <a:srgbClr val="2E86AB"/>
            </a:solidFill>
            <a:prstDash val="solid"/>
          </a:ln>
        </p:spPr>
      </p:sp>
      <p:sp>
        <p:nvSpPr>
          <p:cNvPr id="19" name="Text 17"/>
          <p:cNvSpPr/>
          <p:nvPr/>
        </p:nvSpPr>
        <p:spPr>
          <a:xfrm>
            <a:off x="2606040" y="2651760"/>
            <a:ext cx="1828800" cy="2011680"/>
          </a:xfrm>
          <a:prstGeom prst="rect">
            <a:avLst/>
          </a:prstGeom>
          <a:noFill/>
          <a:ln/>
        </p:spPr>
        <p:txBody>
          <a:bodyPr wrap="square" lIns="0" tIns="0" rIns="0" bIns="0" rtlCol="0" anchor="t"/>
          <a:lstStyle/>
          <a:p>
            <a:pPr marL="0" indent="0" algn="l">
              <a:buNone/>
            </a:pPr>
            <a:r>
              <a:rPr lang="en-US" sz="900" dirty="0">
                <a:solidFill>
                  <a:srgbClr val="1A4A6E"/>
                </a:solidFill>
              </a:rPr>
              <a:t>Age_Years = Age/365</a:t>
            </a:r>
            <a:endParaRPr lang="en-US" sz="900" dirty="0"/>
          </a:p>
          <a:p>
            <a:pPr marL="0" indent="0" algn="l">
              <a:buNone/>
            </a:pPr>
            <a:r>
              <a:rPr lang="en-US" sz="900" dirty="0">
                <a:solidFill>
                  <a:srgbClr val="1A4A6E"/>
                </a:solidFill>
              </a:rPr>
              <a:t>Age_Group (4 bands)</a:t>
            </a:r>
            <a:endParaRPr lang="en-US" sz="900" dirty="0"/>
          </a:p>
          <a:p>
            <a:pPr marL="0" indent="0" algn="l">
              <a:buNone/>
            </a:pPr>
            <a:r>
              <a:rPr lang="en-US" sz="900" dirty="0">
                <a:solidFill>
                  <a:srgbClr val="1A4A6E"/>
                </a:solidFill>
              </a:rPr>
              <a:t>Severity_Score (MELD-inspired)</a:t>
            </a:r>
            <a:endParaRPr lang="en-US" sz="900" dirty="0"/>
          </a:p>
          <a:p>
            <a:pPr marL="0" indent="0" algn="l">
              <a:buNone/>
            </a:pPr>
            <a:endParaRPr lang="en-US" sz="900" dirty="0"/>
          </a:p>
        </p:txBody>
      </p:sp>
      <p:sp>
        <p:nvSpPr>
          <p:cNvPr id="20" name="Shape 18"/>
          <p:cNvSpPr/>
          <p:nvPr/>
        </p:nvSpPr>
        <p:spPr>
          <a:xfrm>
            <a:off x="6638544" y="2743200"/>
            <a:ext cx="137160" cy="0"/>
          </a:xfrm>
          <a:prstGeom prst="line">
            <a:avLst/>
          </a:prstGeom>
          <a:noFill/>
          <a:ln w="19050">
            <a:solidFill>
              <a:srgbClr val="5A7D99"/>
            </a:solidFill>
            <a:prstDash val="solid"/>
          </a:ln>
        </p:spPr>
      </p:sp>
      <p:sp>
        <p:nvSpPr>
          <p:cNvPr id="21" name="Text 19"/>
          <p:cNvSpPr/>
          <p:nvPr/>
        </p:nvSpPr>
        <p:spPr>
          <a:xfrm>
            <a:off x="6601968" y="2578608"/>
            <a:ext cx="228600" cy="320040"/>
          </a:xfrm>
          <a:prstGeom prst="rect">
            <a:avLst/>
          </a:prstGeom>
          <a:noFill/>
          <a:ln/>
        </p:spPr>
        <p:txBody>
          <a:bodyPr wrap="square" lIns="0" tIns="0" rIns="0" bIns="0" rtlCol="0" anchor="ctr"/>
          <a:lstStyle/>
          <a:p>
            <a:pPr marL="0" indent="0" algn="ctr">
              <a:buNone/>
            </a:pPr>
            <a:r>
              <a:rPr lang="en-US" sz="1600" dirty="0">
                <a:solidFill>
                  <a:srgbClr val="5A7D99"/>
                </a:solidFill>
              </a:rPr>
              <a:t>›</a:t>
            </a:r>
            <a:endParaRPr lang="en-US" sz="1600" dirty="0"/>
          </a:p>
        </p:txBody>
      </p:sp>
      <p:sp>
        <p:nvSpPr>
          <p:cNvPr id="22" name="Shape 20"/>
          <p:cNvSpPr/>
          <p:nvPr/>
        </p:nvSpPr>
        <p:spPr>
          <a:xfrm>
            <a:off x="4608576" y="1051560"/>
            <a:ext cx="2011680" cy="1463040"/>
          </a:xfrm>
          <a:prstGeom prst="rect">
            <a:avLst/>
          </a:prstGeom>
          <a:solidFill>
            <a:srgbClr val="3BCEAC"/>
          </a:solidFill>
          <a:ln w="12700">
            <a:solidFill>
              <a:srgbClr val="3BCEAC"/>
            </a:solidFill>
            <a:prstDash val="solid"/>
          </a:ln>
          <a:effectLst>
            <a:outerShdw blurRad="101600" dist="38100" dir="8100000" algn="bl" rotWithShape="0">
              <a:srgbClr val="000000">
                <a:alpha val="10000"/>
              </a:srgbClr>
            </a:outerShdw>
          </a:effectLst>
        </p:spPr>
      </p:sp>
      <p:sp>
        <p:nvSpPr>
          <p:cNvPr id="23" name="Text 21"/>
          <p:cNvSpPr/>
          <p:nvPr/>
        </p:nvSpPr>
        <p:spPr>
          <a:xfrm>
            <a:off x="4608576" y="1097280"/>
            <a:ext cx="2011680" cy="411480"/>
          </a:xfrm>
          <a:prstGeom prst="rect">
            <a:avLst/>
          </a:prstGeom>
          <a:noFill/>
          <a:ln/>
        </p:spPr>
        <p:txBody>
          <a:bodyPr wrap="square" lIns="0" tIns="0" rIns="0" bIns="0" rtlCol="0" anchor="ctr"/>
          <a:lstStyle/>
          <a:p>
            <a:pPr marL="0" indent="0" algn="ctr">
              <a:buNone/>
            </a:pPr>
            <a:r>
              <a:rPr lang="en-US" sz="2200" b="1" dirty="0">
                <a:solidFill>
                  <a:srgbClr val="FFFFFF"/>
                </a:solidFill>
              </a:rPr>
              <a:t>03</a:t>
            </a:r>
            <a:endParaRPr lang="en-US" sz="2200" dirty="0"/>
          </a:p>
        </p:txBody>
      </p:sp>
      <p:sp>
        <p:nvSpPr>
          <p:cNvPr id="24" name="Text 22"/>
          <p:cNvSpPr/>
          <p:nvPr/>
        </p:nvSpPr>
        <p:spPr>
          <a:xfrm>
            <a:off x="4608576" y="1481328"/>
            <a:ext cx="2011680" cy="640080"/>
          </a:xfrm>
          <a:prstGeom prst="rect">
            <a:avLst/>
          </a:prstGeom>
          <a:noFill/>
          <a:ln/>
        </p:spPr>
        <p:txBody>
          <a:bodyPr wrap="square" lIns="0" tIns="0" rIns="0" bIns="0" rtlCol="0" anchor="ctr"/>
          <a:lstStyle/>
          <a:p>
            <a:pPr marL="0" indent="0" algn="ctr">
              <a:buNone/>
            </a:pPr>
            <a:r>
              <a:rPr lang="en-US" sz="1100" b="1" dirty="0">
                <a:solidFill>
                  <a:srgbClr val="FFFFFF"/>
                </a:solidFill>
              </a:rPr>
              <a:t>DAX Measures</a:t>
            </a:r>
            <a:endParaRPr lang="en-US" sz="1100" dirty="0"/>
          </a:p>
        </p:txBody>
      </p:sp>
      <p:sp>
        <p:nvSpPr>
          <p:cNvPr id="25" name="Shape 23"/>
          <p:cNvSpPr/>
          <p:nvPr/>
        </p:nvSpPr>
        <p:spPr>
          <a:xfrm>
            <a:off x="4608576" y="2606040"/>
            <a:ext cx="2011680" cy="210312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26" name="Shape 24"/>
          <p:cNvSpPr/>
          <p:nvPr/>
        </p:nvSpPr>
        <p:spPr>
          <a:xfrm>
            <a:off x="4608576" y="2606040"/>
            <a:ext cx="64008" cy="2103120"/>
          </a:xfrm>
          <a:prstGeom prst="rect">
            <a:avLst/>
          </a:prstGeom>
          <a:solidFill>
            <a:srgbClr val="3BCEAC"/>
          </a:solidFill>
          <a:ln w="12700">
            <a:solidFill>
              <a:srgbClr val="3BCEAC"/>
            </a:solidFill>
            <a:prstDash val="solid"/>
          </a:ln>
        </p:spPr>
      </p:sp>
      <p:sp>
        <p:nvSpPr>
          <p:cNvPr id="27" name="Text 25"/>
          <p:cNvSpPr/>
          <p:nvPr/>
        </p:nvSpPr>
        <p:spPr>
          <a:xfrm>
            <a:off x="4773168" y="2651760"/>
            <a:ext cx="1828800" cy="2011680"/>
          </a:xfrm>
          <a:prstGeom prst="rect">
            <a:avLst/>
          </a:prstGeom>
          <a:noFill/>
          <a:ln/>
        </p:spPr>
        <p:txBody>
          <a:bodyPr wrap="square" lIns="0" tIns="0" rIns="0" bIns="0" rtlCol="0" anchor="t"/>
          <a:lstStyle/>
          <a:p>
            <a:pPr marL="0" indent="0" algn="l">
              <a:buNone/>
            </a:pPr>
            <a:r>
              <a:rPr lang="en-US" sz="900" dirty="0">
                <a:solidFill>
                  <a:srgbClr val="1A4A6E"/>
                </a:solidFill>
              </a:rPr>
              <a:t>15+ measures created</a:t>
            </a:r>
            <a:endParaRPr lang="en-US" sz="900" dirty="0"/>
          </a:p>
          <a:p>
            <a:pPr marL="0" indent="0" algn="l">
              <a:buNone/>
            </a:pPr>
            <a:r>
              <a:rPr lang="en-US" sz="900" dirty="0">
                <a:solidFill>
                  <a:srgbClr val="1A4A6E"/>
                </a:solidFill>
              </a:rPr>
              <a:t>Mortality_Rate</a:t>
            </a:r>
            <a:endParaRPr lang="en-US" sz="900" dirty="0"/>
          </a:p>
          <a:p>
            <a:pPr marL="0" indent="0" algn="l">
              <a:buNone/>
            </a:pPr>
            <a:r>
              <a:rPr lang="en-US" sz="900" dirty="0">
                <a:solidFill>
                  <a:srgbClr val="1A4A6E"/>
                </a:solidFill>
              </a:rPr>
              <a:t>Avg_Stage_Days</a:t>
            </a:r>
            <a:endParaRPr lang="en-US" sz="900" dirty="0"/>
          </a:p>
          <a:p>
            <a:pPr marL="0" indent="0" algn="l">
              <a:buNone/>
            </a:pPr>
            <a:r>
              <a:rPr lang="en-US" sz="900" dirty="0">
                <a:solidFill>
                  <a:srgbClr val="1A4A6E"/>
                </a:solidFill>
              </a:rPr>
              <a:t>Drug_Avg_Days</a:t>
            </a:r>
            <a:endParaRPr lang="en-US" sz="900" dirty="0"/>
          </a:p>
          <a:p>
            <a:pPr marL="0" indent="0" algn="l">
              <a:buNone/>
            </a:pPr>
            <a:r>
              <a:rPr lang="en-US" sz="900" dirty="0">
                <a:solidFill>
                  <a:srgbClr val="1A4A6E"/>
                </a:solidFill>
              </a:rPr>
              <a:t>Biomarker averages</a:t>
            </a:r>
            <a:endParaRPr lang="en-US" sz="900" dirty="0"/>
          </a:p>
          <a:p>
            <a:pPr marL="0" indent="0" algn="l">
              <a:buNone/>
            </a:pPr>
            <a:r>
              <a:rPr lang="en-US" sz="900" dirty="0">
                <a:solidFill>
                  <a:srgbClr val="1A4A6E"/>
                </a:solidFill>
              </a:rPr>
              <a:t>Severity per stage</a:t>
            </a:r>
            <a:endParaRPr lang="en-US" sz="900" dirty="0"/>
          </a:p>
        </p:txBody>
      </p:sp>
      <p:sp>
        <p:nvSpPr>
          <p:cNvPr id="28" name="Shape 26"/>
          <p:cNvSpPr/>
          <p:nvPr/>
        </p:nvSpPr>
        <p:spPr>
          <a:xfrm>
            <a:off x="6775704" y="1051560"/>
            <a:ext cx="2011680" cy="1463040"/>
          </a:xfrm>
          <a:prstGeom prst="rect">
            <a:avLst/>
          </a:prstGeom>
          <a:solidFill>
            <a:srgbClr val="533AB7"/>
          </a:solidFill>
          <a:ln w="12700">
            <a:solidFill>
              <a:srgbClr val="533AB7"/>
            </a:solidFill>
            <a:prstDash val="solid"/>
          </a:ln>
          <a:effectLst>
            <a:outerShdw blurRad="101600" dist="38100" dir="8100000" algn="bl" rotWithShape="0">
              <a:srgbClr val="000000">
                <a:alpha val="10000"/>
              </a:srgbClr>
            </a:outerShdw>
          </a:effectLst>
        </p:spPr>
      </p:sp>
      <p:sp>
        <p:nvSpPr>
          <p:cNvPr id="29" name="Text 27"/>
          <p:cNvSpPr/>
          <p:nvPr/>
        </p:nvSpPr>
        <p:spPr>
          <a:xfrm>
            <a:off x="6775704" y="1097280"/>
            <a:ext cx="2011680" cy="411480"/>
          </a:xfrm>
          <a:prstGeom prst="rect">
            <a:avLst/>
          </a:prstGeom>
          <a:noFill/>
          <a:ln/>
        </p:spPr>
        <p:txBody>
          <a:bodyPr wrap="square" lIns="0" tIns="0" rIns="0" bIns="0" rtlCol="0" anchor="ctr"/>
          <a:lstStyle/>
          <a:p>
            <a:pPr marL="0" indent="0" algn="ctr">
              <a:buNone/>
            </a:pPr>
            <a:r>
              <a:rPr lang="en-US" sz="2200" b="1" dirty="0">
                <a:solidFill>
                  <a:srgbClr val="FFFFFF"/>
                </a:solidFill>
              </a:rPr>
              <a:t>04</a:t>
            </a:r>
            <a:endParaRPr lang="en-US" sz="2200" dirty="0"/>
          </a:p>
        </p:txBody>
      </p:sp>
      <p:sp>
        <p:nvSpPr>
          <p:cNvPr id="30" name="Text 28"/>
          <p:cNvSpPr/>
          <p:nvPr/>
        </p:nvSpPr>
        <p:spPr>
          <a:xfrm>
            <a:off x="6775704" y="1481328"/>
            <a:ext cx="2011680" cy="640080"/>
          </a:xfrm>
          <a:prstGeom prst="rect">
            <a:avLst/>
          </a:prstGeom>
          <a:noFill/>
          <a:ln/>
        </p:spPr>
        <p:txBody>
          <a:bodyPr wrap="square" lIns="0" tIns="0" rIns="0" bIns="0" rtlCol="0" anchor="ctr"/>
          <a:lstStyle/>
          <a:p>
            <a:pPr marL="0" indent="0" algn="ctr">
              <a:buNone/>
            </a:pPr>
            <a:r>
              <a:rPr lang="en-US" sz="1100" b="1" dirty="0">
                <a:solidFill>
                  <a:srgbClr val="FFFFFF"/>
                </a:solidFill>
              </a:rPr>
              <a:t>Dashboard</a:t>
            </a:r>
            <a:endParaRPr lang="en-US" sz="1100" dirty="0"/>
          </a:p>
          <a:p>
            <a:pPr marL="0" indent="0" algn="ctr">
              <a:buNone/>
            </a:pPr>
            <a:r>
              <a:rPr lang="en-US" sz="1100" b="1" dirty="0">
                <a:solidFill>
                  <a:srgbClr val="FFFFFF"/>
                </a:solidFill>
              </a:rPr>
              <a:t>Design</a:t>
            </a:r>
            <a:endParaRPr lang="en-US" sz="1100" dirty="0"/>
          </a:p>
        </p:txBody>
      </p:sp>
      <p:sp>
        <p:nvSpPr>
          <p:cNvPr id="31" name="Shape 29"/>
          <p:cNvSpPr/>
          <p:nvPr/>
        </p:nvSpPr>
        <p:spPr>
          <a:xfrm>
            <a:off x="6775704" y="2606040"/>
            <a:ext cx="2011680" cy="210312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32" name="Shape 30"/>
          <p:cNvSpPr/>
          <p:nvPr/>
        </p:nvSpPr>
        <p:spPr>
          <a:xfrm>
            <a:off x="6775704" y="2606040"/>
            <a:ext cx="64008" cy="2103120"/>
          </a:xfrm>
          <a:prstGeom prst="rect">
            <a:avLst/>
          </a:prstGeom>
          <a:solidFill>
            <a:srgbClr val="533AB7"/>
          </a:solidFill>
          <a:ln w="12700">
            <a:solidFill>
              <a:srgbClr val="533AB7"/>
            </a:solidFill>
            <a:prstDash val="solid"/>
          </a:ln>
        </p:spPr>
      </p:sp>
      <p:sp>
        <p:nvSpPr>
          <p:cNvPr id="33" name="Text 31"/>
          <p:cNvSpPr/>
          <p:nvPr/>
        </p:nvSpPr>
        <p:spPr>
          <a:xfrm>
            <a:off x="6940296" y="2651760"/>
            <a:ext cx="1828800" cy="2011680"/>
          </a:xfrm>
          <a:prstGeom prst="rect">
            <a:avLst/>
          </a:prstGeom>
          <a:noFill/>
          <a:ln/>
        </p:spPr>
        <p:txBody>
          <a:bodyPr wrap="square" lIns="0" tIns="0" rIns="0" bIns="0" rtlCol="0" anchor="t"/>
          <a:lstStyle/>
          <a:p>
            <a:pPr marL="0" indent="0" algn="l">
              <a:buNone/>
            </a:pPr>
            <a:r>
              <a:rPr lang="en-US" sz="900" dirty="0">
                <a:solidFill>
                  <a:srgbClr val="1A4A6E"/>
                </a:solidFill>
              </a:rPr>
              <a:t>8 interactive pages</a:t>
            </a:r>
            <a:endParaRPr lang="en-US" sz="900" dirty="0"/>
          </a:p>
          <a:p>
            <a:pPr marL="0" indent="0" algn="l">
              <a:buNone/>
            </a:pPr>
            <a:r>
              <a:rPr lang="en-US" sz="900" dirty="0">
                <a:solidFill>
                  <a:srgbClr val="1A4A6E"/>
                </a:solidFill>
              </a:rPr>
              <a:t>Custom healthcare theme</a:t>
            </a:r>
            <a:endParaRPr lang="en-US" sz="900" dirty="0"/>
          </a:p>
          <a:p>
            <a:pPr marL="0" indent="0" algn="l">
              <a:buNone/>
            </a:pPr>
            <a:r>
              <a:rPr lang="en-US" sz="900" dirty="0">
                <a:solidFill>
                  <a:srgbClr val="1A4A6E"/>
                </a:solidFill>
              </a:rPr>
              <a:t>Stage color rule applied</a:t>
            </a:r>
            <a:endParaRPr lang="en-US" sz="900" dirty="0"/>
          </a:p>
          <a:p>
            <a:pPr marL="0" indent="0" algn="l">
              <a:buNone/>
            </a:pPr>
            <a:r>
              <a:rPr lang="en-US" sz="900" dirty="0">
                <a:solidFill>
                  <a:srgbClr val="1A4A6E"/>
                </a:solidFill>
              </a:rPr>
              <a:t>Slicers on every page</a:t>
            </a:r>
            <a:endParaRPr lang="en-US" sz="900" dirty="0"/>
          </a:p>
          <a:p>
            <a:pPr marL="0" indent="0" algn="l">
              <a:buNone/>
            </a:pPr>
            <a:r>
              <a:rPr lang="en-US" sz="900" dirty="0">
                <a:solidFill>
                  <a:srgbClr val="1A4A6E"/>
                </a:solidFill>
              </a:rPr>
              <a:t>Callout text boxes</a:t>
            </a:r>
            <a:endParaRPr lang="en-US" sz="900" dirty="0"/>
          </a:p>
        </p:txBody>
      </p:sp>
      <p:sp>
        <p:nvSpPr>
          <p:cNvPr id="34" name="Shape 32"/>
          <p:cNvSpPr/>
          <p:nvPr/>
        </p:nvSpPr>
        <p:spPr>
          <a:xfrm>
            <a:off x="0" y="4800600"/>
            <a:ext cx="9144000" cy="342900"/>
          </a:xfrm>
          <a:prstGeom prst="rect">
            <a:avLst/>
          </a:prstGeom>
          <a:solidFill>
            <a:srgbClr val="1A4A6E"/>
          </a:solidFill>
          <a:ln w="12700">
            <a:solidFill>
              <a:srgbClr val="1A4A6E"/>
            </a:solidFill>
            <a:prstDash val="solid"/>
          </a:ln>
        </p:spPr>
      </p:sp>
      <p:sp>
        <p:nvSpPr>
          <p:cNvPr id="35" name="Text 33"/>
          <p:cNvSpPr/>
          <p:nvPr/>
        </p:nvSpPr>
        <p:spPr>
          <a:xfrm>
            <a:off x="274320" y="4800600"/>
            <a:ext cx="8595360" cy="342900"/>
          </a:xfrm>
          <a:prstGeom prst="rect">
            <a:avLst/>
          </a:prstGeom>
          <a:noFill/>
          <a:ln/>
        </p:spPr>
        <p:txBody>
          <a:bodyPr wrap="square" lIns="0" tIns="0" rIns="0" bIns="0" rtlCol="0" anchor="ctr"/>
          <a:lstStyle/>
          <a:p>
            <a:pPr marL="0" indent="0" algn="ctr">
              <a:buNone/>
            </a:pPr>
            <a:r>
              <a:rPr lang="en-US" sz="800" dirty="0">
                <a:solidFill>
                  <a:srgbClr val="A8C5DA"/>
                </a:solidFill>
              </a:rPr>
              <a:t>Liver Cirrhosis Clinical Analysis · Power BI Dashboard Project</a:t>
            </a:r>
            <a:endParaRPr lang="en-US" sz="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4A6E"/>
          </a:solidFill>
          <a:ln w="12700">
            <a:solidFill>
              <a:srgbClr val="1A4A6E"/>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lgn="l">
              <a:buNone/>
            </a:pPr>
            <a:r>
              <a:rPr lang="en-US" sz="1800" b="1" kern="0" spc="100" dirty="0">
                <a:solidFill>
                  <a:srgbClr val="FFFFFF"/>
                </a:solidFill>
              </a:rPr>
              <a:t>03 · PATIENT OVERVIEW DASHBOARD</a:t>
            </a:r>
            <a:endParaRPr lang="en-US" sz="1800" dirty="0"/>
          </a:p>
        </p:txBody>
      </p:sp>
      <p:sp>
        <p:nvSpPr>
          <p:cNvPr id="4" name="Shape 2"/>
          <p:cNvSpPr/>
          <p:nvPr/>
        </p:nvSpPr>
        <p:spPr>
          <a:xfrm>
            <a:off x="274320" y="1024128"/>
            <a:ext cx="1920240" cy="914400"/>
          </a:xfrm>
          <a:prstGeom prst="rect">
            <a:avLst/>
          </a:prstGeom>
          <a:solidFill>
            <a:srgbClr val="EAF0F6"/>
          </a:solidFill>
          <a:ln w="6350">
            <a:solidFill>
              <a:srgbClr val="D0E4F0"/>
            </a:solidFill>
            <a:prstDash val="solid"/>
          </a:ln>
          <a:effectLst>
            <a:outerShdw blurRad="101600" dist="38100" dir="8100000" algn="bl" rotWithShape="0">
              <a:srgbClr val="000000">
                <a:alpha val="10000"/>
              </a:srgbClr>
            </a:outerShdw>
          </a:effectLst>
        </p:spPr>
      </p:sp>
      <p:sp>
        <p:nvSpPr>
          <p:cNvPr id="5" name="Text 3"/>
          <p:cNvSpPr/>
          <p:nvPr/>
        </p:nvSpPr>
        <p:spPr>
          <a:xfrm>
            <a:off x="320040" y="1069848"/>
            <a:ext cx="1828800" cy="530352"/>
          </a:xfrm>
          <a:prstGeom prst="rect">
            <a:avLst/>
          </a:prstGeom>
          <a:noFill/>
          <a:ln/>
        </p:spPr>
        <p:txBody>
          <a:bodyPr wrap="square" lIns="0" tIns="0" rIns="0" bIns="0" rtlCol="0" anchor="b"/>
          <a:lstStyle/>
          <a:p>
            <a:pPr marL="0" indent="0" algn="ctr">
              <a:buNone/>
            </a:pPr>
            <a:r>
              <a:rPr lang="en-US" sz="2600" b="1" dirty="0">
                <a:solidFill>
                  <a:srgbClr val="1A4A6E"/>
                </a:solidFill>
              </a:rPr>
              <a:t>25,000</a:t>
            </a:r>
            <a:endParaRPr lang="en-US" sz="2600" dirty="0"/>
          </a:p>
        </p:txBody>
      </p:sp>
      <p:sp>
        <p:nvSpPr>
          <p:cNvPr id="6" name="Text 4"/>
          <p:cNvSpPr/>
          <p:nvPr/>
        </p:nvSpPr>
        <p:spPr>
          <a:xfrm>
            <a:off x="320040" y="1554480"/>
            <a:ext cx="1828800" cy="347472"/>
          </a:xfrm>
          <a:prstGeom prst="rect">
            <a:avLst/>
          </a:prstGeom>
          <a:noFill/>
          <a:ln/>
        </p:spPr>
        <p:txBody>
          <a:bodyPr wrap="square" lIns="0" tIns="0" rIns="0" bIns="0" rtlCol="0" anchor="t"/>
          <a:lstStyle/>
          <a:p>
            <a:pPr marL="0" indent="0" algn="ctr">
              <a:buNone/>
            </a:pPr>
            <a:r>
              <a:rPr lang="en-US" sz="900" dirty="0">
                <a:solidFill>
                  <a:srgbClr val="5A7D99"/>
                </a:solidFill>
              </a:rPr>
              <a:t>Total Patients</a:t>
            </a:r>
            <a:endParaRPr lang="en-US" sz="900" dirty="0"/>
          </a:p>
        </p:txBody>
      </p:sp>
      <p:sp>
        <p:nvSpPr>
          <p:cNvPr id="7" name="Shape 5"/>
          <p:cNvSpPr/>
          <p:nvPr/>
        </p:nvSpPr>
        <p:spPr>
          <a:xfrm>
            <a:off x="2450592" y="1024128"/>
            <a:ext cx="1920240" cy="914400"/>
          </a:xfrm>
          <a:prstGeom prst="rect">
            <a:avLst/>
          </a:prstGeom>
          <a:solidFill>
            <a:srgbClr val="FCEBEB"/>
          </a:solidFill>
          <a:ln w="6350">
            <a:solidFill>
              <a:srgbClr val="D0E4F0"/>
            </a:solidFill>
            <a:prstDash val="solid"/>
          </a:ln>
          <a:effectLst>
            <a:outerShdw blurRad="101600" dist="38100" dir="8100000" algn="bl" rotWithShape="0">
              <a:srgbClr val="000000">
                <a:alpha val="10000"/>
              </a:srgbClr>
            </a:outerShdw>
          </a:effectLst>
        </p:spPr>
      </p:sp>
      <p:sp>
        <p:nvSpPr>
          <p:cNvPr id="8" name="Text 6"/>
          <p:cNvSpPr/>
          <p:nvPr/>
        </p:nvSpPr>
        <p:spPr>
          <a:xfrm>
            <a:off x="2496312" y="1069848"/>
            <a:ext cx="1828800" cy="530352"/>
          </a:xfrm>
          <a:prstGeom prst="rect">
            <a:avLst/>
          </a:prstGeom>
          <a:noFill/>
          <a:ln/>
        </p:spPr>
        <p:txBody>
          <a:bodyPr wrap="square" lIns="0" tIns="0" rIns="0" bIns="0" rtlCol="0" anchor="b"/>
          <a:lstStyle/>
          <a:p>
            <a:pPr marL="0" indent="0" algn="ctr">
              <a:buNone/>
            </a:pPr>
            <a:r>
              <a:rPr lang="en-US" sz="2600" b="1" dirty="0">
                <a:solidFill>
                  <a:srgbClr val="E84855"/>
                </a:solidFill>
              </a:rPr>
              <a:t>37.8%</a:t>
            </a:r>
            <a:endParaRPr lang="en-US" sz="2600" dirty="0"/>
          </a:p>
        </p:txBody>
      </p:sp>
      <p:sp>
        <p:nvSpPr>
          <p:cNvPr id="9" name="Text 7"/>
          <p:cNvSpPr/>
          <p:nvPr/>
        </p:nvSpPr>
        <p:spPr>
          <a:xfrm>
            <a:off x="2496312" y="1554480"/>
            <a:ext cx="1828800" cy="347472"/>
          </a:xfrm>
          <a:prstGeom prst="rect">
            <a:avLst/>
          </a:prstGeom>
          <a:noFill/>
          <a:ln/>
        </p:spPr>
        <p:txBody>
          <a:bodyPr wrap="square" lIns="0" tIns="0" rIns="0" bIns="0" rtlCol="0" anchor="t"/>
          <a:lstStyle/>
          <a:p>
            <a:pPr marL="0" indent="0" algn="ctr">
              <a:buNone/>
            </a:pPr>
            <a:r>
              <a:rPr lang="en-US" sz="900" dirty="0">
                <a:solidFill>
                  <a:srgbClr val="5A7D99"/>
                </a:solidFill>
              </a:rPr>
              <a:t>Mortality Rate</a:t>
            </a:r>
            <a:endParaRPr lang="en-US" sz="900" dirty="0"/>
          </a:p>
        </p:txBody>
      </p:sp>
      <p:sp>
        <p:nvSpPr>
          <p:cNvPr id="10" name="Shape 8"/>
          <p:cNvSpPr/>
          <p:nvPr/>
        </p:nvSpPr>
        <p:spPr>
          <a:xfrm>
            <a:off x="4626864" y="1024128"/>
            <a:ext cx="1920240" cy="914400"/>
          </a:xfrm>
          <a:prstGeom prst="rect">
            <a:avLst/>
          </a:prstGeom>
          <a:solidFill>
            <a:srgbClr val="E1F5EE"/>
          </a:solidFill>
          <a:ln w="6350">
            <a:solidFill>
              <a:srgbClr val="D0E4F0"/>
            </a:solidFill>
            <a:prstDash val="solid"/>
          </a:ln>
          <a:effectLst>
            <a:outerShdw blurRad="101600" dist="38100" dir="8100000" algn="bl" rotWithShape="0">
              <a:srgbClr val="000000">
                <a:alpha val="10000"/>
              </a:srgbClr>
            </a:outerShdw>
          </a:effectLst>
        </p:spPr>
      </p:sp>
      <p:sp>
        <p:nvSpPr>
          <p:cNvPr id="11" name="Text 9"/>
          <p:cNvSpPr/>
          <p:nvPr/>
        </p:nvSpPr>
        <p:spPr>
          <a:xfrm>
            <a:off x="4672584" y="1069848"/>
            <a:ext cx="1828800" cy="530352"/>
          </a:xfrm>
          <a:prstGeom prst="rect">
            <a:avLst/>
          </a:prstGeom>
          <a:noFill/>
          <a:ln/>
        </p:spPr>
        <p:txBody>
          <a:bodyPr wrap="square" lIns="0" tIns="0" rIns="0" bIns="0" rtlCol="0" anchor="b"/>
          <a:lstStyle/>
          <a:p>
            <a:pPr marL="0" indent="0" algn="ctr">
              <a:buNone/>
            </a:pPr>
            <a:r>
              <a:rPr lang="en-US" sz="2600" b="1" dirty="0">
                <a:solidFill>
                  <a:srgbClr val="3BCEAC"/>
                </a:solidFill>
              </a:rPr>
              <a:t>54.1%</a:t>
            </a:r>
            <a:endParaRPr lang="en-US" sz="2600" dirty="0"/>
          </a:p>
        </p:txBody>
      </p:sp>
      <p:sp>
        <p:nvSpPr>
          <p:cNvPr id="12" name="Text 10"/>
          <p:cNvSpPr/>
          <p:nvPr/>
        </p:nvSpPr>
        <p:spPr>
          <a:xfrm>
            <a:off x="4672584" y="1554480"/>
            <a:ext cx="1828800" cy="347472"/>
          </a:xfrm>
          <a:prstGeom prst="rect">
            <a:avLst/>
          </a:prstGeom>
          <a:noFill/>
          <a:ln/>
        </p:spPr>
        <p:txBody>
          <a:bodyPr wrap="square" lIns="0" tIns="0" rIns="0" bIns="0" rtlCol="0" anchor="t"/>
          <a:lstStyle/>
          <a:p>
            <a:pPr marL="0" indent="0" algn="ctr">
              <a:buNone/>
            </a:pPr>
            <a:r>
              <a:rPr lang="en-US" sz="900" dirty="0">
                <a:solidFill>
                  <a:srgbClr val="5A7D99"/>
                </a:solidFill>
              </a:rPr>
              <a:t>Censored (Alive)</a:t>
            </a:r>
            <a:endParaRPr lang="en-US" sz="900" dirty="0"/>
          </a:p>
        </p:txBody>
      </p:sp>
      <p:sp>
        <p:nvSpPr>
          <p:cNvPr id="13" name="Shape 11"/>
          <p:cNvSpPr/>
          <p:nvPr/>
        </p:nvSpPr>
        <p:spPr>
          <a:xfrm>
            <a:off x="6803136" y="1024128"/>
            <a:ext cx="1920240" cy="914400"/>
          </a:xfrm>
          <a:prstGeom prst="rect">
            <a:avLst/>
          </a:prstGeom>
          <a:solidFill>
            <a:srgbClr val="FFF3E0"/>
          </a:solidFill>
          <a:ln w="6350">
            <a:solidFill>
              <a:srgbClr val="D0E4F0"/>
            </a:solidFill>
            <a:prstDash val="solid"/>
          </a:ln>
          <a:effectLst>
            <a:outerShdw blurRad="101600" dist="38100" dir="8100000" algn="bl" rotWithShape="0">
              <a:srgbClr val="000000">
                <a:alpha val="10000"/>
              </a:srgbClr>
            </a:outerShdw>
          </a:effectLst>
        </p:spPr>
      </p:sp>
      <p:sp>
        <p:nvSpPr>
          <p:cNvPr id="14" name="Text 12"/>
          <p:cNvSpPr/>
          <p:nvPr/>
        </p:nvSpPr>
        <p:spPr>
          <a:xfrm>
            <a:off x="6848856" y="1069848"/>
            <a:ext cx="1828800" cy="530352"/>
          </a:xfrm>
          <a:prstGeom prst="rect">
            <a:avLst/>
          </a:prstGeom>
          <a:noFill/>
          <a:ln/>
        </p:spPr>
        <p:txBody>
          <a:bodyPr wrap="square" lIns="0" tIns="0" rIns="0" bIns="0" rtlCol="0" anchor="b"/>
          <a:lstStyle/>
          <a:p>
            <a:pPr marL="0" indent="0" algn="ctr">
              <a:buNone/>
            </a:pPr>
            <a:r>
              <a:rPr lang="en-US" sz="2600" b="1" dirty="0">
                <a:solidFill>
                  <a:srgbClr val="F4A261"/>
                </a:solidFill>
              </a:rPr>
              <a:t>1,887</a:t>
            </a:r>
            <a:endParaRPr lang="en-US" sz="2600" dirty="0"/>
          </a:p>
        </p:txBody>
      </p:sp>
      <p:sp>
        <p:nvSpPr>
          <p:cNvPr id="15" name="Text 13"/>
          <p:cNvSpPr/>
          <p:nvPr/>
        </p:nvSpPr>
        <p:spPr>
          <a:xfrm>
            <a:off x="6848856" y="1554480"/>
            <a:ext cx="1828800" cy="347472"/>
          </a:xfrm>
          <a:prstGeom prst="rect">
            <a:avLst/>
          </a:prstGeom>
          <a:noFill/>
          <a:ln/>
        </p:spPr>
        <p:txBody>
          <a:bodyPr wrap="square" lIns="0" tIns="0" rIns="0" bIns="0" rtlCol="0" anchor="t"/>
          <a:lstStyle/>
          <a:p>
            <a:pPr marL="0" indent="0" algn="ctr">
              <a:buNone/>
            </a:pPr>
            <a:r>
              <a:rPr lang="en-US" sz="900" dirty="0">
                <a:solidFill>
                  <a:srgbClr val="5A7D99"/>
                </a:solidFill>
              </a:rPr>
              <a:t>Avg Follow-up Days</a:t>
            </a:r>
            <a:endParaRPr lang="en-US" sz="900" dirty="0"/>
          </a:p>
        </p:txBody>
      </p:sp>
      <p:sp>
        <p:nvSpPr>
          <p:cNvPr id="16" name="Shape 14"/>
          <p:cNvSpPr/>
          <p:nvPr/>
        </p:nvSpPr>
        <p:spPr>
          <a:xfrm>
            <a:off x="274320" y="2103120"/>
            <a:ext cx="3931920" cy="260604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17" name="Shape 15"/>
          <p:cNvSpPr/>
          <p:nvPr/>
        </p:nvSpPr>
        <p:spPr>
          <a:xfrm>
            <a:off x="274320" y="2103120"/>
            <a:ext cx="64008" cy="2606040"/>
          </a:xfrm>
          <a:prstGeom prst="rect">
            <a:avLst/>
          </a:prstGeom>
          <a:solidFill>
            <a:srgbClr val="1A4A6E"/>
          </a:solidFill>
          <a:ln w="12700">
            <a:solidFill>
              <a:srgbClr val="1A4A6E"/>
            </a:solidFill>
            <a:prstDash val="solid"/>
          </a:ln>
        </p:spPr>
      </p:sp>
      <p:sp>
        <p:nvSpPr>
          <p:cNvPr id="18" name="Text 16"/>
          <p:cNvSpPr/>
          <p:nvPr/>
        </p:nvSpPr>
        <p:spPr>
          <a:xfrm>
            <a:off x="502920" y="2194560"/>
            <a:ext cx="3657600" cy="320040"/>
          </a:xfrm>
          <a:prstGeom prst="rect">
            <a:avLst/>
          </a:prstGeom>
          <a:noFill/>
          <a:ln/>
        </p:spPr>
        <p:txBody>
          <a:bodyPr wrap="square" lIns="0" tIns="0" rIns="0" bIns="0" rtlCol="0" anchor="ctr"/>
          <a:lstStyle/>
          <a:p>
            <a:pPr marL="0" indent="0" algn="l">
              <a:buNone/>
            </a:pPr>
            <a:r>
              <a:rPr lang="en-US" sz="1200" b="1" dirty="0">
                <a:solidFill>
                  <a:srgbClr val="1A4A6E"/>
                </a:solidFill>
              </a:rPr>
              <a:t>Key Demographics</a:t>
            </a:r>
            <a:endParaRPr lang="en-US" sz="1200" dirty="0"/>
          </a:p>
        </p:txBody>
      </p:sp>
      <p:sp>
        <p:nvSpPr>
          <p:cNvPr id="19" name="Shape 17"/>
          <p:cNvSpPr/>
          <p:nvPr/>
        </p:nvSpPr>
        <p:spPr>
          <a:xfrm>
            <a:off x="438912" y="2606040"/>
            <a:ext cx="109728" cy="347472"/>
          </a:xfrm>
          <a:prstGeom prst="rect">
            <a:avLst/>
          </a:prstGeom>
          <a:solidFill>
            <a:srgbClr val="2E86AB"/>
          </a:solidFill>
          <a:ln w="12700">
            <a:solidFill>
              <a:srgbClr val="2E86AB"/>
            </a:solidFill>
            <a:prstDash val="solid"/>
          </a:ln>
        </p:spPr>
      </p:sp>
      <p:sp>
        <p:nvSpPr>
          <p:cNvPr id="20" name="Text 18"/>
          <p:cNvSpPr/>
          <p:nvPr/>
        </p:nvSpPr>
        <p:spPr>
          <a:xfrm>
            <a:off x="621792" y="2606040"/>
            <a:ext cx="1371600" cy="347472"/>
          </a:xfrm>
          <a:prstGeom prst="rect">
            <a:avLst/>
          </a:prstGeom>
          <a:noFill/>
          <a:ln/>
        </p:spPr>
        <p:txBody>
          <a:bodyPr wrap="square" lIns="0" tIns="0" rIns="0" bIns="0" rtlCol="0" anchor="ctr"/>
          <a:lstStyle/>
          <a:p>
            <a:pPr marL="0" indent="0" algn="l">
              <a:buNone/>
            </a:pPr>
            <a:r>
              <a:rPr lang="en-US" sz="900" b="1" dirty="0">
                <a:solidFill>
                  <a:srgbClr val="1A4A6E"/>
                </a:solidFill>
              </a:rPr>
              <a:t>88.5% Female</a:t>
            </a:r>
            <a:endParaRPr lang="en-US" sz="900" dirty="0"/>
          </a:p>
        </p:txBody>
      </p:sp>
      <p:sp>
        <p:nvSpPr>
          <p:cNvPr id="21" name="Text 19"/>
          <p:cNvSpPr/>
          <p:nvPr/>
        </p:nvSpPr>
        <p:spPr>
          <a:xfrm>
            <a:off x="2029968" y="2606040"/>
            <a:ext cx="2057400" cy="347472"/>
          </a:xfrm>
          <a:prstGeom prst="rect">
            <a:avLst/>
          </a:prstGeom>
          <a:noFill/>
          <a:ln/>
        </p:spPr>
        <p:txBody>
          <a:bodyPr wrap="square" lIns="0" tIns="0" rIns="0" bIns="0" rtlCol="0" anchor="ctr"/>
          <a:lstStyle/>
          <a:p>
            <a:pPr marL="0" indent="0" algn="l">
              <a:buNone/>
            </a:pPr>
            <a:r>
              <a:rPr lang="en-US" sz="850" dirty="0">
                <a:solidFill>
                  <a:srgbClr val="5A7D99"/>
                </a:solidFill>
              </a:rPr>
              <a:t>Consistent with PBC 9:1 female-to-male clinical ratio</a:t>
            </a:r>
            <a:endParaRPr lang="en-US" sz="850" dirty="0"/>
          </a:p>
        </p:txBody>
      </p:sp>
      <p:sp>
        <p:nvSpPr>
          <p:cNvPr id="22" name="Shape 20"/>
          <p:cNvSpPr/>
          <p:nvPr/>
        </p:nvSpPr>
        <p:spPr>
          <a:xfrm>
            <a:off x="438912" y="3108960"/>
            <a:ext cx="109728" cy="347472"/>
          </a:xfrm>
          <a:prstGeom prst="rect">
            <a:avLst/>
          </a:prstGeom>
          <a:solidFill>
            <a:srgbClr val="3BCEAC"/>
          </a:solidFill>
          <a:ln w="12700">
            <a:solidFill>
              <a:srgbClr val="3BCEAC"/>
            </a:solidFill>
            <a:prstDash val="solid"/>
          </a:ln>
        </p:spPr>
      </p:sp>
      <p:sp>
        <p:nvSpPr>
          <p:cNvPr id="23" name="Text 21"/>
          <p:cNvSpPr/>
          <p:nvPr/>
        </p:nvSpPr>
        <p:spPr>
          <a:xfrm>
            <a:off x="621792" y="3108960"/>
            <a:ext cx="1371600" cy="347472"/>
          </a:xfrm>
          <a:prstGeom prst="rect">
            <a:avLst/>
          </a:prstGeom>
          <a:noFill/>
          <a:ln/>
        </p:spPr>
        <p:txBody>
          <a:bodyPr wrap="square" lIns="0" tIns="0" rIns="0" bIns="0" rtlCol="0" anchor="ctr"/>
          <a:lstStyle/>
          <a:p>
            <a:pPr marL="0" indent="0" algn="l">
              <a:buNone/>
            </a:pPr>
            <a:r>
              <a:rPr lang="en-US" sz="900" b="1" dirty="0">
                <a:solidFill>
                  <a:srgbClr val="1A4A6E"/>
                </a:solidFill>
              </a:rPr>
              <a:t>Age 26–78 years</a:t>
            </a:r>
            <a:endParaRPr lang="en-US" sz="900" dirty="0"/>
          </a:p>
        </p:txBody>
      </p:sp>
      <p:sp>
        <p:nvSpPr>
          <p:cNvPr id="24" name="Text 22"/>
          <p:cNvSpPr/>
          <p:nvPr/>
        </p:nvSpPr>
        <p:spPr>
          <a:xfrm>
            <a:off x="2029968" y="3108960"/>
            <a:ext cx="2057400" cy="347472"/>
          </a:xfrm>
          <a:prstGeom prst="rect">
            <a:avLst/>
          </a:prstGeom>
          <a:noFill/>
          <a:ln/>
        </p:spPr>
        <p:txBody>
          <a:bodyPr wrap="square" lIns="0" tIns="0" rIns="0" bIns="0" rtlCol="0" anchor="ctr"/>
          <a:lstStyle/>
          <a:p>
            <a:pPr marL="0" indent="0" algn="l">
              <a:buNone/>
            </a:pPr>
            <a:r>
              <a:rPr lang="en-US" sz="850" dirty="0">
                <a:solidFill>
                  <a:srgbClr val="5A7D99"/>
                </a:solidFill>
              </a:rPr>
              <a:t>Mean age 50.3 · median 50 · majority aged 40–54 (49.2%)</a:t>
            </a:r>
            <a:endParaRPr lang="en-US" sz="850" dirty="0"/>
          </a:p>
        </p:txBody>
      </p:sp>
      <p:sp>
        <p:nvSpPr>
          <p:cNvPr id="25" name="Shape 23"/>
          <p:cNvSpPr/>
          <p:nvPr/>
        </p:nvSpPr>
        <p:spPr>
          <a:xfrm>
            <a:off x="438912" y="3611880"/>
            <a:ext cx="109728" cy="347472"/>
          </a:xfrm>
          <a:prstGeom prst="rect">
            <a:avLst/>
          </a:prstGeom>
          <a:solidFill>
            <a:srgbClr val="F4A261"/>
          </a:solidFill>
          <a:ln w="12700">
            <a:solidFill>
              <a:srgbClr val="F4A261"/>
            </a:solidFill>
            <a:prstDash val="solid"/>
          </a:ln>
        </p:spPr>
      </p:sp>
      <p:sp>
        <p:nvSpPr>
          <p:cNvPr id="26" name="Text 24"/>
          <p:cNvSpPr/>
          <p:nvPr/>
        </p:nvSpPr>
        <p:spPr>
          <a:xfrm>
            <a:off x="621792" y="3611880"/>
            <a:ext cx="1371600" cy="347472"/>
          </a:xfrm>
          <a:prstGeom prst="rect">
            <a:avLst/>
          </a:prstGeom>
          <a:noFill/>
          <a:ln/>
        </p:spPr>
        <p:txBody>
          <a:bodyPr wrap="square" lIns="0" tIns="0" rIns="0" bIns="0" rtlCol="0" anchor="ctr"/>
          <a:lstStyle/>
          <a:p>
            <a:pPr marL="0" indent="0" algn="l">
              <a:buNone/>
            </a:pPr>
            <a:r>
              <a:rPr lang="en-US" sz="900" b="1" dirty="0">
                <a:solidFill>
                  <a:srgbClr val="1A4A6E"/>
                </a:solidFill>
              </a:rPr>
              <a:t>Equal Stage Split</a:t>
            </a:r>
            <a:endParaRPr lang="en-US" sz="900" dirty="0"/>
          </a:p>
        </p:txBody>
      </p:sp>
      <p:sp>
        <p:nvSpPr>
          <p:cNvPr id="27" name="Text 25"/>
          <p:cNvSpPr/>
          <p:nvPr/>
        </p:nvSpPr>
        <p:spPr>
          <a:xfrm>
            <a:off x="2029968" y="3611880"/>
            <a:ext cx="2057400" cy="347472"/>
          </a:xfrm>
          <a:prstGeom prst="rect">
            <a:avLst/>
          </a:prstGeom>
          <a:noFill/>
          <a:ln/>
        </p:spPr>
        <p:txBody>
          <a:bodyPr wrap="square" lIns="0" tIns="0" rIns="0" bIns="0" rtlCol="0" anchor="ctr"/>
          <a:lstStyle/>
          <a:p>
            <a:pPr marL="0" indent="0" algn="l">
              <a:buNone/>
            </a:pPr>
            <a:r>
              <a:rPr lang="en-US" sz="850" dirty="0">
                <a:solidFill>
                  <a:srgbClr val="5A7D99"/>
                </a:solidFill>
              </a:rPr>
              <a:t>≈33% per stage — unbiased cross-stage comparisons</a:t>
            </a:r>
            <a:endParaRPr lang="en-US" sz="850" dirty="0"/>
          </a:p>
        </p:txBody>
      </p:sp>
      <p:sp>
        <p:nvSpPr>
          <p:cNvPr id="28" name="Shape 26"/>
          <p:cNvSpPr/>
          <p:nvPr/>
        </p:nvSpPr>
        <p:spPr>
          <a:xfrm>
            <a:off x="-264979" y="4187952"/>
            <a:ext cx="109728" cy="347472"/>
          </a:xfrm>
          <a:prstGeom prst="rect">
            <a:avLst/>
          </a:prstGeom>
          <a:solidFill>
            <a:srgbClr val="533AB7"/>
          </a:solidFill>
          <a:ln w="12700">
            <a:solidFill>
              <a:srgbClr val="533AB7"/>
            </a:solidFill>
            <a:prstDash val="solid"/>
          </a:ln>
        </p:spPr>
      </p:sp>
      <p:sp>
        <p:nvSpPr>
          <p:cNvPr id="29" name="Text 27"/>
          <p:cNvSpPr/>
          <p:nvPr/>
        </p:nvSpPr>
        <p:spPr>
          <a:xfrm>
            <a:off x="621792" y="4114800"/>
            <a:ext cx="1371600" cy="347472"/>
          </a:xfrm>
          <a:prstGeom prst="rect">
            <a:avLst/>
          </a:prstGeom>
          <a:noFill/>
          <a:ln/>
        </p:spPr>
        <p:txBody>
          <a:bodyPr wrap="square" lIns="0" tIns="0" rIns="0" bIns="0" rtlCol="0" anchor="ctr"/>
          <a:lstStyle/>
          <a:p>
            <a:pPr marL="0" indent="0" algn="l">
              <a:buNone/>
            </a:pPr>
            <a:endParaRPr lang="en-US" sz="900" dirty="0"/>
          </a:p>
        </p:txBody>
      </p:sp>
      <p:sp>
        <p:nvSpPr>
          <p:cNvPr id="30" name="Text 28"/>
          <p:cNvSpPr/>
          <p:nvPr/>
        </p:nvSpPr>
        <p:spPr>
          <a:xfrm>
            <a:off x="2029968" y="4114800"/>
            <a:ext cx="2057400" cy="347472"/>
          </a:xfrm>
          <a:prstGeom prst="rect">
            <a:avLst/>
          </a:prstGeom>
          <a:noFill/>
          <a:ln/>
        </p:spPr>
        <p:txBody>
          <a:bodyPr wrap="square" lIns="0" tIns="0" rIns="0" bIns="0" rtlCol="0" anchor="ctr"/>
          <a:lstStyle/>
          <a:p>
            <a:pPr marL="0" indent="0" algn="l">
              <a:buNone/>
            </a:pPr>
            <a:endParaRPr lang="en-US" sz="850" dirty="0"/>
          </a:p>
        </p:txBody>
      </p:sp>
      <p:sp>
        <p:nvSpPr>
          <p:cNvPr id="31" name="Shape 29"/>
          <p:cNvSpPr/>
          <p:nvPr/>
        </p:nvSpPr>
        <p:spPr>
          <a:xfrm>
            <a:off x="4503420" y="2103120"/>
            <a:ext cx="4389120" cy="260604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32" name="Shape 30"/>
          <p:cNvSpPr/>
          <p:nvPr/>
        </p:nvSpPr>
        <p:spPr>
          <a:xfrm>
            <a:off x="4480560" y="2103120"/>
            <a:ext cx="64008" cy="2606040"/>
          </a:xfrm>
          <a:prstGeom prst="rect">
            <a:avLst/>
          </a:prstGeom>
          <a:solidFill>
            <a:srgbClr val="3BCEAC"/>
          </a:solidFill>
          <a:ln w="12700">
            <a:solidFill>
              <a:srgbClr val="3BCEAC"/>
            </a:solidFill>
            <a:prstDash val="solid"/>
          </a:ln>
        </p:spPr>
      </p:sp>
      <p:sp>
        <p:nvSpPr>
          <p:cNvPr id="33" name="Text 31"/>
          <p:cNvSpPr/>
          <p:nvPr/>
        </p:nvSpPr>
        <p:spPr>
          <a:xfrm>
            <a:off x="4709160" y="2194560"/>
            <a:ext cx="4023360" cy="320040"/>
          </a:xfrm>
          <a:prstGeom prst="rect">
            <a:avLst/>
          </a:prstGeom>
          <a:noFill/>
          <a:ln/>
        </p:spPr>
        <p:txBody>
          <a:bodyPr wrap="square" lIns="0" tIns="0" rIns="0" bIns="0" rtlCol="0" anchor="ctr"/>
          <a:lstStyle/>
          <a:p>
            <a:pPr marL="0" indent="0" algn="l">
              <a:buNone/>
            </a:pPr>
            <a:r>
              <a:rPr lang="en-US" sz="1200" b="1" dirty="0">
                <a:solidFill>
                  <a:srgbClr val="1A4A6E"/>
                </a:solidFill>
              </a:rPr>
              <a:t>Dashboard Visuals</a:t>
            </a:r>
            <a:endParaRPr lang="en-US" sz="1200" dirty="0"/>
          </a:p>
        </p:txBody>
      </p:sp>
      <p:sp>
        <p:nvSpPr>
          <p:cNvPr id="34" name="Text 32"/>
          <p:cNvSpPr/>
          <p:nvPr/>
        </p:nvSpPr>
        <p:spPr>
          <a:xfrm>
            <a:off x="4709160" y="2578608"/>
            <a:ext cx="3977640" cy="384048"/>
          </a:xfrm>
          <a:prstGeom prst="rect">
            <a:avLst/>
          </a:prstGeom>
          <a:noFill/>
          <a:ln/>
        </p:spPr>
        <p:txBody>
          <a:bodyPr wrap="square" lIns="0" tIns="0" rIns="0" bIns="0" rtlCol="0" anchor="t"/>
          <a:lstStyle/>
          <a:p>
            <a:pPr marL="342900" indent="-342900" algn="l">
              <a:buSzPct val="100000"/>
              <a:buChar char="•"/>
            </a:pPr>
            <a:r>
              <a:rPr lang="en-US" sz="900" dirty="0">
                <a:solidFill>
                  <a:srgbClr val="1A4A6E"/>
                </a:solidFill>
              </a:rPr>
              <a:t>Patient Status Breakdown — Donut chart (Censored · Deceased · Transplant)</a:t>
            </a:r>
            <a:endParaRPr lang="en-US" sz="900" dirty="0"/>
          </a:p>
        </p:txBody>
      </p:sp>
      <p:sp>
        <p:nvSpPr>
          <p:cNvPr id="35" name="Text 33"/>
          <p:cNvSpPr/>
          <p:nvPr/>
        </p:nvSpPr>
        <p:spPr>
          <a:xfrm>
            <a:off x="4709160" y="2971800"/>
            <a:ext cx="3977640" cy="384048"/>
          </a:xfrm>
          <a:prstGeom prst="rect">
            <a:avLst/>
          </a:prstGeom>
          <a:noFill/>
          <a:ln/>
        </p:spPr>
        <p:txBody>
          <a:bodyPr wrap="square" lIns="0" tIns="0" rIns="0" bIns="0" rtlCol="0" anchor="t"/>
          <a:lstStyle/>
          <a:p>
            <a:pPr marL="342900" indent="-342900" algn="l">
              <a:buSzPct val="100000"/>
              <a:buChar char="•"/>
            </a:pPr>
            <a:r>
              <a:rPr lang="en-US" sz="900" dirty="0">
                <a:solidFill>
                  <a:srgbClr val="1A4A6E"/>
                </a:solidFill>
              </a:rPr>
              <a:t>Sex Distribution — Pie chart (88.5% F · 11.5% M)</a:t>
            </a:r>
            <a:endParaRPr lang="en-US" sz="900" dirty="0"/>
          </a:p>
        </p:txBody>
      </p:sp>
      <p:sp>
        <p:nvSpPr>
          <p:cNvPr id="36" name="Text 34"/>
          <p:cNvSpPr/>
          <p:nvPr/>
        </p:nvSpPr>
        <p:spPr>
          <a:xfrm>
            <a:off x="4709160" y="3364992"/>
            <a:ext cx="3977640" cy="384048"/>
          </a:xfrm>
          <a:prstGeom prst="rect">
            <a:avLst/>
          </a:prstGeom>
          <a:noFill/>
          <a:ln/>
        </p:spPr>
        <p:txBody>
          <a:bodyPr wrap="square" lIns="0" tIns="0" rIns="0" bIns="0" rtlCol="0" anchor="t"/>
          <a:lstStyle/>
          <a:p>
            <a:pPr marL="342900" indent="-342900" algn="l">
              <a:buSzPct val="100000"/>
              <a:buChar char="•"/>
            </a:pPr>
            <a:r>
              <a:rPr lang="en-US" sz="900" dirty="0">
                <a:solidFill>
                  <a:srgbClr val="1A4A6E"/>
                </a:solidFill>
              </a:rPr>
              <a:t>Age Group Distribution — Clustered bar (4 age bands)</a:t>
            </a:r>
            <a:endParaRPr lang="en-US" sz="900" dirty="0"/>
          </a:p>
        </p:txBody>
      </p:sp>
      <p:sp>
        <p:nvSpPr>
          <p:cNvPr id="37" name="Text 35"/>
          <p:cNvSpPr/>
          <p:nvPr/>
        </p:nvSpPr>
        <p:spPr>
          <a:xfrm>
            <a:off x="4709160" y="3758184"/>
            <a:ext cx="3977640" cy="384048"/>
          </a:xfrm>
          <a:prstGeom prst="rect">
            <a:avLst/>
          </a:prstGeom>
          <a:noFill/>
          <a:ln/>
        </p:spPr>
        <p:txBody>
          <a:bodyPr wrap="square" lIns="0" tIns="0" rIns="0" bIns="0" rtlCol="0" anchor="t"/>
          <a:lstStyle/>
          <a:p>
            <a:pPr marL="342900" indent="-342900" algn="l">
              <a:buSzPct val="100000"/>
              <a:buChar char="•"/>
            </a:pPr>
            <a:r>
              <a:rPr lang="en-US" sz="900" dirty="0">
                <a:solidFill>
                  <a:srgbClr val="1A4A6E"/>
                </a:solidFill>
              </a:rPr>
              <a:t>Disease Stage Distribution — </a:t>
            </a:r>
            <a:r>
              <a:rPr lang="en-US" sz="900" dirty="0" smtClean="0">
                <a:solidFill>
                  <a:srgbClr val="1A4A6E"/>
                </a:solidFill>
              </a:rPr>
              <a:t>Tree map </a:t>
            </a:r>
            <a:r>
              <a:rPr lang="en-US" sz="900" dirty="0">
                <a:solidFill>
                  <a:srgbClr val="1A4A6E"/>
                </a:solidFill>
              </a:rPr>
              <a:t>(≈33% each stage)</a:t>
            </a:r>
            <a:endParaRPr lang="en-US" sz="900" dirty="0"/>
          </a:p>
        </p:txBody>
      </p:sp>
      <p:sp>
        <p:nvSpPr>
          <p:cNvPr id="38" name="Text 36"/>
          <p:cNvSpPr/>
          <p:nvPr/>
        </p:nvSpPr>
        <p:spPr>
          <a:xfrm>
            <a:off x="4709160" y="4151376"/>
            <a:ext cx="3977640" cy="45719"/>
          </a:xfrm>
          <a:prstGeom prst="rect">
            <a:avLst/>
          </a:prstGeom>
          <a:noFill/>
          <a:ln/>
        </p:spPr>
        <p:txBody>
          <a:bodyPr wrap="square" lIns="0" tIns="0" rIns="0" bIns="0" rtlCol="0" anchor="t"/>
          <a:lstStyle/>
          <a:p>
            <a:pPr algn="l">
              <a:buSzPct val="100000"/>
            </a:pPr>
            <a:endParaRPr lang="en-US" sz="900" dirty="0"/>
          </a:p>
        </p:txBody>
      </p:sp>
      <p:sp>
        <p:nvSpPr>
          <p:cNvPr id="39" name="Text 37"/>
          <p:cNvSpPr/>
          <p:nvPr/>
        </p:nvSpPr>
        <p:spPr>
          <a:xfrm>
            <a:off x="4709160" y="4114800"/>
            <a:ext cx="3977640" cy="347472"/>
          </a:xfrm>
          <a:prstGeom prst="rect">
            <a:avLst/>
          </a:prstGeom>
          <a:noFill/>
          <a:ln/>
        </p:spPr>
        <p:txBody>
          <a:bodyPr wrap="square" lIns="0" tIns="0" rIns="0" bIns="0" rtlCol="0" anchor="t"/>
          <a:lstStyle/>
          <a:p>
            <a:pPr marL="342900" indent="-342900" algn="l">
              <a:buSzPct val="100000"/>
              <a:buChar char="•"/>
            </a:pPr>
            <a:r>
              <a:rPr lang="en-US" sz="900" dirty="0">
                <a:solidFill>
                  <a:srgbClr val="1A4A6E"/>
                </a:solidFill>
              </a:rPr>
              <a:t>Slicers — Drug · Sex · Stage for interactive filtering</a:t>
            </a:r>
            <a:endParaRPr lang="en-US" sz="900" dirty="0"/>
          </a:p>
        </p:txBody>
      </p:sp>
      <p:sp>
        <p:nvSpPr>
          <p:cNvPr id="40" name="Shape 38"/>
          <p:cNvSpPr/>
          <p:nvPr/>
        </p:nvSpPr>
        <p:spPr>
          <a:xfrm>
            <a:off x="0" y="4800600"/>
            <a:ext cx="9144000" cy="342900"/>
          </a:xfrm>
          <a:prstGeom prst="rect">
            <a:avLst/>
          </a:prstGeom>
          <a:solidFill>
            <a:srgbClr val="1A4A6E"/>
          </a:solidFill>
          <a:ln w="12700">
            <a:solidFill>
              <a:srgbClr val="1A4A6E"/>
            </a:solidFill>
            <a:prstDash val="solid"/>
          </a:ln>
        </p:spPr>
      </p:sp>
      <p:sp>
        <p:nvSpPr>
          <p:cNvPr id="41" name="Text 39"/>
          <p:cNvSpPr/>
          <p:nvPr/>
        </p:nvSpPr>
        <p:spPr>
          <a:xfrm>
            <a:off x="274320" y="4800600"/>
            <a:ext cx="8595360" cy="342900"/>
          </a:xfrm>
          <a:prstGeom prst="rect">
            <a:avLst/>
          </a:prstGeom>
          <a:noFill/>
          <a:ln/>
        </p:spPr>
        <p:txBody>
          <a:bodyPr wrap="square" lIns="0" tIns="0" rIns="0" bIns="0" rtlCol="0" anchor="ctr"/>
          <a:lstStyle/>
          <a:p>
            <a:pPr marL="0" indent="0" algn="ctr">
              <a:buNone/>
            </a:pPr>
            <a:r>
              <a:rPr lang="en-US" sz="800" dirty="0">
                <a:solidFill>
                  <a:srgbClr val="A8C5DA"/>
                </a:solidFill>
              </a:rPr>
              <a:t>Liver Cirrhosis Clinical Analysis · Power BI Dashboard Project</a:t>
            </a:r>
            <a:endParaRPr lang="en-US" sz="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4A261"/>
          </a:solidFill>
          <a:ln w="12700">
            <a:solidFill>
              <a:srgbClr val="F4A261"/>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lgn="l">
              <a:buNone/>
            </a:pPr>
            <a:r>
              <a:rPr lang="en-US" sz="1800" b="1" kern="0" spc="100" dirty="0">
                <a:solidFill>
                  <a:srgbClr val="FFFFFF"/>
                </a:solidFill>
              </a:rPr>
              <a:t>04 · SYMPTOM ANALYSIS </a:t>
            </a:r>
            <a:r>
              <a:rPr lang="en-US" sz="1800" b="1" kern="0" spc="100" dirty="0" smtClean="0">
                <a:solidFill>
                  <a:srgbClr val="FFFFFF"/>
                </a:solidFill>
              </a:rPr>
              <a:t>DASHBOARDS</a:t>
            </a:r>
            <a:endParaRPr lang="en-US" sz="1800" dirty="0"/>
          </a:p>
        </p:txBody>
      </p:sp>
      <p:sp>
        <p:nvSpPr>
          <p:cNvPr id="4" name="Shape 2"/>
          <p:cNvSpPr/>
          <p:nvPr/>
        </p:nvSpPr>
        <p:spPr>
          <a:xfrm>
            <a:off x="274320" y="1024128"/>
            <a:ext cx="8595360" cy="804672"/>
          </a:xfrm>
          <a:prstGeom prst="rect">
            <a:avLst/>
          </a:prstGeom>
          <a:solidFill>
            <a:srgbClr val="1A4A6E"/>
          </a:solidFill>
          <a:ln w="12700">
            <a:solidFill>
              <a:srgbClr val="1A4A6E"/>
            </a:solidFill>
            <a:prstDash val="solid"/>
          </a:ln>
          <a:effectLst>
            <a:outerShdw blurRad="101600" dist="38100" dir="8100000" algn="bl" rotWithShape="0">
              <a:srgbClr val="000000">
                <a:alpha val="10000"/>
              </a:srgbClr>
            </a:outerShdw>
          </a:effectLst>
        </p:spPr>
      </p:sp>
      <p:sp>
        <p:nvSpPr>
          <p:cNvPr id="5" name="Text 3"/>
          <p:cNvSpPr/>
          <p:nvPr/>
        </p:nvSpPr>
        <p:spPr>
          <a:xfrm>
            <a:off x="457200" y="1051560"/>
            <a:ext cx="2011680" cy="749808"/>
          </a:xfrm>
          <a:prstGeom prst="rect">
            <a:avLst/>
          </a:prstGeom>
          <a:noFill/>
          <a:ln/>
        </p:spPr>
        <p:txBody>
          <a:bodyPr wrap="square" lIns="0" tIns="0" rIns="0" bIns="0" rtlCol="0" anchor="ctr"/>
          <a:lstStyle/>
          <a:p>
            <a:pPr marL="0" indent="0" algn="ctr">
              <a:buNone/>
            </a:pPr>
            <a:r>
              <a:rPr lang="en-US" sz="800" b="1" kern="0" spc="100" dirty="0">
                <a:solidFill>
                  <a:srgbClr val="3BCEAC"/>
                </a:solidFill>
              </a:rPr>
              <a:t>HEADLINE FINDING</a:t>
            </a:r>
            <a:endParaRPr lang="en-US" sz="800" dirty="0"/>
          </a:p>
        </p:txBody>
      </p:sp>
      <p:sp>
        <p:nvSpPr>
          <p:cNvPr id="6" name="Shape 4"/>
          <p:cNvSpPr/>
          <p:nvPr/>
        </p:nvSpPr>
        <p:spPr>
          <a:xfrm>
            <a:off x="2468880" y="1078992"/>
            <a:ext cx="0" cy="685800"/>
          </a:xfrm>
          <a:prstGeom prst="line">
            <a:avLst/>
          </a:prstGeom>
          <a:noFill/>
          <a:ln w="10160">
            <a:solidFill>
              <a:srgbClr val="2E5A7E"/>
            </a:solidFill>
            <a:prstDash val="solid"/>
          </a:ln>
        </p:spPr>
      </p:sp>
      <p:sp>
        <p:nvSpPr>
          <p:cNvPr id="7" name="Text 5"/>
          <p:cNvSpPr/>
          <p:nvPr/>
        </p:nvSpPr>
        <p:spPr>
          <a:xfrm>
            <a:off x="2606040" y="1051560"/>
            <a:ext cx="6035040" cy="749808"/>
          </a:xfrm>
          <a:prstGeom prst="rect">
            <a:avLst/>
          </a:prstGeom>
          <a:noFill/>
          <a:ln/>
        </p:spPr>
        <p:txBody>
          <a:bodyPr wrap="square" lIns="0" tIns="0" rIns="0" bIns="0" rtlCol="0" anchor="ctr"/>
          <a:lstStyle/>
          <a:p>
            <a:pPr marL="0" indent="0" algn="l">
              <a:buNone/>
            </a:pPr>
            <a:r>
              <a:rPr lang="en-US" sz="1200" b="1" dirty="0">
                <a:solidFill>
                  <a:srgbClr val="FFFFFF"/>
                </a:solidFill>
              </a:rPr>
              <a:t>Hepatomegaly: 18.1% → 60.4% from Stage 1 to Stage 3   ·   Severe Edema carries 90.8% mortality with just 716 average follow-up days</a:t>
            </a:r>
            <a:endParaRPr lang="en-US" sz="1200" dirty="0"/>
          </a:p>
        </p:txBody>
      </p:sp>
      <p:sp>
        <p:nvSpPr>
          <p:cNvPr id="8" name="Shape 6"/>
          <p:cNvSpPr/>
          <p:nvPr/>
        </p:nvSpPr>
        <p:spPr>
          <a:xfrm>
            <a:off x="274320" y="1993392"/>
            <a:ext cx="2194560" cy="658368"/>
          </a:xfrm>
          <a:prstGeom prst="rect">
            <a:avLst/>
          </a:prstGeom>
          <a:solidFill>
            <a:srgbClr val="E84855"/>
          </a:solidFill>
          <a:ln w="12700">
            <a:solidFill>
              <a:srgbClr val="E84855"/>
            </a:solidFill>
            <a:prstDash val="solid"/>
          </a:ln>
          <a:effectLst>
            <a:outerShdw blurRad="101600" dist="38100" dir="8100000" algn="bl" rotWithShape="0">
              <a:srgbClr val="000000">
                <a:alpha val="10000"/>
              </a:srgbClr>
            </a:outerShdw>
          </a:effectLst>
        </p:spPr>
      </p:sp>
      <p:sp>
        <p:nvSpPr>
          <p:cNvPr id="9" name="Text 7"/>
          <p:cNvSpPr/>
          <p:nvPr/>
        </p:nvSpPr>
        <p:spPr>
          <a:xfrm>
            <a:off x="384048" y="2011680"/>
            <a:ext cx="2542032" cy="274320"/>
          </a:xfrm>
          <a:prstGeom prst="rect">
            <a:avLst/>
          </a:prstGeom>
          <a:noFill/>
          <a:ln/>
        </p:spPr>
        <p:txBody>
          <a:bodyPr wrap="square" lIns="0" tIns="0" rIns="0" bIns="0" rtlCol="0" anchor="ctr"/>
          <a:lstStyle/>
          <a:p>
            <a:pPr marL="0" indent="0" algn="l">
              <a:buNone/>
            </a:pPr>
            <a:r>
              <a:rPr lang="en-US" sz="1300" b="1" dirty="0">
                <a:solidFill>
                  <a:srgbClr val="FFFFFF"/>
                </a:solidFill>
              </a:rPr>
              <a:t>Hepatomegaly</a:t>
            </a:r>
            <a:endParaRPr lang="en-US" sz="1300" dirty="0"/>
          </a:p>
        </p:txBody>
      </p:sp>
      <p:sp>
        <p:nvSpPr>
          <p:cNvPr id="10" name="Text 8"/>
          <p:cNvSpPr/>
          <p:nvPr/>
        </p:nvSpPr>
        <p:spPr>
          <a:xfrm>
            <a:off x="384048" y="2267712"/>
            <a:ext cx="2542032" cy="256032"/>
          </a:xfrm>
          <a:prstGeom prst="rect">
            <a:avLst/>
          </a:prstGeom>
          <a:noFill/>
          <a:ln/>
        </p:spPr>
        <p:txBody>
          <a:bodyPr wrap="square" lIns="0" tIns="0" rIns="0" bIns="0" rtlCol="0" anchor="ctr"/>
          <a:lstStyle/>
          <a:p>
            <a:pPr marL="0" indent="0" algn="l">
              <a:buNone/>
            </a:pPr>
            <a:r>
              <a:rPr lang="en-US" sz="1000" dirty="0">
                <a:solidFill>
                  <a:srgbClr val="FFFFFF"/>
                </a:solidFill>
              </a:rPr>
              <a:t>18.1% → 60.4%</a:t>
            </a:r>
            <a:endParaRPr lang="en-US" sz="1000" dirty="0"/>
          </a:p>
        </p:txBody>
      </p:sp>
      <p:sp>
        <p:nvSpPr>
          <p:cNvPr id="11" name="Text 9"/>
          <p:cNvSpPr/>
          <p:nvPr/>
        </p:nvSpPr>
        <p:spPr>
          <a:xfrm>
            <a:off x="384048" y="2487168"/>
            <a:ext cx="2542032" cy="146304"/>
          </a:xfrm>
          <a:prstGeom prst="rect">
            <a:avLst/>
          </a:prstGeom>
          <a:noFill/>
          <a:ln/>
        </p:spPr>
        <p:txBody>
          <a:bodyPr wrap="square" lIns="0" tIns="0" rIns="0" bIns="0" rtlCol="0" anchor="ctr"/>
          <a:lstStyle/>
          <a:p>
            <a:pPr marL="0" indent="0" algn="l">
              <a:buNone/>
            </a:pPr>
            <a:r>
              <a:rPr lang="en-US" sz="800" dirty="0">
                <a:solidFill>
                  <a:srgbClr val="E0EDF5"/>
                </a:solidFill>
              </a:rPr>
              <a:t>Stage 1 to Stage 3</a:t>
            </a:r>
            <a:endParaRPr lang="en-US" sz="800" dirty="0"/>
          </a:p>
        </p:txBody>
      </p:sp>
      <p:sp>
        <p:nvSpPr>
          <p:cNvPr id="12" name="Shape 10"/>
          <p:cNvSpPr/>
          <p:nvPr/>
        </p:nvSpPr>
        <p:spPr>
          <a:xfrm>
            <a:off x="274320" y="2651760"/>
            <a:ext cx="2194560" cy="205740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13" name="Shape 11"/>
          <p:cNvSpPr/>
          <p:nvPr/>
        </p:nvSpPr>
        <p:spPr>
          <a:xfrm>
            <a:off x="274320" y="2651760"/>
            <a:ext cx="64008" cy="2057400"/>
          </a:xfrm>
          <a:prstGeom prst="rect">
            <a:avLst/>
          </a:prstGeom>
          <a:solidFill>
            <a:srgbClr val="E84855"/>
          </a:solidFill>
          <a:ln w="12700">
            <a:solidFill>
              <a:srgbClr val="E84855"/>
            </a:solidFill>
            <a:prstDash val="solid"/>
          </a:ln>
        </p:spPr>
      </p:sp>
      <p:sp>
        <p:nvSpPr>
          <p:cNvPr id="14" name="Text 12"/>
          <p:cNvSpPr/>
          <p:nvPr/>
        </p:nvSpPr>
        <p:spPr>
          <a:xfrm>
            <a:off x="475488" y="2697480"/>
            <a:ext cx="2468880" cy="1965960"/>
          </a:xfrm>
          <a:prstGeom prst="rect">
            <a:avLst/>
          </a:prstGeom>
          <a:noFill/>
          <a:ln/>
        </p:spPr>
        <p:txBody>
          <a:bodyPr wrap="square" lIns="0" tIns="0" rIns="0" bIns="0" rtlCol="0" anchor="t"/>
          <a:lstStyle/>
          <a:p>
            <a:pPr marL="0" indent="0" algn="l">
              <a:buNone/>
            </a:pPr>
            <a:r>
              <a:rPr lang="en-US" sz="900" dirty="0">
                <a:solidFill>
                  <a:srgbClr val="1A4A6E"/>
                </a:solidFill>
              </a:rPr>
              <a:t>Strongest progression marker</a:t>
            </a:r>
            <a:endParaRPr lang="en-US" sz="900" dirty="0"/>
          </a:p>
          <a:p>
            <a:pPr marL="0" indent="0" algn="l">
              <a:buNone/>
            </a:pPr>
            <a:r>
              <a:rPr lang="en-US" sz="900" dirty="0">
                <a:solidFill>
                  <a:srgbClr val="1A4A6E"/>
                </a:solidFill>
              </a:rPr>
              <a:t>Present: 55.2% mortality</a:t>
            </a:r>
            <a:endParaRPr lang="en-US" sz="900" dirty="0"/>
          </a:p>
          <a:p>
            <a:pPr marL="0" indent="0" algn="l">
              <a:buNone/>
            </a:pPr>
            <a:r>
              <a:rPr lang="en-US" sz="900" dirty="0">
                <a:solidFill>
                  <a:srgbClr val="1A4A6E"/>
                </a:solidFill>
              </a:rPr>
              <a:t>Absent: 26.7% mortality</a:t>
            </a:r>
            <a:endParaRPr lang="en-US" sz="900" dirty="0"/>
          </a:p>
          <a:p>
            <a:pPr marL="0" indent="0" algn="l">
              <a:buNone/>
            </a:pPr>
            <a:r>
              <a:rPr lang="en-US" sz="900" dirty="0">
                <a:solidFill>
                  <a:srgbClr val="1A4A6E"/>
                </a:solidFill>
              </a:rPr>
              <a:t>More than double the risk</a:t>
            </a:r>
            <a:endParaRPr lang="en-US" sz="900" dirty="0"/>
          </a:p>
        </p:txBody>
      </p:sp>
      <p:sp>
        <p:nvSpPr>
          <p:cNvPr id="15" name="Shape 13"/>
          <p:cNvSpPr/>
          <p:nvPr/>
        </p:nvSpPr>
        <p:spPr>
          <a:xfrm>
            <a:off x="2612289" y="1993392"/>
            <a:ext cx="2413622" cy="658368"/>
          </a:xfrm>
          <a:prstGeom prst="rect">
            <a:avLst/>
          </a:prstGeom>
          <a:solidFill>
            <a:srgbClr val="2E86AB"/>
          </a:solidFill>
          <a:ln w="12700">
            <a:solidFill>
              <a:srgbClr val="2E86AB"/>
            </a:solidFill>
            <a:prstDash val="solid"/>
          </a:ln>
          <a:effectLst>
            <a:outerShdw blurRad="101600" dist="38100" dir="8100000" algn="bl" rotWithShape="0">
              <a:srgbClr val="000000">
                <a:alpha val="10000"/>
              </a:srgbClr>
            </a:outerShdw>
          </a:effectLst>
        </p:spPr>
      </p:sp>
      <p:sp>
        <p:nvSpPr>
          <p:cNvPr id="16" name="Text 14"/>
          <p:cNvSpPr/>
          <p:nvPr/>
        </p:nvSpPr>
        <p:spPr>
          <a:xfrm>
            <a:off x="2648141" y="2011680"/>
            <a:ext cx="3185731" cy="274320"/>
          </a:xfrm>
          <a:prstGeom prst="rect">
            <a:avLst/>
          </a:prstGeom>
          <a:noFill/>
          <a:ln/>
        </p:spPr>
        <p:txBody>
          <a:bodyPr wrap="square" lIns="0" tIns="0" rIns="0" bIns="0" rtlCol="0" anchor="ctr"/>
          <a:lstStyle/>
          <a:p>
            <a:pPr marL="0" indent="0" algn="l">
              <a:buNone/>
            </a:pPr>
            <a:r>
              <a:rPr lang="en-US" sz="1300" b="1" dirty="0">
                <a:solidFill>
                  <a:srgbClr val="FFFFFF"/>
                </a:solidFill>
              </a:rPr>
              <a:t>Spiders</a:t>
            </a:r>
            <a:endParaRPr lang="en-US" sz="1300" dirty="0"/>
          </a:p>
        </p:txBody>
      </p:sp>
      <p:sp>
        <p:nvSpPr>
          <p:cNvPr id="17" name="Text 15"/>
          <p:cNvSpPr/>
          <p:nvPr/>
        </p:nvSpPr>
        <p:spPr>
          <a:xfrm>
            <a:off x="2680145" y="2267712"/>
            <a:ext cx="3153727" cy="256032"/>
          </a:xfrm>
          <a:prstGeom prst="rect">
            <a:avLst/>
          </a:prstGeom>
          <a:noFill/>
          <a:ln/>
        </p:spPr>
        <p:txBody>
          <a:bodyPr wrap="square" lIns="0" tIns="0" rIns="0" bIns="0" rtlCol="0" anchor="ctr"/>
          <a:lstStyle/>
          <a:p>
            <a:pPr marL="0" indent="0" algn="l">
              <a:buNone/>
            </a:pPr>
            <a:r>
              <a:rPr lang="en-US" sz="1000" dirty="0">
                <a:solidFill>
                  <a:srgbClr val="FFFFFF"/>
                </a:solidFill>
              </a:rPr>
              <a:t>36.7% → 57.2%</a:t>
            </a:r>
            <a:endParaRPr lang="en-US" sz="1000" dirty="0"/>
          </a:p>
        </p:txBody>
      </p:sp>
      <p:sp>
        <p:nvSpPr>
          <p:cNvPr id="18" name="Text 16"/>
          <p:cNvSpPr/>
          <p:nvPr/>
        </p:nvSpPr>
        <p:spPr>
          <a:xfrm>
            <a:off x="2671166" y="2487168"/>
            <a:ext cx="2542032" cy="146304"/>
          </a:xfrm>
          <a:prstGeom prst="rect">
            <a:avLst/>
          </a:prstGeom>
          <a:noFill/>
          <a:ln/>
        </p:spPr>
        <p:txBody>
          <a:bodyPr wrap="square" lIns="0" tIns="0" rIns="0" bIns="0" rtlCol="0" anchor="ctr"/>
          <a:lstStyle/>
          <a:p>
            <a:pPr marL="0" indent="0" algn="l">
              <a:buNone/>
            </a:pPr>
            <a:r>
              <a:rPr lang="en-US" sz="800" dirty="0">
                <a:solidFill>
                  <a:srgbClr val="E0EDF5"/>
                </a:solidFill>
              </a:rPr>
              <a:t>Stage 1 to Stage 3</a:t>
            </a:r>
            <a:endParaRPr lang="en-US" sz="800" dirty="0"/>
          </a:p>
        </p:txBody>
      </p:sp>
      <p:sp>
        <p:nvSpPr>
          <p:cNvPr id="19" name="Shape 17"/>
          <p:cNvSpPr/>
          <p:nvPr/>
        </p:nvSpPr>
        <p:spPr>
          <a:xfrm>
            <a:off x="2616137" y="2654293"/>
            <a:ext cx="2409774" cy="205740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20" name="Shape 18"/>
          <p:cNvSpPr/>
          <p:nvPr/>
        </p:nvSpPr>
        <p:spPr>
          <a:xfrm>
            <a:off x="2616137" y="2633472"/>
            <a:ext cx="64008" cy="2057400"/>
          </a:xfrm>
          <a:prstGeom prst="rect">
            <a:avLst/>
          </a:prstGeom>
          <a:solidFill>
            <a:srgbClr val="2E86AB"/>
          </a:solidFill>
          <a:ln w="12700">
            <a:solidFill>
              <a:srgbClr val="2E86AB"/>
            </a:solidFill>
            <a:prstDash val="solid"/>
          </a:ln>
        </p:spPr>
      </p:sp>
      <p:sp>
        <p:nvSpPr>
          <p:cNvPr id="21" name="Text 19"/>
          <p:cNvSpPr/>
          <p:nvPr/>
        </p:nvSpPr>
        <p:spPr>
          <a:xfrm>
            <a:off x="2835298" y="2697480"/>
            <a:ext cx="3016862" cy="1965960"/>
          </a:xfrm>
          <a:prstGeom prst="rect">
            <a:avLst/>
          </a:prstGeom>
          <a:noFill/>
          <a:ln/>
        </p:spPr>
        <p:txBody>
          <a:bodyPr wrap="square" lIns="0" tIns="0" rIns="0" bIns="0" rtlCol="0" anchor="t"/>
          <a:lstStyle/>
          <a:p>
            <a:pPr marL="0" indent="0" algn="l">
              <a:buNone/>
            </a:pPr>
            <a:r>
              <a:rPr lang="en-US" sz="900" dirty="0">
                <a:solidFill>
                  <a:srgbClr val="1A4A6E"/>
                </a:solidFill>
              </a:rPr>
              <a:t>Spider angiomata prevalence</a:t>
            </a:r>
            <a:endParaRPr lang="en-US" sz="900" dirty="0"/>
          </a:p>
          <a:p>
            <a:pPr marL="0" indent="0" algn="l">
              <a:buNone/>
            </a:pPr>
            <a:r>
              <a:rPr lang="en-US" sz="900" dirty="0">
                <a:solidFill>
                  <a:srgbClr val="1A4A6E"/>
                </a:solidFill>
              </a:rPr>
              <a:t>Present: 40.8% mortality</a:t>
            </a:r>
            <a:endParaRPr lang="en-US" sz="900" dirty="0"/>
          </a:p>
          <a:p>
            <a:pPr marL="0" indent="0" algn="l">
              <a:buNone/>
            </a:pPr>
            <a:r>
              <a:rPr lang="en-US" sz="900" dirty="0">
                <a:solidFill>
                  <a:srgbClr val="1A4A6E"/>
                </a:solidFill>
              </a:rPr>
              <a:t>Absent: 35.3% mortality</a:t>
            </a:r>
            <a:endParaRPr lang="en-US" sz="900" dirty="0"/>
          </a:p>
          <a:p>
            <a:pPr marL="0" indent="0" algn="l">
              <a:buNone/>
            </a:pPr>
            <a:r>
              <a:rPr lang="en-US" sz="900" dirty="0">
                <a:solidFill>
                  <a:srgbClr val="1A4A6E"/>
                </a:solidFill>
              </a:rPr>
              <a:t>Consistent rise across stages</a:t>
            </a:r>
            <a:endParaRPr lang="en-US" sz="900" dirty="0"/>
          </a:p>
        </p:txBody>
      </p:sp>
      <p:sp>
        <p:nvSpPr>
          <p:cNvPr id="22" name="Shape 20"/>
          <p:cNvSpPr/>
          <p:nvPr/>
        </p:nvSpPr>
        <p:spPr>
          <a:xfrm>
            <a:off x="5149190" y="1990432"/>
            <a:ext cx="1883138" cy="658368"/>
          </a:xfrm>
          <a:prstGeom prst="rect">
            <a:avLst/>
          </a:prstGeom>
          <a:solidFill>
            <a:srgbClr val="F4A261"/>
          </a:solidFill>
          <a:ln w="12700">
            <a:solidFill>
              <a:srgbClr val="F4A261"/>
            </a:solidFill>
            <a:prstDash val="solid"/>
          </a:ln>
          <a:effectLst>
            <a:outerShdw blurRad="101600" dist="38100" dir="8100000" algn="bl" rotWithShape="0">
              <a:srgbClr val="000000">
                <a:alpha val="10000"/>
              </a:srgbClr>
            </a:outerShdw>
          </a:effectLst>
        </p:spPr>
      </p:sp>
      <p:sp>
        <p:nvSpPr>
          <p:cNvPr id="23" name="Text 21"/>
          <p:cNvSpPr/>
          <p:nvPr/>
        </p:nvSpPr>
        <p:spPr>
          <a:xfrm>
            <a:off x="5213198" y="2011680"/>
            <a:ext cx="3528466" cy="274320"/>
          </a:xfrm>
          <a:prstGeom prst="rect">
            <a:avLst/>
          </a:prstGeom>
          <a:noFill/>
          <a:ln/>
        </p:spPr>
        <p:txBody>
          <a:bodyPr wrap="square" lIns="0" tIns="0" rIns="0" bIns="0" rtlCol="0" anchor="ctr"/>
          <a:lstStyle/>
          <a:p>
            <a:pPr marL="0" indent="0" algn="l">
              <a:buNone/>
            </a:pPr>
            <a:r>
              <a:rPr lang="en-US" sz="1300" b="1" dirty="0">
                <a:solidFill>
                  <a:srgbClr val="FFFFFF"/>
                </a:solidFill>
              </a:rPr>
              <a:t>Ascites</a:t>
            </a:r>
            <a:endParaRPr lang="en-US" sz="1300" dirty="0"/>
          </a:p>
        </p:txBody>
      </p:sp>
      <p:sp>
        <p:nvSpPr>
          <p:cNvPr id="24" name="Text 22"/>
          <p:cNvSpPr/>
          <p:nvPr/>
        </p:nvSpPr>
        <p:spPr>
          <a:xfrm>
            <a:off x="5213198" y="2267712"/>
            <a:ext cx="3528466" cy="256032"/>
          </a:xfrm>
          <a:prstGeom prst="rect">
            <a:avLst/>
          </a:prstGeom>
          <a:noFill/>
          <a:ln/>
        </p:spPr>
        <p:txBody>
          <a:bodyPr wrap="square" lIns="0" tIns="0" rIns="0" bIns="0" rtlCol="0" anchor="ctr"/>
          <a:lstStyle/>
          <a:p>
            <a:pPr marL="0" indent="0" algn="l">
              <a:buNone/>
            </a:pPr>
            <a:r>
              <a:rPr lang="en-US" sz="1000" dirty="0">
                <a:solidFill>
                  <a:srgbClr val="FFFFFF"/>
                </a:solidFill>
              </a:rPr>
              <a:t>28.7% → 41.5%</a:t>
            </a:r>
            <a:endParaRPr lang="en-US" sz="1000" dirty="0"/>
          </a:p>
        </p:txBody>
      </p:sp>
      <p:sp>
        <p:nvSpPr>
          <p:cNvPr id="25" name="Text 23"/>
          <p:cNvSpPr/>
          <p:nvPr/>
        </p:nvSpPr>
        <p:spPr>
          <a:xfrm>
            <a:off x="5229118" y="2487168"/>
            <a:ext cx="2542032" cy="146304"/>
          </a:xfrm>
          <a:prstGeom prst="rect">
            <a:avLst/>
          </a:prstGeom>
          <a:noFill/>
          <a:ln/>
        </p:spPr>
        <p:txBody>
          <a:bodyPr wrap="square" lIns="0" tIns="0" rIns="0" bIns="0" rtlCol="0" anchor="ctr"/>
          <a:lstStyle/>
          <a:p>
            <a:pPr marL="0" indent="0" algn="l">
              <a:buNone/>
            </a:pPr>
            <a:r>
              <a:rPr lang="en-US" sz="800" dirty="0">
                <a:solidFill>
                  <a:srgbClr val="E0EDF5"/>
                </a:solidFill>
              </a:rPr>
              <a:t>Stable S1–S2, jumps S3</a:t>
            </a:r>
            <a:endParaRPr lang="en-US" sz="800" dirty="0"/>
          </a:p>
        </p:txBody>
      </p:sp>
      <p:sp>
        <p:nvSpPr>
          <p:cNvPr id="26" name="Shape 24"/>
          <p:cNvSpPr/>
          <p:nvPr/>
        </p:nvSpPr>
        <p:spPr>
          <a:xfrm>
            <a:off x="5149190" y="2654293"/>
            <a:ext cx="1883138" cy="205740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27" name="Shape 25"/>
          <p:cNvSpPr/>
          <p:nvPr/>
        </p:nvSpPr>
        <p:spPr>
          <a:xfrm>
            <a:off x="5149190" y="2648800"/>
            <a:ext cx="64008" cy="2057400"/>
          </a:xfrm>
          <a:prstGeom prst="rect">
            <a:avLst/>
          </a:prstGeom>
          <a:solidFill>
            <a:srgbClr val="F4A261"/>
          </a:solidFill>
          <a:ln w="12700">
            <a:solidFill>
              <a:srgbClr val="F4A261"/>
            </a:solidFill>
            <a:prstDash val="solid"/>
          </a:ln>
        </p:spPr>
      </p:sp>
      <p:sp>
        <p:nvSpPr>
          <p:cNvPr id="28" name="Text 26"/>
          <p:cNvSpPr/>
          <p:nvPr/>
        </p:nvSpPr>
        <p:spPr>
          <a:xfrm>
            <a:off x="5321940" y="2697480"/>
            <a:ext cx="3438012" cy="1965960"/>
          </a:xfrm>
          <a:prstGeom prst="rect">
            <a:avLst/>
          </a:prstGeom>
          <a:noFill/>
          <a:ln/>
        </p:spPr>
        <p:txBody>
          <a:bodyPr wrap="square" lIns="0" tIns="0" rIns="0" bIns="0" rtlCol="0" anchor="t"/>
          <a:lstStyle/>
          <a:p>
            <a:pPr marL="0" indent="0" algn="l">
              <a:buNone/>
            </a:pPr>
            <a:r>
              <a:rPr lang="en-US" sz="900" dirty="0">
                <a:solidFill>
                  <a:srgbClr val="1A4A6E"/>
                </a:solidFill>
              </a:rPr>
              <a:t>Late-stage indicator</a:t>
            </a:r>
            <a:endParaRPr lang="en-US" sz="900" dirty="0"/>
          </a:p>
          <a:p>
            <a:pPr marL="0" indent="0" algn="l">
              <a:buNone/>
            </a:pPr>
            <a:r>
              <a:rPr lang="en-US" sz="900" dirty="0">
                <a:solidFill>
                  <a:srgbClr val="1A4A6E"/>
                </a:solidFill>
              </a:rPr>
              <a:t>Present: 39.2% mortality</a:t>
            </a:r>
            <a:endParaRPr lang="en-US" sz="900" dirty="0"/>
          </a:p>
          <a:p>
            <a:pPr marL="0" indent="0" algn="l">
              <a:buNone/>
            </a:pPr>
            <a:r>
              <a:rPr lang="en-US" sz="900" dirty="0">
                <a:solidFill>
                  <a:srgbClr val="1A4A6E"/>
                </a:solidFill>
              </a:rPr>
              <a:t>Absent: 37.1% mortality</a:t>
            </a:r>
            <a:endParaRPr lang="en-US" sz="900" dirty="0"/>
          </a:p>
          <a:p>
            <a:pPr marL="0" indent="0" algn="l">
              <a:buNone/>
            </a:pPr>
            <a:r>
              <a:rPr lang="en-US" sz="900" dirty="0">
                <a:solidFill>
                  <a:srgbClr val="1A4A6E"/>
                </a:solidFill>
              </a:rPr>
              <a:t>Flat then sharp rise at S3</a:t>
            </a:r>
            <a:endParaRPr lang="en-US" sz="900" dirty="0"/>
          </a:p>
        </p:txBody>
      </p:sp>
      <p:sp>
        <p:nvSpPr>
          <p:cNvPr id="29" name="Shape 27"/>
          <p:cNvSpPr/>
          <p:nvPr/>
        </p:nvSpPr>
        <p:spPr>
          <a:xfrm>
            <a:off x="7186788" y="1993392"/>
            <a:ext cx="1682891" cy="2715768"/>
          </a:xfrm>
          <a:prstGeom prst="rect">
            <a:avLst/>
          </a:prstGeom>
          <a:solidFill>
            <a:srgbClr val="E84855"/>
          </a:solidFill>
          <a:ln w="12700">
            <a:solidFill>
              <a:srgbClr val="E84855"/>
            </a:solidFill>
            <a:prstDash val="solid"/>
          </a:ln>
        </p:spPr>
      </p:sp>
      <p:sp>
        <p:nvSpPr>
          <p:cNvPr id="30" name="Text 28"/>
          <p:cNvSpPr/>
          <p:nvPr/>
        </p:nvSpPr>
        <p:spPr>
          <a:xfrm>
            <a:off x="7186790" y="2011680"/>
            <a:ext cx="1573162" cy="457200"/>
          </a:xfrm>
          <a:prstGeom prst="rect">
            <a:avLst/>
          </a:prstGeom>
          <a:noFill/>
          <a:ln/>
        </p:spPr>
        <p:txBody>
          <a:bodyPr wrap="square" lIns="0" tIns="0" rIns="0" bIns="0" rtlCol="0" anchor="ctr"/>
          <a:lstStyle/>
          <a:p>
            <a:pPr marL="0" indent="0" algn="ctr">
              <a:buNone/>
            </a:pPr>
            <a:r>
              <a:rPr lang="en-US" sz="1100" b="1" dirty="0">
                <a:solidFill>
                  <a:srgbClr val="FFFFFF"/>
                </a:solidFill>
              </a:rPr>
              <a:t>90.8%</a:t>
            </a:r>
            <a:endParaRPr lang="en-US" sz="1100" dirty="0"/>
          </a:p>
        </p:txBody>
      </p:sp>
      <p:sp>
        <p:nvSpPr>
          <p:cNvPr id="31" name="Text 29"/>
          <p:cNvSpPr/>
          <p:nvPr/>
        </p:nvSpPr>
        <p:spPr>
          <a:xfrm>
            <a:off x="7186789" y="2468880"/>
            <a:ext cx="1628289" cy="822960"/>
          </a:xfrm>
          <a:prstGeom prst="rect">
            <a:avLst/>
          </a:prstGeom>
          <a:noFill/>
          <a:ln/>
        </p:spPr>
        <p:txBody>
          <a:bodyPr wrap="square" lIns="0" tIns="0" rIns="0" bIns="0" rtlCol="0" anchor="ctr"/>
          <a:lstStyle/>
          <a:p>
            <a:pPr marL="0" indent="0" algn="ctr">
              <a:buNone/>
            </a:pPr>
            <a:r>
              <a:rPr lang="en-US" sz="750" dirty="0">
                <a:solidFill>
                  <a:srgbClr val="FFFFFF"/>
                </a:solidFill>
              </a:rPr>
              <a:t>Severe</a:t>
            </a:r>
            <a:endParaRPr lang="en-US" sz="750" dirty="0"/>
          </a:p>
          <a:p>
            <a:pPr marL="0" indent="0" algn="ctr">
              <a:buNone/>
            </a:pPr>
            <a:r>
              <a:rPr lang="en-US" sz="750" dirty="0">
                <a:solidFill>
                  <a:srgbClr val="FFFFFF"/>
                </a:solidFill>
              </a:rPr>
              <a:t>Edema</a:t>
            </a:r>
            <a:endParaRPr lang="en-US" sz="750" dirty="0"/>
          </a:p>
          <a:p>
            <a:pPr marL="0" indent="0" algn="ctr">
              <a:buNone/>
            </a:pPr>
            <a:r>
              <a:rPr lang="en-US" sz="750" dirty="0">
                <a:solidFill>
                  <a:srgbClr val="FFFFFF"/>
                </a:solidFill>
              </a:rPr>
              <a:t>Mortality</a:t>
            </a:r>
            <a:endParaRPr lang="en-US" sz="750" dirty="0"/>
          </a:p>
        </p:txBody>
      </p:sp>
      <p:sp>
        <p:nvSpPr>
          <p:cNvPr id="32" name="Shape 30"/>
          <p:cNvSpPr/>
          <p:nvPr/>
        </p:nvSpPr>
        <p:spPr>
          <a:xfrm>
            <a:off x="0" y="4800600"/>
            <a:ext cx="9144000" cy="342900"/>
          </a:xfrm>
          <a:prstGeom prst="rect">
            <a:avLst/>
          </a:prstGeom>
          <a:solidFill>
            <a:srgbClr val="1A4A6E"/>
          </a:solidFill>
          <a:ln w="12700">
            <a:solidFill>
              <a:srgbClr val="1A4A6E"/>
            </a:solidFill>
            <a:prstDash val="solid"/>
          </a:ln>
        </p:spPr>
      </p:sp>
      <p:sp>
        <p:nvSpPr>
          <p:cNvPr id="33" name="Text 31"/>
          <p:cNvSpPr/>
          <p:nvPr/>
        </p:nvSpPr>
        <p:spPr>
          <a:xfrm>
            <a:off x="274320" y="4800600"/>
            <a:ext cx="8595360" cy="342900"/>
          </a:xfrm>
          <a:prstGeom prst="rect">
            <a:avLst/>
          </a:prstGeom>
          <a:noFill/>
          <a:ln/>
        </p:spPr>
        <p:txBody>
          <a:bodyPr wrap="square" lIns="0" tIns="0" rIns="0" bIns="0" rtlCol="0" anchor="ctr"/>
          <a:lstStyle/>
          <a:p>
            <a:pPr marL="0" indent="0" algn="ctr">
              <a:buNone/>
            </a:pPr>
            <a:r>
              <a:rPr lang="en-US" sz="800" dirty="0">
                <a:solidFill>
                  <a:srgbClr val="A8C5DA"/>
                </a:solidFill>
              </a:rPr>
              <a:t>Liver Cirrhosis Clinical Analysis · Power BI Dashboard Project</a:t>
            </a:r>
            <a:endParaRPr lang="en-US" sz="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3BCEAC"/>
          </a:solidFill>
          <a:ln w="12700">
            <a:solidFill>
              <a:srgbClr val="3BCEAC"/>
            </a:solidFill>
            <a:prstDash val="solid"/>
          </a:ln>
        </p:spPr>
      </p:sp>
      <p:sp>
        <p:nvSpPr>
          <p:cNvPr id="3" name="Shape 1"/>
          <p:cNvSpPr/>
          <p:nvPr/>
        </p:nvSpPr>
        <p:spPr>
          <a:xfrm>
            <a:off x="0" y="0"/>
            <a:ext cx="9144000" cy="914400"/>
          </a:xfrm>
          <a:prstGeom prst="rect">
            <a:avLst/>
          </a:prstGeom>
          <a:solidFill>
            <a:srgbClr val="1A4A6E">
              <a:alpha val="80000"/>
            </a:srgbClr>
          </a:solidFill>
          <a:ln w="12700">
            <a:solidFill>
              <a:srgbClr val="1A4A6E"/>
            </a:solidFill>
            <a:prstDash val="solid"/>
          </a:ln>
        </p:spPr>
      </p:sp>
      <p:sp>
        <p:nvSpPr>
          <p:cNvPr id="4" name="Text 2"/>
          <p:cNvSpPr/>
          <p:nvPr/>
        </p:nvSpPr>
        <p:spPr>
          <a:xfrm>
            <a:off x="457200" y="0"/>
            <a:ext cx="8229600" cy="914400"/>
          </a:xfrm>
          <a:prstGeom prst="rect">
            <a:avLst/>
          </a:prstGeom>
          <a:noFill/>
          <a:ln/>
        </p:spPr>
        <p:txBody>
          <a:bodyPr wrap="square" lIns="0" tIns="0" rIns="0" bIns="0" rtlCol="0" anchor="ctr"/>
          <a:lstStyle/>
          <a:p>
            <a:pPr marL="0" indent="0" algn="l">
              <a:buNone/>
            </a:pPr>
            <a:r>
              <a:rPr lang="en-US" sz="1800" b="1" kern="0" spc="100" dirty="0">
                <a:solidFill>
                  <a:srgbClr val="FFFFFF"/>
                </a:solidFill>
              </a:rPr>
              <a:t>05 · BIOMARKER </a:t>
            </a:r>
            <a:r>
              <a:rPr lang="en-US" sz="1800" b="1" kern="0" spc="100" dirty="0" smtClean="0">
                <a:solidFill>
                  <a:srgbClr val="FFFFFF"/>
                </a:solidFill>
              </a:rPr>
              <a:t>DASHBOARDS</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2847341762"/>
              </p:ext>
            </p:extLst>
          </p:nvPr>
        </p:nvGraphicFramePr>
        <p:xfrm>
          <a:off x="274320" y="1024128"/>
          <a:ext cx="8595358" cy="1737360"/>
        </p:xfrm>
        <a:graphic>
          <a:graphicData uri="http://schemas.openxmlformats.org/drawingml/2006/table">
            <a:tbl>
              <a:tblPr/>
              <a:tblGrid>
                <a:gridCol w="1818249"/>
                <a:gridCol w="1239715"/>
                <a:gridCol w="1239715"/>
                <a:gridCol w="1239715"/>
                <a:gridCol w="1239715"/>
                <a:gridCol w="1818249"/>
              </a:tblGrid>
              <a:tr h="347472">
                <a:tc>
                  <a:txBody>
                    <a:bodyPr/>
                    <a:lstStyle/>
                    <a:p>
                      <a:pPr marL="0" indent="0">
                        <a:buNone/>
                      </a:pPr>
                      <a:r>
                        <a:rPr lang="en-US" sz="900" b="1" dirty="0">
                          <a:solidFill>
                            <a:srgbClr val="FFFFFF"/>
                          </a:solidFill>
                        </a:rPr>
                        <a:t>Biomarker</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1A4A6E"/>
                    </a:solidFill>
                  </a:tcPr>
                </a:tc>
                <a:tc>
                  <a:txBody>
                    <a:bodyPr/>
                    <a:lstStyle/>
                    <a:p>
                      <a:pPr marL="0" indent="0">
                        <a:buNone/>
                      </a:pPr>
                      <a:r>
                        <a:rPr lang="en-US" sz="900" b="1" dirty="0">
                          <a:solidFill>
                            <a:srgbClr val="FFFFFF"/>
                          </a:solidFill>
                        </a:rPr>
                        <a:t>Normal Range</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1A4A6E"/>
                    </a:solidFill>
                  </a:tcPr>
                </a:tc>
                <a:tc>
                  <a:txBody>
                    <a:bodyPr/>
                    <a:lstStyle/>
                    <a:p>
                      <a:pPr marL="0" indent="0">
                        <a:buNone/>
                      </a:pPr>
                      <a:r>
                        <a:rPr lang="en-US" sz="900" b="1" dirty="0">
                          <a:solidFill>
                            <a:srgbClr val="FFFFFF"/>
                          </a:solidFill>
                        </a:rPr>
                        <a:t>Stage 1 Avg</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1A4A6E"/>
                    </a:solidFill>
                  </a:tcPr>
                </a:tc>
                <a:tc>
                  <a:txBody>
                    <a:bodyPr/>
                    <a:lstStyle/>
                    <a:p>
                      <a:pPr marL="0" indent="0">
                        <a:buNone/>
                      </a:pPr>
                      <a:r>
                        <a:rPr lang="en-US" sz="900" b="1" dirty="0">
                          <a:solidFill>
                            <a:srgbClr val="FFFFFF"/>
                          </a:solidFill>
                        </a:rPr>
                        <a:t>Stage 2 Avg</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1A4A6E"/>
                    </a:solidFill>
                  </a:tcPr>
                </a:tc>
                <a:tc>
                  <a:txBody>
                    <a:bodyPr/>
                    <a:lstStyle/>
                    <a:p>
                      <a:pPr marL="0" indent="0">
                        <a:buNone/>
                      </a:pPr>
                      <a:r>
                        <a:rPr lang="en-US" sz="900" b="1" dirty="0">
                          <a:solidFill>
                            <a:srgbClr val="FFFFFF"/>
                          </a:solidFill>
                        </a:rPr>
                        <a:t>Stage 3 Avg</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1A4A6E"/>
                    </a:solidFill>
                  </a:tcPr>
                </a:tc>
                <a:tc>
                  <a:txBody>
                    <a:bodyPr/>
                    <a:lstStyle/>
                    <a:p>
                      <a:pPr marL="0" indent="0">
                        <a:buNone/>
                      </a:pPr>
                      <a:r>
                        <a:rPr lang="en-US" sz="900" b="1" dirty="0">
                          <a:solidFill>
                            <a:srgbClr val="FFFFFF"/>
                          </a:solidFill>
                        </a:rPr>
                        <a:t>Signal</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1A4A6E"/>
                    </a:solidFill>
                  </a:tcPr>
                </a:tc>
              </a:tr>
              <a:tr h="347472">
                <a:tc>
                  <a:txBody>
                    <a:bodyPr/>
                    <a:lstStyle/>
                    <a:p>
                      <a:pPr marL="0" indent="0">
                        <a:buNone/>
                      </a:pPr>
                      <a:r>
                        <a:rPr lang="en-US" sz="950" dirty="0">
                          <a:solidFill>
                            <a:srgbClr val="1A4A6E"/>
                          </a:solidFill>
                        </a:rPr>
                        <a:t>Bilirubin (mg/dL)</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50" dirty="0">
                          <a:solidFill>
                            <a:srgbClr val="1A4A6E"/>
                          </a:solidFill>
                        </a:rPr>
                        <a:t>≤ 1.2</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50" dirty="0">
                          <a:solidFill>
                            <a:srgbClr val="1A4A6E"/>
                          </a:solidFill>
                        </a:rPr>
                        <a:t>2.47</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50" dirty="0">
                          <a:solidFill>
                            <a:srgbClr val="1A4A6E"/>
                          </a:solidFill>
                        </a:rPr>
                        <a:t>3.32</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50" dirty="0">
                          <a:solidFill>
                            <a:srgbClr val="1A4A6E"/>
                          </a:solidFill>
                        </a:rPr>
                        <a:t>4.42</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50" b="1" dirty="0">
                          <a:solidFill>
                            <a:srgbClr val="E84855"/>
                          </a:solidFill>
                        </a:rPr>
                        <a:t>+79% ↑ Worsening</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r>
              <a:tr h="347472">
                <a:tc>
                  <a:txBody>
                    <a:bodyPr/>
                    <a:lstStyle/>
                    <a:p>
                      <a:pPr marL="0" indent="0">
                        <a:buNone/>
                      </a:pPr>
                      <a:r>
                        <a:rPr lang="en-US" sz="950" dirty="0">
                          <a:solidFill>
                            <a:srgbClr val="1A4A6E"/>
                          </a:solidFill>
                        </a:rPr>
                        <a:t>Albumin (g/dL)</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50" dirty="0">
                          <a:solidFill>
                            <a:srgbClr val="1A4A6E"/>
                          </a:solidFill>
                        </a:rPr>
                        <a:t>3.5–5.0</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50" dirty="0">
                          <a:solidFill>
                            <a:srgbClr val="1A4A6E"/>
                          </a:solidFill>
                        </a:rPr>
                        <a:t>3.55</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50" dirty="0">
                          <a:solidFill>
                            <a:srgbClr val="1A4A6E"/>
                          </a:solidFill>
                        </a:rPr>
                        <a:t>3.57</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50" dirty="0">
                          <a:solidFill>
                            <a:srgbClr val="1A4A6E"/>
                          </a:solidFill>
                        </a:rPr>
                        <a:t>3.34</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50" b="1" dirty="0">
                          <a:solidFill>
                            <a:srgbClr val="E84855"/>
                          </a:solidFill>
                        </a:rPr>
                        <a:t>↓ Drops at S3</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r>
              <a:tr h="347472">
                <a:tc>
                  <a:txBody>
                    <a:bodyPr/>
                    <a:lstStyle/>
                    <a:p>
                      <a:pPr marL="0" indent="0">
                        <a:buNone/>
                      </a:pPr>
                      <a:r>
                        <a:rPr lang="en-US" sz="950" dirty="0">
                          <a:solidFill>
                            <a:srgbClr val="1A4A6E"/>
                          </a:solidFill>
                        </a:rPr>
                        <a:t>Platelets (×10³)</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50" dirty="0">
                          <a:solidFill>
                            <a:srgbClr val="1A4A6E"/>
                          </a:solidFill>
                        </a:rPr>
                        <a:t>150–400</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50" dirty="0">
                          <a:solidFill>
                            <a:srgbClr val="1A4A6E"/>
                          </a:solidFill>
                        </a:rPr>
                        <a:t>285.6</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50" dirty="0">
                          <a:solidFill>
                            <a:srgbClr val="1A4A6E"/>
                          </a:solidFill>
                        </a:rPr>
                        <a:t>257.6</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50" dirty="0">
                          <a:solidFill>
                            <a:srgbClr val="1A4A6E"/>
                          </a:solidFill>
                        </a:rPr>
                        <a:t>224.9</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50" b="1" dirty="0">
                          <a:solidFill>
                            <a:srgbClr val="E84855"/>
                          </a:solidFill>
                        </a:rPr>
                        <a:t>-21% ↓ Portal HTN</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r>
              <a:tr h="347472">
                <a:tc>
                  <a:txBody>
                    <a:bodyPr/>
                    <a:lstStyle/>
                    <a:p>
                      <a:pPr marL="0" indent="0">
                        <a:buNone/>
                      </a:pPr>
                      <a:r>
                        <a:rPr lang="en-US" sz="950" dirty="0">
                          <a:solidFill>
                            <a:srgbClr val="1A4A6E"/>
                          </a:solidFill>
                        </a:rPr>
                        <a:t>Copper (µg/day)</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50" dirty="0">
                          <a:solidFill>
                            <a:srgbClr val="1A4A6E"/>
                          </a:solidFill>
                        </a:rPr>
                        <a:t>≤ 100</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50" dirty="0">
                          <a:solidFill>
                            <a:srgbClr val="1A4A6E"/>
                          </a:solidFill>
                        </a:rPr>
                        <a:t>87.7</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50" dirty="0">
                          <a:solidFill>
                            <a:srgbClr val="1A4A6E"/>
                          </a:solidFill>
                        </a:rPr>
                        <a:t>101.3</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50" dirty="0">
                          <a:solidFill>
                            <a:srgbClr val="1A4A6E"/>
                          </a:solidFill>
                        </a:rPr>
                        <a:t>111.4</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50" b="1" dirty="0">
                          <a:solidFill>
                            <a:srgbClr val="E84855"/>
                          </a:solidFill>
                        </a:rPr>
                        <a:t>Exceeds from S2 ↑</a:t>
                      </a:r>
                      <a:endParaRPr lang="en-US" sz="95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r>
            </a:tbl>
          </a:graphicData>
        </a:graphic>
      </p:graphicFrame>
      <p:sp>
        <p:nvSpPr>
          <p:cNvPr id="6" name="Shape 3"/>
          <p:cNvSpPr/>
          <p:nvPr/>
        </p:nvSpPr>
        <p:spPr>
          <a:xfrm>
            <a:off x="274320" y="2907792"/>
            <a:ext cx="3931920" cy="182880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7" name="Shape 4"/>
          <p:cNvSpPr/>
          <p:nvPr/>
        </p:nvSpPr>
        <p:spPr>
          <a:xfrm>
            <a:off x="274320" y="2907792"/>
            <a:ext cx="64008" cy="1828800"/>
          </a:xfrm>
          <a:prstGeom prst="rect">
            <a:avLst/>
          </a:prstGeom>
          <a:solidFill>
            <a:srgbClr val="533AB7"/>
          </a:solidFill>
          <a:ln w="12700">
            <a:solidFill>
              <a:srgbClr val="533AB7"/>
            </a:solidFill>
            <a:prstDash val="solid"/>
          </a:ln>
        </p:spPr>
      </p:sp>
      <p:sp>
        <p:nvSpPr>
          <p:cNvPr id="5" name="Text 5"/>
          <p:cNvSpPr/>
          <p:nvPr/>
        </p:nvSpPr>
        <p:spPr>
          <a:xfrm>
            <a:off x="502920" y="2999232"/>
            <a:ext cx="3657600" cy="320040"/>
          </a:xfrm>
          <a:prstGeom prst="rect">
            <a:avLst/>
          </a:prstGeom>
          <a:noFill/>
          <a:ln/>
        </p:spPr>
        <p:txBody>
          <a:bodyPr wrap="square" lIns="0" tIns="0" rIns="0" bIns="0" rtlCol="0" anchor="ctr"/>
          <a:lstStyle/>
          <a:p>
            <a:pPr marL="0" indent="0" algn="l">
              <a:buNone/>
            </a:pPr>
            <a:r>
              <a:rPr lang="en-US" sz="1200" b="1" dirty="0">
                <a:solidFill>
                  <a:srgbClr val="1A4A6E"/>
                </a:solidFill>
              </a:rPr>
              <a:t>Composite Severity Score</a:t>
            </a:r>
            <a:endParaRPr lang="en-US" sz="1200" dirty="0"/>
          </a:p>
        </p:txBody>
      </p:sp>
      <p:sp>
        <p:nvSpPr>
          <p:cNvPr id="9" name="Text 6"/>
          <p:cNvSpPr/>
          <p:nvPr/>
        </p:nvSpPr>
        <p:spPr>
          <a:xfrm>
            <a:off x="502920" y="3364992"/>
            <a:ext cx="3520440" cy="320040"/>
          </a:xfrm>
          <a:prstGeom prst="rect">
            <a:avLst/>
          </a:prstGeom>
          <a:noFill/>
          <a:ln/>
        </p:spPr>
        <p:txBody>
          <a:bodyPr wrap="square" lIns="0" tIns="0" rIns="0" bIns="0" rtlCol="0" anchor="ctr"/>
          <a:lstStyle/>
          <a:p>
            <a:pPr marL="0" indent="0" algn="l">
              <a:buNone/>
            </a:pPr>
            <a:r>
              <a:rPr lang="en-US" sz="900" b="1" dirty="0">
                <a:solidFill>
                  <a:srgbClr val="533AB7"/>
                </a:solidFill>
              </a:rPr>
              <a:t>Formula: Bilirubin + (5 − Albumin) + (Prothrombin − 10)</a:t>
            </a:r>
            <a:endParaRPr lang="en-US" sz="900" dirty="0"/>
          </a:p>
        </p:txBody>
      </p:sp>
      <p:sp>
        <p:nvSpPr>
          <p:cNvPr id="10" name="Text 7"/>
          <p:cNvSpPr/>
          <p:nvPr/>
        </p:nvSpPr>
        <p:spPr>
          <a:xfrm>
            <a:off x="502920" y="3703320"/>
            <a:ext cx="3520440" cy="914400"/>
          </a:xfrm>
          <a:prstGeom prst="rect">
            <a:avLst/>
          </a:prstGeom>
          <a:noFill/>
          <a:ln/>
        </p:spPr>
        <p:txBody>
          <a:bodyPr wrap="square" lIns="0" tIns="0" rIns="0" bIns="0" rtlCol="0" anchor="t"/>
          <a:lstStyle/>
          <a:p>
            <a:pPr marL="0" indent="0" algn="l">
              <a:buNone/>
            </a:pPr>
            <a:r>
              <a:rPr lang="en-US" sz="950" dirty="0">
                <a:solidFill>
                  <a:srgbClr val="1A4A6E"/>
                </a:solidFill>
              </a:rPr>
              <a:t>MELD-inspired composite index quantifying disease burden in one number.</a:t>
            </a:r>
            <a:endParaRPr lang="en-US" sz="950" dirty="0"/>
          </a:p>
          <a:p>
            <a:pPr marL="0" indent="0" algn="l">
              <a:buNone/>
            </a:pPr>
            <a:r>
              <a:rPr lang="en-US" sz="950" dirty="0">
                <a:solidFill>
                  <a:srgbClr val="1A4A6E"/>
                </a:solidFill>
              </a:rPr>
              <a:t>Stage 1: avg 4.45  ·  Stage 2: avg 5.25  ·  Stage 3: avg 7.25</a:t>
            </a:r>
            <a:endParaRPr lang="en-US" sz="950" dirty="0"/>
          </a:p>
          <a:p>
            <a:pPr marL="0" indent="0" algn="l">
              <a:buNone/>
            </a:pPr>
            <a:r>
              <a:rPr lang="en-US" sz="950" dirty="0">
                <a:solidFill>
                  <a:srgbClr val="1A4A6E"/>
                </a:solidFill>
              </a:rPr>
              <a:t>A 62.9% rise that correlates directly with reduced survival days.</a:t>
            </a:r>
            <a:endParaRPr lang="en-US" sz="950" dirty="0"/>
          </a:p>
        </p:txBody>
      </p:sp>
      <p:sp>
        <p:nvSpPr>
          <p:cNvPr id="11" name="Shape 8"/>
          <p:cNvSpPr/>
          <p:nvPr/>
        </p:nvSpPr>
        <p:spPr>
          <a:xfrm>
            <a:off x="4480560" y="2907792"/>
            <a:ext cx="4389120" cy="182880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12" name="Shape 9"/>
          <p:cNvSpPr/>
          <p:nvPr/>
        </p:nvSpPr>
        <p:spPr>
          <a:xfrm>
            <a:off x="4480560" y="2907792"/>
            <a:ext cx="64008" cy="1828800"/>
          </a:xfrm>
          <a:prstGeom prst="rect">
            <a:avLst/>
          </a:prstGeom>
          <a:solidFill>
            <a:srgbClr val="3BCEAC"/>
          </a:solidFill>
          <a:ln w="12700">
            <a:solidFill>
              <a:srgbClr val="3BCEAC"/>
            </a:solidFill>
            <a:prstDash val="solid"/>
          </a:ln>
        </p:spPr>
      </p:sp>
      <p:sp>
        <p:nvSpPr>
          <p:cNvPr id="13" name="Text 10"/>
          <p:cNvSpPr/>
          <p:nvPr/>
        </p:nvSpPr>
        <p:spPr>
          <a:xfrm>
            <a:off x="4709160" y="2999232"/>
            <a:ext cx="4023360" cy="320040"/>
          </a:xfrm>
          <a:prstGeom prst="rect">
            <a:avLst/>
          </a:prstGeom>
          <a:noFill/>
          <a:ln/>
        </p:spPr>
        <p:txBody>
          <a:bodyPr wrap="square" lIns="0" tIns="0" rIns="0" bIns="0" rtlCol="0" anchor="ctr"/>
          <a:lstStyle/>
          <a:p>
            <a:pPr marL="0" indent="0" algn="l">
              <a:buNone/>
            </a:pPr>
            <a:r>
              <a:rPr lang="en-US" sz="1200" b="1" dirty="0">
                <a:solidFill>
                  <a:srgbClr val="1A4A6E"/>
                </a:solidFill>
              </a:rPr>
              <a:t>4-Biomarker Scatter Chart</a:t>
            </a:r>
            <a:endParaRPr lang="en-US" sz="1200" dirty="0"/>
          </a:p>
        </p:txBody>
      </p:sp>
      <p:sp>
        <p:nvSpPr>
          <p:cNvPr id="14" name="Text 11"/>
          <p:cNvSpPr/>
          <p:nvPr/>
        </p:nvSpPr>
        <p:spPr>
          <a:xfrm>
            <a:off x="4709160" y="3364992"/>
            <a:ext cx="4023360" cy="320040"/>
          </a:xfrm>
          <a:prstGeom prst="rect">
            <a:avLst/>
          </a:prstGeom>
          <a:noFill/>
          <a:ln/>
        </p:spPr>
        <p:txBody>
          <a:bodyPr wrap="square" lIns="0" tIns="0" rIns="0" bIns="0" rtlCol="0" anchor="ctr"/>
          <a:lstStyle/>
          <a:p>
            <a:pPr marL="0" indent="0" algn="l">
              <a:buNone/>
            </a:pPr>
            <a:r>
              <a:rPr lang="en-US" sz="900" b="1" dirty="0">
                <a:solidFill>
                  <a:srgbClr val="3BCEAC"/>
                </a:solidFill>
              </a:rPr>
              <a:t>X = Bilirubin  ·  Y = Albumin  ·  Size = Platelets  ·  Color = Stage</a:t>
            </a:r>
            <a:endParaRPr lang="en-US" sz="900" dirty="0"/>
          </a:p>
        </p:txBody>
      </p:sp>
      <p:sp>
        <p:nvSpPr>
          <p:cNvPr id="15" name="Text 12"/>
          <p:cNvSpPr/>
          <p:nvPr/>
        </p:nvSpPr>
        <p:spPr>
          <a:xfrm>
            <a:off x="4709160" y="3703320"/>
            <a:ext cx="3977640" cy="914400"/>
          </a:xfrm>
          <a:prstGeom prst="rect">
            <a:avLst/>
          </a:prstGeom>
          <a:noFill/>
          <a:ln/>
        </p:spPr>
        <p:txBody>
          <a:bodyPr wrap="square" lIns="0" tIns="0" rIns="0" bIns="0" rtlCol="0" anchor="t"/>
          <a:lstStyle/>
          <a:p>
            <a:pPr marL="0" indent="0" algn="l">
              <a:buNone/>
            </a:pPr>
            <a:r>
              <a:rPr lang="en-US" sz="950" dirty="0">
                <a:solidFill>
                  <a:srgbClr val="1A4A6E"/>
                </a:solidFill>
              </a:rPr>
              <a:t>One visual encodes four biomarkers simultaneously.</a:t>
            </a:r>
            <a:endParaRPr lang="en-US" sz="950" dirty="0"/>
          </a:p>
          <a:p>
            <a:pPr marL="0" indent="0" algn="l">
              <a:buNone/>
            </a:pPr>
            <a:r>
              <a:rPr lang="en-US" sz="950" dirty="0">
                <a:solidFill>
                  <a:srgbClr val="1A4A6E"/>
                </a:solidFill>
              </a:rPr>
              <a:t>Stage 1 clusters top-left (healthy) — low bilirubin, high albumin, large dots.</a:t>
            </a:r>
            <a:endParaRPr lang="en-US" sz="950" dirty="0"/>
          </a:p>
          <a:p>
            <a:pPr marL="0" indent="0" algn="l">
              <a:buNone/>
            </a:pPr>
            <a:r>
              <a:rPr lang="en-US" sz="950" dirty="0">
                <a:solidFill>
                  <a:srgbClr val="1A4A6E"/>
                </a:solidFill>
              </a:rPr>
              <a:t>Stage 3 clusters bottom-right — all three markers deteriorating together.</a:t>
            </a:r>
            <a:endParaRPr lang="en-US" sz="950" dirty="0"/>
          </a:p>
          <a:p>
            <a:pPr marL="0" indent="0" algn="l">
              <a:buNone/>
            </a:pPr>
            <a:r>
              <a:rPr lang="en-US" sz="950" dirty="0">
                <a:solidFill>
                  <a:srgbClr val="1A4A6E"/>
                </a:solidFill>
              </a:rPr>
              <a:t>Reference lines at Bilirubin 1.2 and Albumin 3.5 create four clinical quadrants.</a:t>
            </a:r>
            <a:endParaRPr lang="en-US" sz="950" dirty="0"/>
          </a:p>
        </p:txBody>
      </p:sp>
      <p:sp>
        <p:nvSpPr>
          <p:cNvPr id="16" name="Shape 13"/>
          <p:cNvSpPr/>
          <p:nvPr/>
        </p:nvSpPr>
        <p:spPr>
          <a:xfrm>
            <a:off x="0" y="4800600"/>
            <a:ext cx="9144000" cy="342900"/>
          </a:xfrm>
          <a:prstGeom prst="rect">
            <a:avLst/>
          </a:prstGeom>
          <a:solidFill>
            <a:srgbClr val="1A4A6E"/>
          </a:solidFill>
          <a:ln w="12700">
            <a:solidFill>
              <a:srgbClr val="1A4A6E"/>
            </a:solidFill>
            <a:prstDash val="solid"/>
          </a:ln>
        </p:spPr>
      </p:sp>
      <p:sp>
        <p:nvSpPr>
          <p:cNvPr id="17" name="Text 14"/>
          <p:cNvSpPr/>
          <p:nvPr/>
        </p:nvSpPr>
        <p:spPr>
          <a:xfrm>
            <a:off x="274320" y="4800600"/>
            <a:ext cx="8595360" cy="342900"/>
          </a:xfrm>
          <a:prstGeom prst="rect">
            <a:avLst/>
          </a:prstGeom>
          <a:noFill/>
          <a:ln/>
        </p:spPr>
        <p:txBody>
          <a:bodyPr wrap="square" lIns="0" tIns="0" rIns="0" bIns="0" rtlCol="0" anchor="ctr"/>
          <a:lstStyle/>
          <a:p>
            <a:pPr marL="0" indent="0" algn="ctr">
              <a:buNone/>
            </a:pPr>
            <a:r>
              <a:rPr lang="en-US" sz="800" dirty="0">
                <a:solidFill>
                  <a:srgbClr val="A8C5DA"/>
                </a:solidFill>
              </a:rPr>
              <a:t>Liver Cirrhosis Clinical Analysis · Power BI Dashboard Project</a:t>
            </a:r>
            <a:endParaRPr lang="en-US" sz="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E84855"/>
          </a:solidFill>
          <a:ln w="12700">
            <a:solidFill>
              <a:srgbClr val="E84855"/>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lgn="l">
              <a:buNone/>
            </a:pPr>
            <a:r>
              <a:rPr lang="en-US" sz="1800" b="1" kern="0" spc="100" dirty="0">
                <a:solidFill>
                  <a:srgbClr val="FFFFFF"/>
                </a:solidFill>
              </a:rPr>
              <a:t>06 · SURVIVAL OUTCOME &amp; TREATMENT EFFECTIVENESS</a:t>
            </a:r>
            <a:endParaRPr lang="en-US" sz="1800" dirty="0"/>
          </a:p>
        </p:txBody>
      </p:sp>
      <p:sp>
        <p:nvSpPr>
          <p:cNvPr id="4" name="Shape 2"/>
          <p:cNvSpPr/>
          <p:nvPr/>
        </p:nvSpPr>
        <p:spPr>
          <a:xfrm>
            <a:off x="274320" y="1024128"/>
            <a:ext cx="1572768" cy="914400"/>
          </a:xfrm>
          <a:prstGeom prst="rect">
            <a:avLst/>
          </a:prstGeom>
          <a:solidFill>
            <a:srgbClr val="E1F5EE"/>
          </a:solidFill>
          <a:ln w="6350">
            <a:solidFill>
              <a:srgbClr val="D0E4F0"/>
            </a:solidFill>
            <a:prstDash val="solid"/>
          </a:ln>
          <a:effectLst>
            <a:outerShdw blurRad="101600" dist="38100" dir="8100000" algn="bl" rotWithShape="0">
              <a:srgbClr val="000000">
                <a:alpha val="10000"/>
              </a:srgbClr>
            </a:outerShdw>
          </a:effectLst>
        </p:spPr>
      </p:sp>
      <p:sp>
        <p:nvSpPr>
          <p:cNvPr id="5" name="Text 3"/>
          <p:cNvSpPr/>
          <p:nvPr/>
        </p:nvSpPr>
        <p:spPr>
          <a:xfrm>
            <a:off x="320040" y="1069848"/>
            <a:ext cx="1481328" cy="530352"/>
          </a:xfrm>
          <a:prstGeom prst="rect">
            <a:avLst/>
          </a:prstGeom>
          <a:noFill/>
          <a:ln/>
        </p:spPr>
        <p:txBody>
          <a:bodyPr wrap="square" lIns="0" tIns="0" rIns="0" bIns="0" rtlCol="0" anchor="b"/>
          <a:lstStyle/>
          <a:p>
            <a:pPr marL="0" indent="0" algn="ctr">
              <a:buNone/>
            </a:pPr>
            <a:r>
              <a:rPr lang="en-US" sz="2600" b="1" dirty="0">
                <a:solidFill>
                  <a:srgbClr val="3BCEAC"/>
                </a:solidFill>
              </a:rPr>
              <a:t>2,285</a:t>
            </a:r>
            <a:endParaRPr lang="en-US" sz="2600" dirty="0"/>
          </a:p>
        </p:txBody>
      </p:sp>
      <p:sp>
        <p:nvSpPr>
          <p:cNvPr id="6" name="Text 4"/>
          <p:cNvSpPr/>
          <p:nvPr/>
        </p:nvSpPr>
        <p:spPr>
          <a:xfrm>
            <a:off x="320040" y="1554480"/>
            <a:ext cx="1481328" cy="347472"/>
          </a:xfrm>
          <a:prstGeom prst="rect">
            <a:avLst/>
          </a:prstGeom>
          <a:noFill/>
          <a:ln/>
        </p:spPr>
        <p:txBody>
          <a:bodyPr wrap="square" lIns="0" tIns="0" rIns="0" bIns="0" rtlCol="0" anchor="t"/>
          <a:lstStyle/>
          <a:p>
            <a:pPr marL="0" indent="0" algn="ctr">
              <a:buNone/>
            </a:pPr>
            <a:r>
              <a:rPr lang="en-US" sz="900" dirty="0">
                <a:solidFill>
                  <a:srgbClr val="5A7D99"/>
                </a:solidFill>
              </a:rPr>
              <a:t>Stage 1 Avg Days</a:t>
            </a:r>
            <a:endParaRPr lang="en-US" sz="900" dirty="0"/>
          </a:p>
        </p:txBody>
      </p:sp>
      <p:sp>
        <p:nvSpPr>
          <p:cNvPr id="7" name="Shape 5"/>
          <p:cNvSpPr/>
          <p:nvPr/>
        </p:nvSpPr>
        <p:spPr>
          <a:xfrm>
            <a:off x="2011680" y="1024128"/>
            <a:ext cx="1572768" cy="914400"/>
          </a:xfrm>
          <a:prstGeom prst="rect">
            <a:avLst/>
          </a:prstGeom>
          <a:solidFill>
            <a:srgbClr val="FFF3E0"/>
          </a:solidFill>
          <a:ln w="6350">
            <a:solidFill>
              <a:srgbClr val="D0E4F0"/>
            </a:solidFill>
            <a:prstDash val="solid"/>
          </a:ln>
          <a:effectLst>
            <a:outerShdw blurRad="101600" dist="38100" dir="8100000" algn="bl" rotWithShape="0">
              <a:srgbClr val="000000">
                <a:alpha val="10000"/>
              </a:srgbClr>
            </a:outerShdw>
          </a:effectLst>
        </p:spPr>
      </p:sp>
      <p:sp>
        <p:nvSpPr>
          <p:cNvPr id="8" name="Text 6"/>
          <p:cNvSpPr/>
          <p:nvPr/>
        </p:nvSpPr>
        <p:spPr>
          <a:xfrm>
            <a:off x="2057400" y="1069848"/>
            <a:ext cx="1481328" cy="530352"/>
          </a:xfrm>
          <a:prstGeom prst="rect">
            <a:avLst/>
          </a:prstGeom>
          <a:noFill/>
          <a:ln/>
        </p:spPr>
        <p:txBody>
          <a:bodyPr wrap="square" lIns="0" tIns="0" rIns="0" bIns="0" rtlCol="0" anchor="b"/>
          <a:lstStyle/>
          <a:p>
            <a:pPr marL="0" indent="0" algn="ctr">
              <a:buNone/>
            </a:pPr>
            <a:r>
              <a:rPr lang="en-US" sz="2600" b="1" dirty="0">
                <a:solidFill>
                  <a:srgbClr val="F4A261"/>
                </a:solidFill>
              </a:rPr>
              <a:t>1,923</a:t>
            </a:r>
            <a:endParaRPr lang="en-US" sz="2600" dirty="0"/>
          </a:p>
        </p:txBody>
      </p:sp>
      <p:sp>
        <p:nvSpPr>
          <p:cNvPr id="9" name="Text 7"/>
          <p:cNvSpPr/>
          <p:nvPr/>
        </p:nvSpPr>
        <p:spPr>
          <a:xfrm>
            <a:off x="2057400" y="1554480"/>
            <a:ext cx="1481328" cy="347472"/>
          </a:xfrm>
          <a:prstGeom prst="rect">
            <a:avLst/>
          </a:prstGeom>
          <a:noFill/>
          <a:ln/>
        </p:spPr>
        <p:txBody>
          <a:bodyPr wrap="square" lIns="0" tIns="0" rIns="0" bIns="0" rtlCol="0" anchor="t"/>
          <a:lstStyle/>
          <a:p>
            <a:pPr marL="0" indent="0" algn="ctr">
              <a:buNone/>
            </a:pPr>
            <a:r>
              <a:rPr lang="en-US" sz="900" dirty="0">
                <a:solidFill>
                  <a:srgbClr val="5A7D99"/>
                </a:solidFill>
              </a:rPr>
              <a:t>Stage 2 Avg Days</a:t>
            </a:r>
            <a:endParaRPr lang="en-US" sz="900" dirty="0"/>
          </a:p>
        </p:txBody>
      </p:sp>
      <p:sp>
        <p:nvSpPr>
          <p:cNvPr id="10" name="Shape 8"/>
          <p:cNvSpPr/>
          <p:nvPr/>
        </p:nvSpPr>
        <p:spPr>
          <a:xfrm>
            <a:off x="3749040" y="1024128"/>
            <a:ext cx="1572768" cy="914400"/>
          </a:xfrm>
          <a:prstGeom prst="rect">
            <a:avLst/>
          </a:prstGeom>
          <a:solidFill>
            <a:srgbClr val="FCEBEB"/>
          </a:solidFill>
          <a:ln w="6350">
            <a:solidFill>
              <a:srgbClr val="D0E4F0"/>
            </a:solidFill>
            <a:prstDash val="solid"/>
          </a:ln>
          <a:effectLst>
            <a:outerShdw blurRad="101600" dist="38100" dir="8100000" algn="bl" rotWithShape="0">
              <a:srgbClr val="000000">
                <a:alpha val="10000"/>
              </a:srgbClr>
            </a:outerShdw>
          </a:effectLst>
        </p:spPr>
      </p:sp>
      <p:sp>
        <p:nvSpPr>
          <p:cNvPr id="11" name="Text 9"/>
          <p:cNvSpPr/>
          <p:nvPr/>
        </p:nvSpPr>
        <p:spPr>
          <a:xfrm>
            <a:off x="3794760" y="1069848"/>
            <a:ext cx="1481328" cy="530352"/>
          </a:xfrm>
          <a:prstGeom prst="rect">
            <a:avLst/>
          </a:prstGeom>
          <a:noFill/>
          <a:ln/>
        </p:spPr>
        <p:txBody>
          <a:bodyPr wrap="square" lIns="0" tIns="0" rIns="0" bIns="0" rtlCol="0" anchor="b"/>
          <a:lstStyle/>
          <a:p>
            <a:pPr marL="0" indent="0" algn="ctr">
              <a:buNone/>
            </a:pPr>
            <a:r>
              <a:rPr lang="en-US" sz="2600" b="1" dirty="0">
                <a:solidFill>
                  <a:srgbClr val="E84855"/>
                </a:solidFill>
              </a:rPr>
              <a:t>1,455</a:t>
            </a:r>
            <a:endParaRPr lang="en-US" sz="2600" dirty="0"/>
          </a:p>
        </p:txBody>
      </p:sp>
      <p:sp>
        <p:nvSpPr>
          <p:cNvPr id="12" name="Text 10"/>
          <p:cNvSpPr/>
          <p:nvPr/>
        </p:nvSpPr>
        <p:spPr>
          <a:xfrm>
            <a:off x="3794760" y="1554480"/>
            <a:ext cx="1481328" cy="347472"/>
          </a:xfrm>
          <a:prstGeom prst="rect">
            <a:avLst/>
          </a:prstGeom>
          <a:noFill/>
          <a:ln/>
        </p:spPr>
        <p:txBody>
          <a:bodyPr wrap="square" lIns="0" tIns="0" rIns="0" bIns="0" rtlCol="0" anchor="t"/>
          <a:lstStyle/>
          <a:p>
            <a:pPr marL="0" indent="0" algn="ctr">
              <a:buNone/>
            </a:pPr>
            <a:r>
              <a:rPr lang="en-US" sz="900" dirty="0">
                <a:solidFill>
                  <a:srgbClr val="5A7D99"/>
                </a:solidFill>
              </a:rPr>
              <a:t>Stage 3 Avg Days</a:t>
            </a:r>
            <a:endParaRPr lang="en-US" sz="900" dirty="0"/>
          </a:p>
        </p:txBody>
      </p:sp>
      <p:sp>
        <p:nvSpPr>
          <p:cNvPr id="13" name="Shape 11"/>
          <p:cNvSpPr/>
          <p:nvPr/>
        </p:nvSpPr>
        <p:spPr>
          <a:xfrm>
            <a:off x="5486400" y="1024128"/>
            <a:ext cx="1572768" cy="914400"/>
          </a:xfrm>
          <a:prstGeom prst="rect">
            <a:avLst/>
          </a:prstGeom>
          <a:solidFill>
            <a:srgbClr val="FCEBEB"/>
          </a:solidFill>
          <a:ln w="6350">
            <a:solidFill>
              <a:srgbClr val="D0E4F0"/>
            </a:solidFill>
            <a:prstDash val="solid"/>
          </a:ln>
          <a:effectLst>
            <a:outerShdw blurRad="101600" dist="38100" dir="8100000" algn="bl" rotWithShape="0">
              <a:srgbClr val="000000">
                <a:alpha val="10000"/>
              </a:srgbClr>
            </a:outerShdw>
          </a:effectLst>
        </p:spPr>
      </p:sp>
      <p:sp>
        <p:nvSpPr>
          <p:cNvPr id="14" name="Text 12"/>
          <p:cNvSpPr/>
          <p:nvPr/>
        </p:nvSpPr>
        <p:spPr>
          <a:xfrm>
            <a:off x="5532120" y="1069848"/>
            <a:ext cx="1481328" cy="530352"/>
          </a:xfrm>
          <a:prstGeom prst="rect">
            <a:avLst/>
          </a:prstGeom>
          <a:noFill/>
          <a:ln/>
        </p:spPr>
        <p:txBody>
          <a:bodyPr wrap="square" lIns="0" tIns="0" rIns="0" bIns="0" rtlCol="0" anchor="b"/>
          <a:lstStyle/>
          <a:p>
            <a:pPr marL="0" indent="0" algn="ctr">
              <a:buNone/>
            </a:pPr>
            <a:r>
              <a:rPr lang="en-US" sz="2600" b="1" dirty="0">
                <a:solidFill>
                  <a:srgbClr val="E84855"/>
                </a:solidFill>
              </a:rPr>
              <a:t>-830</a:t>
            </a:r>
            <a:endParaRPr lang="en-US" sz="2600" dirty="0"/>
          </a:p>
        </p:txBody>
      </p:sp>
      <p:sp>
        <p:nvSpPr>
          <p:cNvPr id="15" name="Text 13"/>
          <p:cNvSpPr/>
          <p:nvPr/>
        </p:nvSpPr>
        <p:spPr>
          <a:xfrm>
            <a:off x="5532120" y="1554480"/>
            <a:ext cx="1481328" cy="347472"/>
          </a:xfrm>
          <a:prstGeom prst="rect">
            <a:avLst/>
          </a:prstGeom>
          <a:noFill/>
          <a:ln/>
        </p:spPr>
        <p:txBody>
          <a:bodyPr wrap="square" lIns="0" tIns="0" rIns="0" bIns="0" rtlCol="0" anchor="t"/>
          <a:lstStyle/>
          <a:p>
            <a:pPr marL="0" indent="0" algn="ctr">
              <a:buNone/>
            </a:pPr>
            <a:r>
              <a:rPr lang="en-US" sz="900" dirty="0">
                <a:solidFill>
                  <a:srgbClr val="5A7D99"/>
                </a:solidFill>
              </a:rPr>
              <a:t>S3 vs S1 Loss</a:t>
            </a:r>
            <a:endParaRPr lang="en-US" sz="900" dirty="0"/>
          </a:p>
        </p:txBody>
      </p:sp>
      <p:sp>
        <p:nvSpPr>
          <p:cNvPr id="16" name="Shape 14"/>
          <p:cNvSpPr/>
          <p:nvPr/>
        </p:nvSpPr>
        <p:spPr>
          <a:xfrm>
            <a:off x="7223760" y="1024128"/>
            <a:ext cx="1572768" cy="914400"/>
          </a:xfrm>
          <a:prstGeom prst="rect">
            <a:avLst/>
          </a:prstGeom>
          <a:solidFill>
            <a:srgbClr val="FCEBEB"/>
          </a:solidFill>
          <a:ln w="6350">
            <a:solidFill>
              <a:srgbClr val="D0E4F0"/>
            </a:solidFill>
            <a:prstDash val="solid"/>
          </a:ln>
          <a:effectLst>
            <a:outerShdw blurRad="101600" dist="38100" dir="8100000" algn="bl" rotWithShape="0">
              <a:srgbClr val="000000">
                <a:alpha val="10000"/>
              </a:srgbClr>
            </a:outerShdw>
          </a:effectLst>
        </p:spPr>
      </p:sp>
      <p:sp>
        <p:nvSpPr>
          <p:cNvPr id="17" name="Text 15"/>
          <p:cNvSpPr/>
          <p:nvPr/>
        </p:nvSpPr>
        <p:spPr>
          <a:xfrm>
            <a:off x="7269480" y="1069848"/>
            <a:ext cx="1481328" cy="530352"/>
          </a:xfrm>
          <a:prstGeom prst="rect">
            <a:avLst/>
          </a:prstGeom>
          <a:noFill/>
          <a:ln/>
        </p:spPr>
        <p:txBody>
          <a:bodyPr wrap="square" lIns="0" tIns="0" rIns="0" bIns="0" rtlCol="0" anchor="b"/>
          <a:lstStyle/>
          <a:p>
            <a:pPr marL="0" indent="0" algn="ctr">
              <a:buNone/>
            </a:pPr>
            <a:r>
              <a:rPr lang="en-US" sz="2600" b="1" dirty="0">
                <a:solidFill>
                  <a:srgbClr val="E84855"/>
                </a:solidFill>
              </a:rPr>
              <a:t>36.3%</a:t>
            </a:r>
            <a:endParaRPr lang="en-US" sz="2600" dirty="0"/>
          </a:p>
        </p:txBody>
      </p:sp>
      <p:sp>
        <p:nvSpPr>
          <p:cNvPr id="18" name="Text 16"/>
          <p:cNvSpPr/>
          <p:nvPr/>
        </p:nvSpPr>
        <p:spPr>
          <a:xfrm>
            <a:off x="7269480" y="1554480"/>
            <a:ext cx="1481328" cy="347472"/>
          </a:xfrm>
          <a:prstGeom prst="rect">
            <a:avLst/>
          </a:prstGeom>
          <a:noFill/>
          <a:ln/>
        </p:spPr>
        <p:txBody>
          <a:bodyPr wrap="square" lIns="0" tIns="0" rIns="0" bIns="0" rtlCol="0" anchor="t"/>
          <a:lstStyle/>
          <a:p>
            <a:pPr marL="0" indent="0" algn="ctr">
              <a:buNone/>
            </a:pPr>
            <a:r>
              <a:rPr lang="en-US" sz="900" dirty="0">
                <a:solidFill>
                  <a:srgbClr val="5A7D99"/>
                </a:solidFill>
              </a:rPr>
              <a:t>Survival Reduction</a:t>
            </a:r>
            <a:endParaRPr lang="en-US" sz="900" dirty="0"/>
          </a:p>
        </p:txBody>
      </p:sp>
      <p:sp>
        <p:nvSpPr>
          <p:cNvPr id="19" name="Shape 17"/>
          <p:cNvSpPr/>
          <p:nvPr/>
        </p:nvSpPr>
        <p:spPr>
          <a:xfrm>
            <a:off x="274320" y="2084832"/>
            <a:ext cx="4206240" cy="265176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20" name="Shape 18"/>
          <p:cNvSpPr/>
          <p:nvPr/>
        </p:nvSpPr>
        <p:spPr>
          <a:xfrm>
            <a:off x="274320" y="2084832"/>
            <a:ext cx="64008" cy="2651760"/>
          </a:xfrm>
          <a:prstGeom prst="rect">
            <a:avLst/>
          </a:prstGeom>
          <a:solidFill>
            <a:srgbClr val="E84855"/>
          </a:solidFill>
          <a:ln w="12700">
            <a:solidFill>
              <a:srgbClr val="E84855"/>
            </a:solidFill>
            <a:prstDash val="solid"/>
          </a:ln>
        </p:spPr>
      </p:sp>
      <p:sp>
        <p:nvSpPr>
          <p:cNvPr id="21" name="Text 19"/>
          <p:cNvSpPr/>
          <p:nvPr/>
        </p:nvSpPr>
        <p:spPr>
          <a:xfrm>
            <a:off x="502920" y="2176272"/>
            <a:ext cx="3931920" cy="320040"/>
          </a:xfrm>
          <a:prstGeom prst="rect">
            <a:avLst/>
          </a:prstGeom>
          <a:noFill/>
          <a:ln/>
        </p:spPr>
        <p:txBody>
          <a:bodyPr wrap="square" lIns="0" tIns="0" rIns="0" bIns="0" rtlCol="0" anchor="ctr"/>
          <a:lstStyle/>
          <a:p>
            <a:pPr marL="0" indent="0" algn="l">
              <a:buNone/>
            </a:pPr>
            <a:r>
              <a:rPr lang="en-US" sz="1200" b="1" dirty="0">
                <a:solidFill>
                  <a:srgbClr val="1A4A6E"/>
                </a:solidFill>
              </a:rPr>
              <a:t>Survival Analysis Findings</a:t>
            </a:r>
            <a:endParaRPr lang="en-US" sz="1200" dirty="0"/>
          </a:p>
        </p:txBody>
      </p:sp>
      <p:sp>
        <p:nvSpPr>
          <p:cNvPr id="22" name="Text 20"/>
          <p:cNvSpPr/>
          <p:nvPr/>
        </p:nvSpPr>
        <p:spPr>
          <a:xfrm>
            <a:off x="502920" y="2606040"/>
            <a:ext cx="3840480" cy="411480"/>
          </a:xfrm>
          <a:prstGeom prst="rect">
            <a:avLst/>
          </a:prstGeom>
          <a:noFill/>
          <a:ln/>
        </p:spPr>
        <p:txBody>
          <a:bodyPr wrap="square" lIns="0" tIns="0" rIns="0" bIns="0" rtlCol="0" anchor="t"/>
          <a:lstStyle/>
          <a:p>
            <a:pPr marL="342900" indent="-342900" algn="l">
              <a:buSzPct val="100000"/>
              <a:buChar char="•"/>
            </a:pPr>
            <a:r>
              <a:rPr lang="en-US" sz="950" dirty="0">
                <a:solidFill>
                  <a:srgbClr val="1A4A6E"/>
                </a:solidFill>
              </a:rPr>
              <a:t>Mortality doubles: 22.6% (S1) → 36.1% (S2) → 54.7% (S3)</a:t>
            </a:r>
            <a:endParaRPr lang="en-US" sz="950" dirty="0"/>
          </a:p>
        </p:txBody>
      </p:sp>
      <p:sp>
        <p:nvSpPr>
          <p:cNvPr id="23" name="Text 21"/>
          <p:cNvSpPr/>
          <p:nvPr/>
        </p:nvSpPr>
        <p:spPr>
          <a:xfrm>
            <a:off x="502920" y="3035808"/>
            <a:ext cx="3840480" cy="411480"/>
          </a:xfrm>
          <a:prstGeom prst="rect">
            <a:avLst/>
          </a:prstGeom>
          <a:noFill/>
          <a:ln/>
        </p:spPr>
        <p:txBody>
          <a:bodyPr wrap="square" lIns="0" tIns="0" rIns="0" bIns="0" rtlCol="0" anchor="t"/>
          <a:lstStyle/>
          <a:p>
            <a:pPr marL="342900" indent="-342900" algn="l">
              <a:buSzPct val="100000"/>
              <a:buChar char="•"/>
            </a:pPr>
            <a:r>
              <a:rPr lang="en-US" sz="950" dirty="0">
                <a:solidFill>
                  <a:srgbClr val="1A4A6E"/>
                </a:solidFill>
              </a:rPr>
              <a:t>Age 65+ patients: </a:t>
            </a:r>
            <a:r>
              <a:rPr lang="en-US" sz="950" dirty="0" smtClean="0">
                <a:solidFill>
                  <a:srgbClr val="1A4A6E"/>
                </a:solidFill>
              </a:rPr>
              <a:t>51</a:t>
            </a:r>
            <a:r>
              <a:rPr lang="en-US" sz="950" dirty="0" smtClean="0">
                <a:solidFill>
                  <a:srgbClr val="1A4A6E"/>
                </a:solidFill>
              </a:rPr>
              <a:t>.6% </a:t>
            </a:r>
            <a:r>
              <a:rPr lang="en-US" sz="950" dirty="0">
                <a:solidFill>
                  <a:srgbClr val="1A4A6E"/>
                </a:solidFill>
              </a:rPr>
              <a:t>mortality </a:t>
            </a:r>
            <a:r>
              <a:rPr lang="en-US" sz="950" dirty="0" smtClean="0">
                <a:solidFill>
                  <a:srgbClr val="1A4A6E"/>
                </a:solidFill>
              </a:rPr>
              <a:t>versus </a:t>
            </a:r>
            <a:r>
              <a:rPr lang="en-US" sz="950" dirty="0" smtClean="0">
                <a:solidFill>
                  <a:srgbClr val="1A4A6E"/>
                </a:solidFill>
              </a:rPr>
              <a:t>27.7% </a:t>
            </a:r>
            <a:r>
              <a:rPr lang="en-US" sz="950" dirty="0">
                <a:solidFill>
                  <a:srgbClr val="1A4A6E"/>
                </a:solidFill>
              </a:rPr>
              <a:t>for under 40</a:t>
            </a:r>
            <a:endParaRPr lang="en-US" sz="950" dirty="0"/>
          </a:p>
        </p:txBody>
      </p:sp>
      <p:sp>
        <p:nvSpPr>
          <p:cNvPr id="24" name="Text 22"/>
          <p:cNvSpPr/>
          <p:nvPr/>
        </p:nvSpPr>
        <p:spPr>
          <a:xfrm>
            <a:off x="502920" y="3465576"/>
            <a:ext cx="3840480" cy="411480"/>
          </a:xfrm>
          <a:prstGeom prst="rect">
            <a:avLst/>
          </a:prstGeom>
          <a:noFill/>
          <a:ln/>
        </p:spPr>
        <p:txBody>
          <a:bodyPr wrap="square" lIns="0" tIns="0" rIns="0" bIns="0" rtlCol="0" anchor="t"/>
          <a:lstStyle/>
          <a:p>
            <a:pPr marL="342900" indent="-342900" algn="l">
              <a:buSzPct val="100000"/>
              <a:buChar char="•"/>
            </a:pPr>
            <a:r>
              <a:rPr lang="en-US" sz="950" dirty="0">
                <a:solidFill>
                  <a:srgbClr val="1A4A6E"/>
                </a:solidFill>
              </a:rPr>
              <a:t>Bilirubin rise of 79% correlates with 830-day survival loss</a:t>
            </a:r>
            <a:endParaRPr lang="en-US" sz="950" dirty="0"/>
          </a:p>
        </p:txBody>
      </p:sp>
      <p:sp>
        <p:nvSpPr>
          <p:cNvPr id="25" name="Text 23"/>
          <p:cNvSpPr/>
          <p:nvPr/>
        </p:nvSpPr>
        <p:spPr>
          <a:xfrm>
            <a:off x="502920" y="3895344"/>
            <a:ext cx="3840480" cy="45719"/>
          </a:xfrm>
          <a:prstGeom prst="rect">
            <a:avLst/>
          </a:prstGeom>
          <a:noFill/>
          <a:ln/>
        </p:spPr>
        <p:txBody>
          <a:bodyPr wrap="square" lIns="0" tIns="0" rIns="0" bIns="0" rtlCol="0" anchor="t"/>
          <a:lstStyle/>
          <a:p>
            <a:pPr algn="l">
              <a:buSzPct val="100000"/>
            </a:pPr>
            <a:endParaRPr lang="en-US" sz="950" dirty="0"/>
          </a:p>
        </p:txBody>
      </p:sp>
      <p:sp>
        <p:nvSpPr>
          <p:cNvPr id="26" name="Text 24"/>
          <p:cNvSpPr/>
          <p:nvPr/>
        </p:nvSpPr>
        <p:spPr>
          <a:xfrm>
            <a:off x="502920" y="3918202"/>
            <a:ext cx="3840480" cy="818389"/>
          </a:xfrm>
          <a:prstGeom prst="rect">
            <a:avLst/>
          </a:prstGeom>
          <a:noFill/>
          <a:ln/>
        </p:spPr>
        <p:txBody>
          <a:bodyPr wrap="square" lIns="0" tIns="0" rIns="0" bIns="0" rtlCol="0" anchor="t"/>
          <a:lstStyle/>
          <a:p>
            <a:pPr marL="342900" indent="-342900" algn="l">
              <a:buSzPct val="100000"/>
              <a:buChar char="•"/>
            </a:pPr>
            <a:r>
              <a:rPr lang="en-US" sz="950" dirty="0">
                <a:solidFill>
                  <a:srgbClr val="1A4A6E"/>
                </a:solidFill>
              </a:rPr>
              <a:t>Status breakdown: 54.1% Censored · 37.8% Deceased · 8.1% Transplant</a:t>
            </a:r>
            <a:endParaRPr lang="en-US" sz="950" dirty="0"/>
          </a:p>
        </p:txBody>
      </p:sp>
      <p:sp>
        <p:nvSpPr>
          <p:cNvPr id="27" name="Shape 25"/>
          <p:cNvSpPr/>
          <p:nvPr/>
        </p:nvSpPr>
        <p:spPr>
          <a:xfrm>
            <a:off x="4754880" y="2084832"/>
            <a:ext cx="4114800" cy="265176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28" name="Shape 26"/>
          <p:cNvSpPr/>
          <p:nvPr/>
        </p:nvSpPr>
        <p:spPr>
          <a:xfrm>
            <a:off x="4754880" y="2084832"/>
            <a:ext cx="64008" cy="2651760"/>
          </a:xfrm>
          <a:prstGeom prst="rect">
            <a:avLst/>
          </a:prstGeom>
          <a:solidFill>
            <a:srgbClr val="2E86AB"/>
          </a:solidFill>
          <a:ln w="12700">
            <a:solidFill>
              <a:srgbClr val="2E86AB"/>
            </a:solidFill>
            <a:prstDash val="solid"/>
          </a:ln>
        </p:spPr>
      </p:sp>
      <p:sp>
        <p:nvSpPr>
          <p:cNvPr id="29" name="Text 27"/>
          <p:cNvSpPr/>
          <p:nvPr/>
        </p:nvSpPr>
        <p:spPr>
          <a:xfrm>
            <a:off x="4983480" y="2176272"/>
            <a:ext cx="3840480" cy="320040"/>
          </a:xfrm>
          <a:prstGeom prst="rect">
            <a:avLst/>
          </a:prstGeom>
          <a:noFill/>
          <a:ln/>
        </p:spPr>
        <p:txBody>
          <a:bodyPr wrap="square" lIns="0" tIns="0" rIns="0" bIns="0" rtlCol="0" anchor="ctr"/>
          <a:lstStyle/>
          <a:p>
            <a:pPr marL="0" indent="0" algn="l">
              <a:buNone/>
            </a:pPr>
            <a:r>
              <a:rPr lang="en-US" sz="1200" b="1" dirty="0">
                <a:solidFill>
                  <a:srgbClr val="1A4A6E"/>
                </a:solidFill>
              </a:rPr>
              <a:t>Treatment Effectiveness</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754880" y="2633472"/>
          <a:ext cx="4114800" cy="1874520"/>
        </p:xfrm>
        <a:graphic>
          <a:graphicData uri="http://schemas.openxmlformats.org/drawingml/2006/table">
            <a:tbl>
              <a:tblPr/>
              <a:tblGrid>
                <a:gridCol w="1645920"/>
                <a:gridCol w="1234440"/>
                <a:gridCol w="1234440"/>
              </a:tblGrid>
              <a:tr h="312420">
                <a:tc>
                  <a:txBody>
                    <a:bodyPr/>
                    <a:lstStyle/>
                    <a:p>
                      <a:pPr marL="0" indent="0">
                        <a:buNone/>
                      </a:pP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E86AB"/>
                    </a:solidFill>
                  </a:tcPr>
                </a:tc>
                <a:tc>
                  <a:txBody>
                    <a:bodyPr/>
                    <a:lstStyle/>
                    <a:p>
                      <a:pPr marL="0" indent="0">
                        <a:buNone/>
                      </a:pPr>
                      <a:r>
                        <a:rPr lang="en-US" sz="900" b="1" dirty="0">
                          <a:solidFill>
                            <a:srgbClr val="FFFFFF"/>
                          </a:solidFill>
                        </a:rPr>
                        <a:t>Drug</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E86AB"/>
                    </a:solidFill>
                  </a:tcPr>
                </a:tc>
                <a:tc>
                  <a:txBody>
                    <a:bodyPr/>
                    <a:lstStyle/>
                    <a:p>
                      <a:pPr marL="0" indent="0">
                        <a:buNone/>
                      </a:pPr>
                      <a:r>
                        <a:rPr lang="en-US" sz="900" b="1" dirty="0">
                          <a:solidFill>
                            <a:srgbClr val="FFFFFF"/>
                          </a:solidFill>
                        </a:rPr>
                        <a:t>Placebo</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E86AB"/>
                    </a:solidFill>
                  </a:tcPr>
                </a:tc>
              </a:tr>
              <a:tr h="312420">
                <a:tc>
                  <a:txBody>
                    <a:bodyPr/>
                    <a:lstStyle/>
                    <a:p>
                      <a:pPr marL="0" indent="0">
                        <a:buNone/>
                      </a:pPr>
                      <a:r>
                        <a:rPr lang="en-US" sz="900" b="1" dirty="0">
                          <a:solidFill>
                            <a:srgbClr val="1A4A6E"/>
                          </a:solidFill>
                        </a:rPr>
                        <a:t>Stage 1 Avg</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00" dirty="0">
                          <a:solidFill>
                            <a:srgbClr val="0F6E56"/>
                          </a:solidFill>
                        </a:rPr>
                        <a:t>2,508d</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00" dirty="0">
                          <a:solidFill>
                            <a:srgbClr val="A32D2D"/>
                          </a:solidFill>
                        </a:rPr>
                        <a:t>2,131d</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r>
              <a:tr h="312420">
                <a:tc>
                  <a:txBody>
                    <a:bodyPr/>
                    <a:lstStyle/>
                    <a:p>
                      <a:pPr marL="0" indent="0">
                        <a:buNone/>
                      </a:pPr>
                      <a:r>
                        <a:rPr lang="en-US" sz="900" b="1" dirty="0">
                          <a:solidFill>
                            <a:srgbClr val="1A4A6E"/>
                          </a:solidFill>
                        </a:rPr>
                        <a:t>Stage 2 Avg</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00" dirty="0">
                          <a:solidFill>
                            <a:srgbClr val="0F6E56"/>
                          </a:solidFill>
                        </a:rPr>
                        <a:t>2,093d</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00" dirty="0">
                          <a:solidFill>
                            <a:srgbClr val="A32D2D"/>
                          </a:solidFill>
                        </a:rPr>
                        <a:t>1,841d</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r>
              <a:tr h="312420">
                <a:tc>
                  <a:txBody>
                    <a:bodyPr/>
                    <a:lstStyle/>
                    <a:p>
                      <a:pPr marL="0" indent="0">
                        <a:buNone/>
                      </a:pPr>
                      <a:r>
                        <a:rPr lang="en-US" sz="900" b="1" dirty="0">
                          <a:solidFill>
                            <a:srgbClr val="1A4A6E"/>
                          </a:solidFill>
                        </a:rPr>
                        <a:t>Stage 3 Avg</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00" dirty="0">
                          <a:solidFill>
                            <a:srgbClr val="1A4A6E"/>
                          </a:solidFill>
                        </a:rPr>
                        <a:t>1,411d</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00" dirty="0">
                          <a:solidFill>
                            <a:srgbClr val="1A4A6E"/>
                          </a:solidFill>
                        </a:rPr>
                        <a:t>1,480d</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r>
              <a:tr h="312420">
                <a:tc>
                  <a:txBody>
                    <a:bodyPr/>
                    <a:lstStyle/>
                    <a:p>
                      <a:pPr marL="0" indent="0">
                        <a:buNone/>
                      </a:pPr>
                      <a:r>
                        <a:rPr lang="en-US" sz="900" b="1" dirty="0">
                          <a:solidFill>
                            <a:srgbClr val="1A4A6E"/>
                          </a:solidFill>
                        </a:rPr>
                        <a:t>Mortality</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00" dirty="0">
                          <a:solidFill>
                            <a:srgbClr val="1A4A6E"/>
                          </a:solidFill>
                        </a:rPr>
                        <a:t>37.6%</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c>
                  <a:txBody>
                    <a:bodyPr/>
                    <a:lstStyle/>
                    <a:p>
                      <a:pPr marL="0" indent="0">
                        <a:buNone/>
                      </a:pPr>
                      <a:r>
                        <a:rPr lang="en-US" sz="900" dirty="0">
                          <a:solidFill>
                            <a:srgbClr val="1A4A6E"/>
                          </a:solidFill>
                        </a:rPr>
                        <a:t>37.9%</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5F8FB"/>
                    </a:solidFill>
                  </a:tcPr>
                </a:tc>
              </a:tr>
              <a:tr h="312420">
                <a:tc>
                  <a:txBody>
                    <a:bodyPr/>
                    <a:lstStyle/>
                    <a:p>
                      <a:pPr marL="0" indent="0">
                        <a:buNone/>
                      </a:pPr>
                      <a:r>
                        <a:rPr lang="en-US" sz="900" b="1" dirty="0">
                          <a:solidFill>
                            <a:srgbClr val="1A4A6E"/>
                          </a:solidFill>
                        </a:rPr>
                        <a:t>Bilirubin</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00" dirty="0">
                          <a:solidFill>
                            <a:srgbClr val="1A4A6E"/>
                          </a:solidFill>
                        </a:rPr>
                        <a:t>3.11</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buNone/>
                      </a:pPr>
                      <a:r>
                        <a:rPr lang="en-US" sz="900" dirty="0">
                          <a:solidFill>
                            <a:srgbClr val="1A4A6E"/>
                          </a:solidFill>
                        </a:rPr>
                        <a:t>3.57</a:t>
                      </a:r>
                      <a:endParaRPr lang="en-US" sz="900" dirty="0"/>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r>
            </a:tbl>
          </a:graphicData>
        </a:graphic>
      </p:graphicFrame>
      <p:sp>
        <p:nvSpPr>
          <p:cNvPr id="31" name="Shape 28"/>
          <p:cNvSpPr/>
          <p:nvPr/>
        </p:nvSpPr>
        <p:spPr>
          <a:xfrm>
            <a:off x="274320" y="4736592"/>
            <a:ext cx="8595360" cy="274320"/>
          </a:xfrm>
          <a:prstGeom prst="rect">
            <a:avLst/>
          </a:prstGeom>
          <a:solidFill>
            <a:srgbClr val="1A4A6E"/>
          </a:solidFill>
          <a:ln w="12700">
            <a:solidFill>
              <a:srgbClr val="1A4A6E"/>
            </a:solidFill>
            <a:prstDash val="solid"/>
          </a:ln>
        </p:spPr>
      </p:sp>
      <p:sp>
        <p:nvSpPr>
          <p:cNvPr id="32" name="Text 29"/>
          <p:cNvSpPr/>
          <p:nvPr/>
        </p:nvSpPr>
        <p:spPr>
          <a:xfrm>
            <a:off x="457200" y="4736592"/>
            <a:ext cx="8321040" cy="274320"/>
          </a:xfrm>
          <a:prstGeom prst="rect">
            <a:avLst/>
          </a:prstGeom>
          <a:noFill/>
          <a:ln/>
        </p:spPr>
        <p:txBody>
          <a:bodyPr wrap="square" lIns="0" tIns="0" rIns="0" bIns="0" rtlCol="0" anchor="ctr"/>
          <a:lstStyle/>
          <a:p>
            <a:pPr marL="0" indent="0" algn="ctr">
              <a:buNone/>
            </a:pPr>
            <a:r>
              <a:rPr lang="en-US" sz="850" b="1" dirty="0">
                <a:solidFill>
                  <a:srgbClr val="3BCEAC"/>
                </a:solidFill>
              </a:rPr>
              <a:t>KEY FINDING: Drug delivers +377 days at Stage 1 — but this benefit disappears entirely at Stage 3. Early treatment is the critical intervention window.</a:t>
            </a:r>
            <a:endParaRPr lang="en-US" sz="850" dirty="0"/>
          </a:p>
        </p:txBody>
      </p:sp>
      <p:sp>
        <p:nvSpPr>
          <p:cNvPr id="33" name="Shape 30"/>
          <p:cNvSpPr/>
          <p:nvPr/>
        </p:nvSpPr>
        <p:spPr>
          <a:xfrm>
            <a:off x="0" y="4800600"/>
            <a:ext cx="9144000" cy="342900"/>
          </a:xfrm>
          <a:prstGeom prst="rect">
            <a:avLst/>
          </a:prstGeom>
          <a:solidFill>
            <a:srgbClr val="1A4A6E"/>
          </a:solidFill>
          <a:ln w="12700">
            <a:solidFill>
              <a:srgbClr val="1A4A6E"/>
            </a:solidFill>
            <a:prstDash val="solid"/>
          </a:ln>
        </p:spPr>
      </p:sp>
      <p:sp>
        <p:nvSpPr>
          <p:cNvPr id="34" name="Text 31"/>
          <p:cNvSpPr/>
          <p:nvPr/>
        </p:nvSpPr>
        <p:spPr>
          <a:xfrm>
            <a:off x="274320" y="4800600"/>
            <a:ext cx="8595360" cy="342900"/>
          </a:xfrm>
          <a:prstGeom prst="rect">
            <a:avLst/>
          </a:prstGeom>
          <a:noFill/>
          <a:ln/>
        </p:spPr>
        <p:txBody>
          <a:bodyPr wrap="square" lIns="0" tIns="0" rIns="0" bIns="0" rtlCol="0" anchor="ctr"/>
          <a:lstStyle/>
          <a:p>
            <a:pPr marL="0" indent="0" algn="ctr">
              <a:buNone/>
            </a:pPr>
            <a:r>
              <a:rPr lang="en-US" sz="800" dirty="0">
                <a:solidFill>
                  <a:srgbClr val="A8C5DA"/>
                </a:solidFill>
              </a:rPr>
              <a:t>Liver Cirrhosis Clinical Analysis · Power BI Dashboard Project</a:t>
            </a:r>
            <a:endParaRPr lang="en-US" sz="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4A6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E45"/>
          </a:solidFill>
          <a:ln w="12700">
            <a:solidFill>
              <a:srgbClr val="0D2E45"/>
            </a:solidFill>
            <a:prstDash val="solid"/>
          </a:ln>
        </p:spPr>
      </p:sp>
      <p:sp>
        <p:nvSpPr>
          <p:cNvPr id="3" name="Text 1"/>
          <p:cNvSpPr/>
          <p:nvPr/>
        </p:nvSpPr>
        <p:spPr>
          <a:xfrm>
            <a:off x="457200" y="0"/>
            <a:ext cx="4572000" cy="822960"/>
          </a:xfrm>
          <a:prstGeom prst="rect">
            <a:avLst/>
          </a:prstGeom>
          <a:noFill/>
          <a:ln/>
        </p:spPr>
        <p:txBody>
          <a:bodyPr wrap="square" lIns="0" tIns="0" rIns="0" bIns="0" rtlCol="0" anchor="ctr"/>
          <a:lstStyle/>
          <a:p>
            <a:pPr marL="0" indent="0" algn="l">
              <a:buNone/>
            </a:pPr>
            <a:r>
              <a:rPr lang="en-US" sz="1800" b="1" kern="0" spc="100" dirty="0">
                <a:solidFill>
                  <a:srgbClr val="FFFFFF"/>
                </a:solidFill>
              </a:rPr>
              <a:t>07 · KEY INSIGHTS</a:t>
            </a:r>
            <a:endParaRPr lang="en-US" sz="1800" dirty="0"/>
          </a:p>
        </p:txBody>
      </p:sp>
      <p:sp>
        <p:nvSpPr>
          <p:cNvPr id="4" name="Text 2"/>
          <p:cNvSpPr/>
          <p:nvPr/>
        </p:nvSpPr>
        <p:spPr>
          <a:xfrm>
            <a:off x="5029200" y="0"/>
            <a:ext cx="3840480" cy="822960"/>
          </a:xfrm>
          <a:prstGeom prst="rect">
            <a:avLst/>
          </a:prstGeom>
          <a:noFill/>
          <a:ln/>
        </p:spPr>
        <p:txBody>
          <a:bodyPr wrap="square" lIns="0" tIns="0" rIns="0" bIns="0" rtlCol="0" anchor="ctr"/>
          <a:lstStyle/>
          <a:p>
            <a:pPr marL="0" indent="0" algn="r">
              <a:buNone/>
            </a:pPr>
            <a:r>
              <a:rPr lang="en-US" sz="1000" dirty="0">
                <a:solidFill>
                  <a:srgbClr val="A8C5DA"/>
                </a:solidFill>
              </a:rPr>
              <a:t>6 headline findings from all 8 dashboards</a:t>
            </a:r>
            <a:endParaRPr lang="en-US" sz="1000" dirty="0"/>
          </a:p>
        </p:txBody>
      </p:sp>
      <p:sp>
        <p:nvSpPr>
          <p:cNvPr id="5" name="Shape 3"/>
          <p:cNvSpPr/>
          <p:nvPr/>
        </p:nvSpPr>
        <p:spPr>
          <a:xfrm>
            <a:off x="228600" y="960120"/>
            <a:ext cx="2816352" cy="1828800"/>
          </a:xfrm>
          <a:prstGeom prst="rect">
            <a:avLst/>
          </a:prstGeom>
          <a:solidFill>
            <a:srgbClr val="FFFFFF">
              <a:alpha val="8000"/>
            </a:srgbClr>
          </a:solidFill>
          <a:ln w="15240">
            <a:solidFill>
              <a:srgbClr val="2E86AB"/>
            </a:solidFill>
            <a:prstDash val="solid"/>
          </a:ln>
          <a:effectLst>
            <a:outerShdw blurRad="101600" dist="38100" dir="8100000" algn="bl" rotWithShape="0">
              <a:srgbClr val="000000">
                <a:alpha val="10000"/>
              </a:srgbClr>
            </a:outerShdw>
          </a:effectLst>
        </p:spPr>
      </p:sp>
      <p:sp>
        <p:nvSpPr>
          <p:cNvPr id="6" name="Shape 4"/>
          <p:cNvSpPr/>
          <p:nvPr/>
        </p:nvSpPr>
        <p:spPr>
          <a:xfrm>
            <a:off x="228600" y="960120"/>
            <a:ext cx="2816352" cy="292608"/>
          </a:xfrm>
          <a:prstGeom prst="rect">
            <a:avLst/>
          </a:prstGeom>
          <a:solidFill>
            <a:srgbClr val="2E86AB"/>
          </a:solidFill>
          <a:ln w="12700">
            <a:solidFill>
              <a:srgbClr val="2E86AB"/>
            </a:solidFill>
            <a:prstDash val="solid"/>
          </a:ln>
        </p:spPr>
      </p:sp>
      <p:sp>
        <p:nvSpPr>
          <p:cNvPr id="7" name="Text 5"/>
          <p:cNvSpPr/>
          <p:nvPr/>
        </p:nvSpPr>
        <p:spPr>
          <a:xfrm>
            <a:off x="320040" y="978408"/>
            <a:ext cx="2679192" cy="256032"/>
          </a:xfrm>
          <a:prstGeom prst="rect">
            <a:avLst/>
          </a:prstGeom>
          <a:noFill/>
          <a:ln/>
        </p:spPr>
        <p:txBody>
          <a:bodyPr wrap="square" lIns="0" tIns="0" rIns="0" bIns="0" rtlCol="0" anchor="ctr"/>
          <a:lstStyle/>
          <a:p>
            <a:pPr marL="0" indent="0" algn="l">
              <a:buNone/>
            </a:pPr>
            <a:r>
              <a:rPr lang="en-US" sz="800" b="1" kern="0" spc="50" dirty="0">
                <a:solidFill>
                  <a:srgbClr val="FFFFFF"/>
                </a:solidFill>
              </a:rPr>
              <a:t>01 · Demographics</a:t>
            </a:r>
            <a:endParaRPr lang="en-US" sz="800" dirty="0"/>
          </a:p>
        </p:txBody>
      </p:sp>
      <p:sp>
        <p:nvSpPr>
          <p:cNvPr id="8" name="Text 6"/>
          <p:cNvSpPr/>
          <p:nvPr/>
        </p:nvSpPr>
        <p:spPr>
          <a:xfrm>
            <a:off x="338328" y="1307592"/>
            <a:ext cx="2633472" cy="502920"/>
          </a:xfrm>
          <a:prstGeom prst="rect">
            <a:avLst/>
          </a:prstGeom>
          <a:noFill/>
          <a:ln/>
        </p:spPr>
        <p:txBody>
          <a:bodyPr wrap="square" lIns="0" tIns="0" rIns="0" bIns="0" rtlCol="0" anchor="ctr"/>
          <a:lstStyle/>
          <a:p>
            <a:pPr marL="0" indent="0" algn="l">
              <a:buNone/>
            </a:pPr>
            <a:r>
              <a:rPr lang="en-US" sz="1500" b="1" dirty="0">
                <a:solidFill>
                  <a:srgbClr val="FFFFFF"/>
                </a:solidFill>
              </a:rPr>
              <a:t>88.5% Female</a:t>
            </a:r>
            <a:endParaRPr lang="en-US" sz="1500" dirty="0"/>
          </a:p>
        </p:txBody>
      </p:sp>
      <p:sp>
        <p:nvSpPr>
          <p:cNvPr id="9" name="Text 7"/>
          <p:cNvSpPr/>
          <p:nvPr/>
        </p:nvSpPr>
        <p:spPr>
          <a:xfrm>
            <a:off x="338328" y="1837944"/>
            <a:ext cx="2633472" cy="868680"/>
          </a:xfrm>
          <a:prstGeom prst="rect">
            <a:avLst/>
          </a:prstGeom>
          <a:noFill/>
          <a:ln/>
        </p:spPr>
        <p:txBody>
          <a:bodyPr wrap="square" lIns="0" tIns="0" rIns="0" bIns="0" rtlCol="0" anchor="t"/>
          <a:lstStyle/>
          <a:p>
            <a:pPr marL="0" indent="0" algn="l">
              <a:buNone/>
            </a:pPr>
            <a:r>
              <a:rPr lang="en-US" sz="900" dirty="0">
                <a:solidFill>
                  <a:srgbClr val="C8DFF0"/>
                </a:solidFill>
              </a:rPr>
              <a:t>9:1 ratio · Age 26–78 · Mean 50.3 · Equal stage split (≈33%)</a:t>
            </a:r>
            <a:endParaRPr lang="en-US" sz="900" dirty="0"/>
          </a:p>
        </p:txBody>
      </p:sp>
      <p:sp>
        <p:nvSpPr>
          <p:cNvPr id="10" name="Shape 8"/>
          <p:cNvSpPr/>
          <p:nvPr/>
        </p:nvSpPr>
        <p:spPr>
          <a:xfrm>
            <a:off x="3200400" y="960120"/>
            <a:ext cx="2816352" cy="1828800"/>
          </a:xfrm>
          <a:prstGeom prst="rect">
            <a:avLst/>
          </a:prstGeom>
          <a:solidFill>
            <a:srgbClr val="FFFFFF">
              <a:alpha val="8000"/>
            </a:srgbClr>
          </a:solidFill>
          <a:ln w="15240">
            <a:solidFill>
              <a:srgbClr val="F4A261"/>
            </a:solidFill>
            <a:prstDash val="solid"/>
          </a:ln>
          <a:effectLst>
            <a:outerShdw blurRad="101600" dist="38100" dir="8100000" algn="bl" rotWithShape="0">
              <a:srgbClr val="000000">
                <a:alpha val="10000"/>
              </a:srgbClr>
            </a:outerShdw>
          </a:effectLst>
        </p:spPr>
      </p:sp>
      <p:sp>
        <p:nvSpPr>
          <p:cNvPr id="11" name="Shape 9"/>
          <p:cNvSpPr/>
          <p:nvPr/>
        </p:nvSpPr>
        <p:spPr>
          <a:xfrm>
            <a:off x="3200400" y="960120"/>
            <a:ext cx="2816352" cy="292608"/>
          </a:xfrm>
          <a:prstGeom prst="rect">
            <a:avLst/>
          </a:prstGeom>
          <a:solidFill>
            <a:srgbClr val="F4A261"/>
          </a:solidFill>
          <a:ln w="12700">
            <a:solidFill>
              <a:srgbClr val="F4A261"/>
            </a:solidFill>
            <a:prstDash val="solid"/>
          </a:ln>
        </p:spPr>
      </p:sp>
      <p:sp>
        <p:nvSpPr>
          <p:cNvPr id="12" name="Text 10"/>
          <p:cNvSpPr/>
          <p:nvPr/>
        </p:nvSpPr>
        <p:spPr>
          <a:xfrm>
            <a:off x="3291840" y="978408"/>
            <a:ext cx="2679192" cy="256032"/>
          </a:xfrm>
          <a:prstGeom prst="rect">
            <a:avLst/>
          </a:prstGeom>
          <a:noFill/>
          <a:ln/>
        </p:spPr>
        <p:txBody>
          <a:bodyPr wrap="square" lIns="0" tIns="0" rIns="0" bIns="0" rtlCol="0" anchor="ctr"/>
          <a:lstStyle/>
          <a:p>
            <a:pPr marL="0" indent="0" algn="l">
              <a:buNone/>
            </a:pPr>
            <a:r>
              <a:rPr lang="en-US" sz="800" b="1" kern="0" spc="50" dirty="0">
                <a:solidFill>
                  <a:srgbClr val="FFFFFF"/>
                </a:solidFill>
              </a:rPr>
              <a:t>02 · Symptom Progression</a:t>
            </a:r>
            <a:endParaRPr lang="en-US" sz="800" dirty="0"/>
          </a:p>
        </p:txBody>
      </p:sp>
      <p:sp>
        <p:nvSpPr>
          <p:cNvPr id="13" name="Text 11"/>
          <p:cNvSpPr/>
          <p:nvPr/>
        </p:nvSpPr>
        <p:spPr>
          <a:xfrm>
            <a:off x="3310128" y="1307592"/>
            <a:ext cx="2633472" cy="502920"/>
          </a:xfrm>
          <a:prstGeom prst="rect">
            <a:avLst/>
          </a:prstGeom>
          <a:noFill/>
          <a:ln/>
        </p:spPr>
        <p:txBody>
          <a:bodyPr wrap="square" lIns="0" tIns="0" rIns="0" bIns="0" rtlCol="0" anchor="ctr"/>
          <a:lstStyle/>
          <a:p>
            <a:pPr marL="0" indent="0" algn="l">
              <a:buNone/>
            </a:pPr>
            <a:r>
              <a:rPr lang="en-US" sz="1500" b="1" dirty="0">
                <a:solidFill>
                  <a:srgbClr val="FFFFFF"/>
                </a:solidFill>
              </a:rPr>
              <a:t>60.4% Hepatomegaly</a:t>
            </a:r>
            <a:endParaRPr lang="en-US" sz="1500" dirty="0"/>
          </a:p>
        </p:txBody>
      </p:sp>
      <p:sp>
        <p:nvSpPr>
          <p:cNvPr id="14" name="Text 12"/>
          <p:cNvSpPr/>
          <p:nvPr/>
        </p:nvSpPr>
        <p:spPr>
          <a:xfrm>
            <a:off x="3310128" y="1837944"/>
            <a:ext cx="2633472" cy="868680"/>
          </a:xfrm>
          <a:prstGeom prst="rect">
            <a:avLst/>
          </a:prstGeom>
          <a:noFill/>
          <a:ln/>
        </p:spPr>
        <p:txBody>
          <a:bodyPr wrap="square" lIns="0" tIns="0" rIns="0" bIns="0" rtlCol="0" anchor="t"/>
          <a:lstStyle/>
          <a:p>
            <a:pPr marL="0" indent="0" algn="l">
              <a:buNone/>
            </a:pPr>
            <a:r>
              <a:rPr lang="en-US" sz="900" dirty="0">
                <a:solidFill>
                  <a:srgbClr val="C8DFF0"/>
                </a:solidFill>
              </a:rPr>
              <a:t>18.1% at S1 → 60.4% at S3 · Severe edema = 90.8% mortality</a:t>
            </a:r>
            <a:endParaRPr lang="en-US" sz="900" dirty="0"/>
          </a:p>
        </p:txBody>
      </p:sp>
      <p:sp>
        <p:nvSpPr>
          <p:cNvPr id="15" name="Shape 13"/>
          <p:cNvSpPr/>
          <p:nvPr/>
        </p:nvSpPr>
        <p:spPr>
          <a:xfrm>
            <a:off x="6172200" y="960120"/>
            <a:ext cx="2816352" cy="1828800"/>
          </a:xfrm>
          <a:prstGeom prst="rect">
            <a:avLst/>
          </a:prstGeom>
          <a:solidFill>
            <a:srgbClr val="FFFFFF">
              <a:alpha val="8000"/>
            </a:srgbClr>
          </a:solidFill>
          <a:ln w="15240">
            <a:solidFill>
              <a:srgbClr val="E84855"/>
            </a:solidFill>
            <a:prstDash val="solid"/>
          </a:ln>
          <a:effectLst>
            <a:outerShdw blurRad="101600" dist="38100" dir="8100000" algn="bl" rotWithShape="0">
              <a:srgbClr val="000000">
                <a:alpha val="10000"/>
              </a:srgbClr>
            </a:outerShdw>
          </a:effectLst>
        </p:spPr>
      </p:sp>
      <p:sp>
        <p:nvSpPr>
          <p:cNvPr id="16" name="Shape 14"/>
          <p:cNvSpPr/>
          <p:nvPr/>
        </p:nvSpPr>
        <p:spPr>
          <a:xfrm>
            <a:off x="6172200" y="960120"/>
            <a:ext cx="2816352" cy="292608"/>
          </a:xfrm>
          <a:prstGeom prst="rect">
            <a:avLst/>
          </a:prstGeom>
          <a:solidFill>
            <a:srgbClr val="E84855"/>
          </a:solidFill>
          <a:ln w="12700">
            <a:solidFill>
              <a:srgbClr val="E84855"/>
            </a:solidFill>
            <a:prstDash val="solid"/>
          </a:ln>
        </p:spPr>
      </p:sp>
      <p:sp>
        <p:nvSpPr>
          <p:cNvPr id="17" name="Text 15"/>
          <p:cNvSpPr/>
          <p:nvPr/>
        </p:nvSpPr>
        <p:spPr>
          <a:xfrm>
            <a:off x="6263640" y="978408"/>
            <a:ext cx="2679192" cy="256032"/>
          </a:xfrm>
          <a:prstGeom prst="rect">
            <a:avLst/>
          </a:prstGeom>
          <a:noFill/>
          <a:ln/>
        </p:spPr>
        <p:txBody>
          <a:bodyPr wrap="square" lIns="0" tIns="0" rIns="0" bIns="0" rtlCol="0" anchor="ctr"/>
          <a:lstStyle/>
          <a:p>
            <a:pPr marL="0" indent="0" algn="l">
              <a:buNone/>
            </a:pPr>
            <a:r>
              <a:rPr lang="en-US" sz="800" b="1" kern="0" spc="50" dirty="0">
                <a:solidFill>
                  <a:srgbClr val="FFFFFF"/>
                </a:solidFill>
              </a:rPr>
              <a:t>03 · Survival Outcomes</a:t>
            </a:r>
            <a:endParaRPr lang="en-US" sz="800" dirty="0"/>
          </a:p>
        </p:txBody>
      </p:sp>
      <p:sp>
        <p:nvSpPr>
          <p:cNvPr id="18" name="Text 16"/>
          <p:cNvSpPr/>
          <p:nvPr/>
        </p:nvSpPr>
        <p:spPr>
          <a:xfrm>
            <a:off x="6281928" y="1307592"/>
            <a:ext cx="2633472" cy="502920"/>
          </a:xfrm>
          <a:prstGeom prst="rect">
            <a:avLst/>
          </a:prstGeom>
          <a:noFill/>
          <a:ln/>
        </p:spPr>
        <p:txBody>
          <a:bodyPr wrap="square" lIns="0" tIns="0" rIns="0" bIns="0" rtlCol="0" anchor="ctr"/>
          <a:lstStyle/>
          <a:p>
            <a:pPr marL="0" indent="0" algn="l">
              <a:buNone/>
            </a:pPr>
            <a:r>
              <a:rPr lang="en-US" sz="1500" b="1" dirty="0">
                <a:solidFill>
                  <a:srgbClr val="FFFFFF"/>
                </a:solidFill>
              </a:rPr>
              <a:t>−830 Days at Stage 3</a:t>
            </a:r>
            <a:endParaRPr lang="en-US" sz="1500" dirty="0"/>
          </a:p>
        </p:txBody>
      </p:sp>
      <p:sp>
        <p:nvSpPr>
          <p:cNvPr id="19" name="Text 17"/>
          <p:cNvSpPr/>
          <p:nvPr/>
        </p:nvSpPr>
        <p:spPr>
          <a:xfrm>
            <a:off x="6281928" y="1837944"/>
            <a:ext cx="2633472" cy="868680"/>
          </a:xfrm>
          <a:prstGeom prst="rect">
            <a:avLst/>
          </a:prstGeom>
          <a:noFill/>
          <a:ln/>
        </p:spPr>
        <p:txBody>
          <a:bodyPr wrap="square" lIns="0" tIns="0" rIns="0" bIns="0" rtlCol="0" anchor="t"/>
          <a:lstStyle/>
          <a:p>
            <a:pPr marL="0" indent="0" algn="l">
              <a:buNone/>
            </a:pPr>
            <a:r>
              <a:rPr lang="en-US" sz="900" dirty="0">
                <a:solidFill>
                  <a:srgbClr val="C8DFF0"/>
                </a:solidFill>
              </a:rPr>
              <a:t>Mortality doubles: 22.6% → 54.7% · Age 65+: 49.7% mortality</a:t>
            </a:r>
            <a:endParaRPr lang="en-US" sz="900" dirty="0"/>
          </a:p>
        </p:txBody>
      </p:sp>
      <p:sp>
        <p:nvSpPr>
          <p:cNvPr id="20" name="Shape 18"/>
          <p:cNvSpPr/>
          <p:nvPr/>
        </p:nvSpPr>
        <p:spPr>
          <a:xfrm>
            <a:off x="228600" y="2953512"/>
            <a:ext cx="2816352" cy="1828800"/>
          </a:xfrm>
          <a:prstGeom prst="rect">
            <a:avLst/>
          </a:prstGeom>
          <a:solidFill>
            <a:srgbClr val="FFFFFF">
              <a:alpha val="8000"/>
            </a:srgbClr>
          </a:solidFill>
          <a:ln w="15240">
            <a:solidFill>
              <a:srgbClr val="3BCEAC"/>
            </a:solidFill>
            <a:prstDash val="solid"/>
          </a:ln>
          <a:effectLst>
            <a:outerShdw blurRad="101600" dist="38100" dir="8100000" algn="bl" rotWithShape="0">
              <a:srgbClr val="000000">
                <a:alpha val="10000"/>
              </a:srgbClr>
            </a:outerShdw>
          </a:effectLst>
        </p:spPr>
      </p:sp>
      <p:sp>
        <p:nvSpPr>
          <p:cNvPr id="21" name="Shape 19"/>
          <p:cNvSpPr/>
          <p:nvPr/>
        </p:nvSpPr>
        <p:spPr>
          <a:xfrm>
            <a:off x="228600" y="2953512"/>
            <a:ext cx="2816352" cy="292608"/>
          </a:xfrm>
          <a:prstGeom prst="rect">
            <a:avLst/>
          </a:prstGeom>
          <a:solidFill>
            <a:srgbClr val="3BCEAC"/>
          </a:solidFill>
          <a:ln w="12700">
            <a:solidFill>
              <a:srgbClr val="3BCEAC"/>
            </a:solidFill>
            <a:prstDash val="solid"/>
          </a:ln>
        </p:spPr>
      </p:sp>
      <p:sp>
        <p:nvSpPr>
          <p:cNvPr id="22" name="Text 20"/>
          <p:cNvSpPr/>
          <p:nvPr/>
        </p:nvSpPr>
        <p:spPr>
          <a:xfrm>
            <a:off x="320040" y="2971800"/>
            <a:ext cx="2679192" cy="256032"/>
          </a:xfrm>
          <a:prstGeom prst="rect">
            <a:avLst/>
          </a:prstGeom>
          <a:noFill/>
          <a:ln/>
        </p:spPr>
        <p:txBody>
          <a:bodyPr wrap="square" lIns="0" tIns="0" rIns="0" bIns="0" rtlCol="0" anchor="ctr"/>
          <a:lstStyle/>
          <a:p>
            <a:pPr marL="0" indent="0" algn="l">
              <a:buNone/>
            </a:pPr>
            <a:r>
              <a:rPr lang="en-US" sz="800" b="1" kern="0" spc="50" dirty="0">
                <a:solidFill>
                  <a:srgbClr val="FFFFFF"/>
                </a:solidFill>
              </a:rPr>
              <a:t>04 · Biomarker Analysis</a:t>
            </a:r>
            <a:endParaRPr lang="en-US" sz="800" dirty="0"/>
          </a:p>
        </p:txBody>
      </p:sp>
      <p:sp>
        <p:nvSpPr>
          <p:cNvPr id="23" name="Text 21"/>
          <p:cNvSpPr/>
          <p:nvPr/>
        </p:nvSpPr>
        <p:spPr>
          <a:xfrm>
            <a:off x="338328" y="3300984"/>
            <a:ext cx="2633472" cy="502920"/>
          </a:xfrm>
          <a:prstGeom prst="rect">
            <a:avLst/>
          </a:prstGeom>
          <a:noFill/>
          <a:ln/>
        </p:spPr>
        <p:txBody>
          <a:bodyPr wrap="square" lIns="0" tIns="0" rIns="0" bIns="0" rtlCol="0" anchor="ctr"/>
          <a:lstStyle/>
          <a:p>
            <a:pPr marL="0" indent="0" algn="l">
              <a:buNone/>
            </a:pPr>
            <a:r>
              <a:rPr lang="en-US" sz="1500" b="1" dirty="0">
                <a:solidFill>
                  <a:srgbClr val="FFFFFF"/>
                </a:solidFill>
              </a:rPr>
              <a:t>+79% Bilirubin</a:t>
            </a:r>
            <a:endParaRPr lang="en-US" sz="1500" dirty="0"/>
          </a:p>
        </p:txBody>
      </p:sp>
      <p:sp>
        <p:nvSpPr>
          <p:cNvPr id="24" name="Text 22"/>
          <p:cNvSpPr/>
          <p:nvPr/>
        </p:nvSpPr>
        <p:spPr>
          <a:xfrm>
            <a:off x="338328" y="3831336"/>
            <a:ext cx="2633472" cy="868680"/>
          </a:xfrm>
          <a:prstGeom prst="rect">
            <a:avLst/>
          </a:prstGeom>
          <a:noFill/>
          <a:ln/>
        </p:spPr>
        <p:txBody>
          <a:bodyPr wrap="square" lIns="0" tIns="0" rIns="0" bIns="0" rtlCol="0" anchor="t"/>
          <a:lstStyle/>
          <a:p>
            <a:pPr marL="0" indent="0" algn="l">
              <a:buNone/>
            </a:pPr>
            <a:r>
              <a:rPr lang="en-US" sz="900" dirty="0">
                <a:solidFill>
                  <a:srgbClr val="C8DFF0"/>
                </a:solidFill>
              </a:rPr>
              <a:t>All biomarkers breach normal at S3 · Platelets −21%</a:t>
            </a:r>
            <a:endParaRPr lang="en-US" sz="900" dirty="0"/>
          </a:p>
        </p:txBody>
      </p:sp>
      <p:sp>
        <p:nvSpPr>
          <p:cNvPr id="25" name="Shape 23"/>
          <p:cNvSpPr/>
          <p:nvPr/>
        </p:nvSpPr>
        <p:spPr>
          <a:xfrm>
            <a:off x="3200400" y="2953512"/>
            <a:ext cx="2816352" cy="1828800"/>
          </a:xfrm>
          <a:prstGeom prst="rect">
            <a:avLst/>
          </a:prstGeom>
          <a:solidFill>
            <a:srgbClr val="FFFFFF">
              <a:alpha val="8000"/>
            </a:srgbClr>
          </a:solidFill>
          <a:ln w="15240">
            <a:solidFill>
              <a:srgbClr val="533AB7"/>
            </a:solidFill>
            <a:prstDash val="solid"/>
          </a:ln>
          <a:effectLst>
            <a:outerShdw blurRad="101600" dist="38100" dir="8100000" algn="bl" rotWithShape="0">
              <a:srgbClr val="000000">
                <a:alpha val="10000"/>
              </a:srgbClr>
            </a:outerShdw>
          </a:effectLst>
        </p:spPr>
      </p:sp>
      <p:sp>
        <p:nvSpPr>
          <p:cNvPr id="26" name="Shape 24"/>
          <p:cNvSpPr/>
          <p:nvPr/>
        </p:nvSpPr>
        <p:spPr>
          <a:xfrm>
            <a:off x="3200400" y="2953512"/>
            <a:ext cx="2816352" cy="292608"/>
          </a:xfrm>
          <a:prstGeom prst="rect">
            <a:avLst/>
          </a:prstGeom>
          <a:solidFill>
            <a:srgbClr val="533AB7"/>
          </a:solidFill>
          <a:ln w="12700">
            <a:solidFill>
              <a:srgbClr val="533AB7"/>
            </a:solidFill>
            <a:prstDash val="solid"/>
          </a:ln>
        </p:spPr>
      </p:sp>
      <p:sp>
        <p:nvSpPr>
          <p:cNvPr id="27" name="Text 25"/>
          <p:cNvSpPr/>
          <p:nvPr/>
        </p:nvSpPr>
        <p:spPr>
          <a:xfrm>
            <a:off x="3291840" y="2971800"/>
            <a:ext cx="2679192" cy="256032"/>
          </a:xfrm>
          <a:prstGeom prst="rect">
            <a:avLst/>
          </a:prstGeom>
          <a:noFill/>
          <a:ln/>
        </p:spPr>
        <p:txBody>
          <a:bodyPr wrap="square" lIns="0" tIns="0" rIns="0" bIns="0" rtlCol="0" anchor="ctr"/>
          <a:lstStyle/>
          <a:p>
            <a:pPr marL="0" indent="0" algn="l">
              <a:buNone/>
            </a:pPr>
            <a:r>
              <a:rPr lang="en-US" sz="800" b="1" kern="0" spc="50" dirty="0">
                <a:solidFill>
                  <a:srgbClr val="FFFFFF"/>
                </a:solidFill>
              </a:rPr>
              <a:t>05 · Severity Score</a:t>
            </a:r>
            <a:endParaRPr lang="en-US" sz="800" dirty="0"/>
          </a:p>
        </p:txBody>
      </p:sp>
      <p:sp>
        <p:nvSpPr>
          <p:cNvPr id="28" name="Text 26"/>
          <p:cNvSpPr/>
          <p:nvPr/>
        </p:nvSpPr>
        <p:spPr>
          <a:xfrm>
            <a:off x="3310128" y="3300984"/>
            <a:ext cx="2633472" cy="502920"/>
          </a:xfrm>
          <a:prstGeom prst="rect">
            <a:avLst/>
          </a:prstGeom>
          <a:noFill/>
          <a:ln/>
        </p:spPr>
        <p:txBody>
          <a:bodyPr wrap="square" lIns="0" tIns="0" rIns="0" bIns="0" rtlCol="0" anchor="ctr"/>
          <a:lstStyle/>
          <a:p>
            <a:pPr marL="0" indent="0" algn="l">
              <a:buNone/>
            </a:pPr>
            <a:r>
              <a:rPr lang="en-US" sz="1500" b="1" dirty="0">
                <a:solidFill>
                  <a:srgbClr val="FFFFFF"/>
                </a:solidFill>
              </a:rPr>
              <a:t>4.45 → 7.25 (+62.9%)</a:t>
            </a:r>
            <a:endParaRPr lang="en-US" sz="1500" dirty="0"/>
          </a:p>
        </p:txBody>
      </p:sp>
      <p:sp>
        <p:nvSpPr>
          <p:cNvPr id="29" name="Text 27"/>
          <p:cNvSpPr/>
          <p:nvPr/>
        </p:nvSpPr>
        <p:spPr>
          <a:xfrm>
            <a:off x="3310128" y="3831336"/>
            <a:ext cx="2633472" cy="868680"/>
          </a:xfrm>
          <a:prstGeom prst="rect">
            <a:avLst/>
          </a:prstGeom>
          <a:noFill/>
          <a:ln/>
        </p:spPr>
        <p:txBody>
          <a:bodyPr wrap="square" lIns="0" tIns="0" rIns="0" bIns="0" rtlCol="0" anchor="t"/>
          <a:lstStyle/>
          <a:p>
            <a:pPr marL="0" indent="0" algn="l">
              <a:buNone/>
            </a:pPr>
            <a:r>
              <a:rPr lang="en-US" sz="900" dirty="0">
                <a:solidFill>
                  <a:srgbClr val="C8DFF0"/>
                </a:solidFill>
              </a:rPr>
              <a:t>MELD-inspired index · Rises with disease · Predicts survival</a:t>
            </a:r>
            <a:endParaRPr lang="en-US" sz="900" dirty="0"/>
          </a:p>
        </p:txBody>
      </p:sp>
      <p:sp>
        <p:nvSpPr>
          <p:cNvPr id="30" name="Shape 28"/>
          <p:cNvSpPr/>
          <p:nvPr/>
        </p:nvSpPr>
        <p:spPr>
          <a:xfrm>
            <a:off x="6172200" y="2953512"/>
            <a:ext cx="2816352" cy="1828800"/>
          </a:xfrm>
          <a:prstGeom prst="rect">
            <a:avLst/>
          </a:prstGeom>
          <a:solidFill>
            <a:srgbClr val="FFFFFF">
              <a:alpha val="8000"/>
            </a:srgbClr>
          </a:solidFill>
          <a:ln w="15240">
            <a:solidFill>
              <a:srgbClr val="2E86AB"/>
            </a:solidFill>
            <a:prstDash val="solid"/>
          </a:ln>
          <a:effectLst>
            <a:outerShdw blurRad="101600" dist="38100" dir="8100000" algn="bl" rotWithShape="0">
              <a:srgbClr val="000000">
                <a:alpha val="10000"/>
              </a:srgbClr>
            </a:outerShdw>
          </a:effectLst>
        </p:spPr>
      </p:sp>
      <p:sp>
        <p:nvSpPr>
          <p:cNvPr id="31" name="Shape 29"/>
          <p:cNvSpPr/>
          <p:nvPr/>
        </p:nvSpPr>
        <p:spPr>
          <a:xfrm>
            <a:off x="6172200" y="2953512"/>
            <a:ext cx="2816352" cy="292608"/>
          </a:xfrm>
          <a:prstGeom prst="rect">
            <a:avLst/>
          </a:prstGeom>
          <a:solidFill>
            <a:srgbClr val="2E86AB"/>
          </a:solidFill>
          <a:ln w="12700">
            <a:solidFill>
              <a:srgbClr val="2E86AB"/>
            </a:solidFill>
            <a:prstDash val="solid"/>
          </a:ln>
        </p:spPr>
      </p:sp>
      <p:sp>
        <p:nvSpPr>
          <p:cNvPr id="32" name="Text 30"/>
          <p:cNvSpPr/>
          <p:nvPr/>
        </p:nvSpPr>
        <p:spPr>
          <a:xfrm>
            <a:off x="6263640" y="2971800"/>
            <a:ext cx="2679192" cy="256032"/>
          </a:xfrm>
          <a:prstGeom prst="rect">
            <a:avLst/>
          </a:prstGeom>
          <a:noFill/>
          <a:ln/>
        </p:spPr>
        <p:txBody>
          <a:bodyPr wrap="square" lIns="0" tIns="0" rIns="0" bIns="0" rtlCol="0" anchor="ctr"/>
          <a:lstStyle/>
          <a:p>
            <a:pPr marL="0" indent="0" algn="l">
              <a:buNone/>
            </a:pPr>
            <a:r>
              <a:rPr lang="en-US" sz="800" b="1" kern="0" spc="50" dirty="0">
                <a:solidFill>
                  <a:srgbClr val="FFFFFF"/>
                </a:solidFill>
              </a:rPr>
              <a:t>06 · Treatment</a:t>
            </a:r>
            <a:endParaRPr lang="en-US" sz="800" dirty="0"/>
          </a:p>
        </p:txBody>
      </p:sp>
      <p:sp>
        <p:nvSpPr>
          <p:cNvPr id="33" name="Text 31"/>
          <p:cNvSpPr/>
          <p:nvPr/>
        </p:nvSpPr>
        <p:spPr>
          <a:xfrm>
            <a:off x="6281928" y="3300984"/>
            <a:ext cx="2633472" cy="502920"/>
          </a:xfrm>
          <a:prstGeom prst="rect">
            <a:avLst/>
          </a:prstGeom>
          <a:noFill/>
          <a:ln/>
        </p:spPr>
        <p:txBody>
          <a:bodyPr wrap="square" lIns="0" tIns="0" rIns="0" bIns="0" rtlCol="0" anchor="ctr"/>
          <a:lstStyle/>
          <a:p>
            <a:pPr marL="0" indent="0" algn="l">
              <a:buNone/>
            </a:pPr>
            <a:r>
              <a:rPr lang="en-US" sz="1500" b="1" dirty="0">
                <a:solidFill>
                  <a:srgbClr val="FFFFFF"/>
                </a:solidFill>
              </a:rPr>
              <a:t>+377 Days at Stage 1</a:t>
            </a:r>
            <a:endParaRPr lang="en-US" sz="1500" dirty="0"/>
          </a:p>
        </p:txBody>
      </p:sp>
      <p:sp>
        <p:nvSpPr>
          <p:cNvPr id="34" name="Text 32"/>
          <p:cNvSpPr/>
          <p:nvPr/>
        </p:nvSpPr>
        <p:spPr>
          <a:xfrm>
            <a:off x="6281928" y="3831336"/>
            <a:ext cx="2633472" cy="868680"/>
          </a:xfrm>
          <a:prstGeom prst="rect">
            <a:avLst/>
          </a:prstGeom>
          <a:noFill/>
          <a:ln/>
        </p:spPr>
        <p:txBody>
          <a:bodyPr wrap="square" lIns="0" tIns="0" rIns="0" bIns="0" rtlCol="0" anchor="t"/>
          <a:lstStyle/>
          <a:p>
            <a:pPr marL="0" indent="0" algn="l">
              <a:buNone/>
            </a:pPr>
            <a:r>
              <a:rPr lang="en-US" sz="900" dirty="0">
                <a:solidFill>
                  <a:srgbClr val="C8DFF0"/>
                </a:solidFill>
              </a:rPr>
              <a:t>D-penicillamine benefit disappears at S3 · Early tx is key</a:t>
            </a:r>
            <a:endParaRPr lang="en-US" sz="900" dirty="0"/>
          </a:p>
        </p:txBody>
      </p:sp>
      <p:sp>
        <p:nvSpPr>
          <p:cNvPr id="35" name="Shape 33"/>
          <p:cNvSpPr/>
          <p:nvPr/>
        </p:nvSpPr>
        <p:spPr>
          <a:xfrm>
            <a:off x="0" y="4800600"/>
            <a:ext cx="9144000" cy="342900"/>
          </a:xfrm>
          <a:prstGeom prst="rect">
            <a:avLst/>
          </a:prstGeom>
          <a:solidFill>
            <a:srgbClr val="1A4A6E"/>
          </a:solidFill>
          <a:ln w="12700">
            <a:solidFill>
              <a:srgbClr val="1A4A6E"/>
            </a:solidFill>
            <a:prstDash val="solid"/>
          </a:ln>
        </p:spPr>
      </p:sp>
      <p:sp>
        <p:nvSpPr>
          <p:cNvPr id="36" name="Text 34"/>
          <p:cNvSpPr/>
          <p:nvPr/>
        </p:nvSpPr>
        <p:spPr>
          <a:xfrm>
            <a:off x="274320" y="4800600"/>
            <a:ext cx="8595360" cy="342900"/>
          </a:xfrm>
          <a:prstGeom prst="rect">
            <a:avLst/>
          </a:prstGeom>
          <a:noFill/>
          <a:ln/>
        </p:spPr>
        <p:txBody>
          <a:bodyPr wrap="square" lIns="0" tIns="0" rIns="0" bIns="0" rtlCol="0" anchor="ctr"/>
          <a:lstStyle/>
          <a:p>
            <a:pPr marL="0" indent="0" algn="ctr">
              <a:buNone/>
            </a:pPr>
            <a:r>
              <a:rPr lang="en-US" sz="800" dirty="0">
                <a:solidFill>
                  <a:srgbClr val="A8C5DA"/>
                </a:solidFill>
              </a:rPr>
              <a:t>Liver Cirrhosis Clinical Analysis · Power BI Dashboard Project</a:t>
            </a:r>
            <a:endParaRPr lang="en-US" sz="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533AB7"/>
          </a:solidFill>
          <a:ln w="12700">
            <a:solidFill>
              <a:srgbClr val="533AB7"/>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lgn="l">
              <a:buNone/>
            </a:pPr>
            <a:r>
              <a:rPr lang="en-US" sz="1800" b="1" kern="0" spc="100" dirty="0">
                <a:solidFill>
                  <a:srgbClr val="FFFFFF"/>
                </a:solidFill>
              </a:rPr>
              <a:t>BUSINESS NEED &amp; BUSINESS VALUE</a:t>
            </a:r>
            <a:endParaRPr lang="en-US" sz="1800" dirty="0"/>
          </a:p>
        </p:txBody>
      </p:sp>
      <p:sp>
        <p:nvSpPr>
          <p:cNvPr id="4" name="Shape 2"/>
          <p:cNvSpPr/>
          <p:nvPr/>
        </p:nvSpPr>
        <p:spPr>
          <a:xfrm>
            <a:off x="274320" y="1024128"/>
            <a:ext cx="4023360" cy="146304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5" name="Shape 3"/>
          <p:cNvSpPr/>
          <p:nvPr/>
        </p:nvSpPr>
        <p:spPr>
          <a:xfrm>
            <a:off x="274320" y="1024128"/>
            <a:ext cx="64008" cy="1463040"/>
          </a:xfrm>
          <a:prstGeom prst="rect">
            <a:avLst/>
          </a:prstGeom>
          <a:solidFill>
            <a:srgbClr val="1A4A6E"/>
          </a:solidFill>
          <a:ln w="12700">
            <a:solidFill>
              <a:srgbClr val="1A4A6E"/>
            </a:solidFill>
            <a:prstDash val="solid"/>
          </a:ln>
        </p:spPr>
      </p:sp>
      <p:sp>
        <p:nvSpPr>
          <p:cNvPr id="6" name="Text 4"/>
          <p:cNvSpPr/>
          <p:nvPr/>
        </p:nvSpPr>
        <p:spPr>
          <a:xfrm>
            <a:off x="502920" y="1097280"/>
            <a:ext cx="3749040" cy="320040"/>
          </a:xfrm>
          <a:prstGeom prst="rect">
            <a:avLst/>
          </a:prstGeom>
          <a:noFill/>
          <a:ln/>
        </p:spPr>
        <p:txBody>
          <a:bodyPr wrap="square" lIns="0" tIns="0" rIns="0" bIns="0" rtlCol="0" anchor="ctr"/>
          <a:lstStyle/>
          <a:p>
            <a:pPr marL="0" indent="0" algn="l">
              <a:buNone/>
            </a:pPr>
            <a:r>
              <a:rPr lang="en-US" sz="1200" b="1" dirty="0">
                <a:solidFill>
                  <a:srgbClr val="1A4A6E"/>
                </a:solidFill>
              </a:rPr>
              <a:t>Business Need</a:t>
            </a:r>
            <a:endParaRPr lang="en-US" sz="1200" dirty="0"/>
          </a:p>
        </p:txBody>
      </p:sp>
      <p:sp>
        <p:nvSpPr>
          <p:cNvPr id="7" name="Text 5"/>
          <p:cNvSpPr/>
          <p:nvPr/>
        </p:nvSpPr>
        <p:spPr>
          <a:xfrm>
            <a:off x="502920" y="1444752"/>
            <a:ext cx="3611880" cy="914400"/>
          </a:xfrm>
          <a:prstGeom prst="rect">
            <a:avLst/>
          </a:prstGeom>
          <a:noFill/>
          <a:ln/>
        </p:spPr>
        <p:txBody>
          <a:bodyPr wrap="square" lIns="0" tIns="0" rIns="0" bIns="0" rtlCol="0" anchor="t"/>
          <a:lstStyle/>
          <a:p>
            <a:pPr marL="0" indent="0" algn="l">
              <a:buNone/>
            </a:pPr>
            <a:r>
              <a:rPr lang="en-US" sz="950" dirty="0">
                <a:solidFill>
                  <a:srgbClr val="1A4A6E"/>
                </a:solidFill>
              </a:rPr>
              <a:t>Clinical trial datasets remain analytically underutilised because raw tabular data requires specialist statistical expertise to interpret. Clinicians, administrators, and researchers need accessible visual tools that surface actionable insights without requiring programming or statistical software.</a:t>
            </a:r>
            <a:endParaRPr lang="en-US" sz="950" dirty="0"/>
          </a:p>
        </p:txBody>
      </p:sp>
      <p:sp>
        <p:nvSpPr>
          <p:cNvPr id="8" name="Shape 6"/>
          <p:cNvSpPr/>
          <p:nvPr/>
        </p:nvSpPr>
        <p:spPr>
          <a:xfrm>
            <a:off x="274320" y="2606040"/>
            <a:ext cx="1965960" cy="100584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9" name="Shape 7"/>
          <p:cNvSpPr/>
          <p:nvPr/>
        </p:nvSpPr>
        <p:spPr>
          <a:xfrm>
            <a:off x="274320" y="2606040"/>
            <a:ext cx="64008" cy="1005840"/>
          </a:xfrm>
          <a:prstGeom prst="rect">
            <a:avLst/>
          </a:prstGeom>
          <a:solidFill>
            <a:srgbClr val="3BCEAC"/>
          </a:solidFill>
          <a:ln w="12700">
            <a:solidFill>
              <a:srgbClr val="3BCEAC"/>
            </a:solidFill>
            <a:prstDash val="solid"/>
          </a:ln>
        </p:spPr>
      </p:sp>
      <p:sp>
        <p:nvSpPr>
          <p:cNvPr id="10" name="Text 8"/>
          <p:cNvSpPr/>
          <p:nvPr/>
        </p:nvSpPr>
        <p:spPr>
          <a:xfrm>
            <a:off x="438912" y="2660904"/>
            <a:ext cx="1737360" cy="274320"/>
          </a:xfrm>
          <a:prstGeom prst="rect">
            <a:avLst/>
          </a:prstGeom>
          <a:noFill/>
          <a:ln/>
        </p:spPr>
        <p:txBody>
          <a:bodyPr wrap="square" lIns="0" tIns="0" rIns="0" bIns="0" rtlCol="0" anchor="ctr"/>
          <a:lstStyle/>
          <a:p>
            <a:pPr marL="0" indent="0" algn="l">
              <a:buNone/>
            </a:pPr>
            <a:r>
              <a:rPr lang="en-US" sz="950" b="1" dirty="0">
                <a:solidFill>
                  <a:srgbClr val="1A4A6E"/>
                </a:solidFill>
              </a:rPr>
              <a:t>Clinical Value</a:t>
            </a:r>
            <a:endParaRPr lang="en-US" sz="950" dirty="0"/>
          </a:p>
        </p:txBody>
      </p:sp>
      <p:sp>
        <p:nvSpPr>
          <p:cNvPr id="11" name="Text 9"/>
          <p:cNvSpPr/>
          <p:nvPr/>
        </p:nvSpPr>
        <p:spPr>
          <a:xfrm>
            <a:off x="438912" y="2953512"/>
            <a:ext cx="1737360" cy="594360"/>
          </a:xfrm>
          <a:prstGeom prst="rect">
            <a:avLst/>
          </a:prstGeom>
          <a:noFill/>
          <a:ln/>
        </p:spPr>
        <p:txBody>
          <a:bodyPr wrap="square" lIns="0" tIns="0" rIns="0" bIns="0" rtlCol="0" anchor="t"/>
          <a:lstStyle/>
          <a:p>
            <a:pPr marL="0" indent="0" algn="l">
              <a:buNone/>
            </a:pPr>
            <a:r>
              <a:rPr lang="en-US" sz="800" dirty="0">
                <a:solidFill>
                  <a:srgbClr val="1A4A6E"/>
                </a:solidFill>
              </a:rPr>
              <a:t>Hepatomegaly and severe edema identified as primary mortality predictors — enabling better triage and risk stratification in clinical settings.</a:t>
            </a:r>
            <a:endParaRPr lang="en-US" sz="800" dirty="0"/>
          </a:p>
        </p:txBody>
      </p:sp>
      <p:sp>
        <p:nvSpPr>
          <p:cNvPr id="12" name="Shape 10"/>
          <p:cNvSpPr/>
          <p:nvPr/>
        </p:nvSpPr>
        <p:spPr>
          <a:xfrm>
            <a:off x="2377440" y="2606040"/>
            <a:ext cx="1965960" cy="100584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13" name="Shape 11"/>
          <p:cNvSpPr/>
          <p:nvPr/>
        </p:nvSpPr>
        <p:spPr>
          <a:xfrm>
            <a:off x="2377440" y="2606040"/>
            <a:ext cx="64008" cy="1005840"/>
          </a:xfrm>
          <a:prstGeom prst="rect">
            <a:avLst/>
          </a:prstGeom>
          <a:solidFill>
            <a:srgbClr val="2E86AB"/>
          </a:solidFill>
          <a:ln w="12700">
            <a:solidFill>
              <a:srgbClr val="2E86AB"/>
            </a:solidFill>
            <a:prstDash val="solid"/>
          </a:ln>
        </p:spPr>
      </p:sp>
      <p:sp>
        <p:nvSpPr>
          <p:cNvPr id="14" name="Text 12"/>
          <p:cNvSpPr/>
          <p:nvPr/>
        </p:nvSpPr>
        <p:spPr>
          <a:xfrm>
            <a:off x="2542032" y="2660904"/>
            <a:ext cx="1737360" cy="274320"/>
          </a:xfrm>
          <a:prstGeom prst="rect">
            <a:avLst/>
          </a:prstGeom>
          <a:noFill/>
          <a:ln/>
        </p:spPr>
        <p:txBody>
          <a:bodyPr wrap="square" lIns="0" tIns="0" rIns="0" bIns="0" rtlCol="0" anchor="ctr"/>
          <a:lstStyle/>
          <a:p>
            <a:pPr marL="0" indent="0" algn="l">
              <a:buNone/>
            </a:pPr>
            <a:r>
              <a:rPr lang="en-US" sz="950" b="1" dirty="0">
                <a:solidFill>
                  <a:srgbClr val="1A4A6E"/>
                </a:solidFill>
              </a:rPr>
              <a:t>Treatment Value</a:t>
            </a:r>
            <a:endParaRPr lang="en-US" sz="950" dirty="0"/>
          </a:p>
        </p:txBody>
      </p:sp>
      <p:sp>
        <p:nvSpPr>
          <p:cNvPr id="15" name="Text 13"/>
          <p:cNvSpPr/>
          <p:nvPr/>
        </p:nvSpPr>
        <p:spPr>
          <a:xfrm>
            <a:off x="2542032" y="2953512"/>
            <a:ext cx="1737360" cy="594360"/>
          </a:xfrm>
          <a:prstGeom prst="rect">
            <a:avLst/>
          </a:prstGeom>
          <a:noFill/>
          <a:ln/>
        </p:spPr>
        <p:txBody>
          <a:bodyPr wrap="square" lIns="0" tIns="0" rIns="0" bIns="0" rtlCol="0" anchor="t"/>
          <a:lstStyle/>
          <a:p>
            <a:pPr marL="0" indent="0" algn="l">
              <a:buNone/>
            </a:pPr>
            <a:r>
              <a:rPr lang="en-US" sz="800" dirty="0">
                <a:solidFill>
                  <a:srgbClr val="1A4A6E"/>
                </a:solidFill>
              </a:rPr>
              <a:t>Drug benefit concentrated at Stage 1 — prescribing resources should target early-stage patients for maximum survival impact.</a:t>
            </a:r>
            <a:endParaRPr lang="en-US" sz="800" dirty="0"/>
          </a:p>
        </p:txBody>
      </p:sp>
      <p:sp>
        <p:nvSpPr>
          <p:cNvPr id="16" name="Shape 14"/>
          <p:cNvSpPr/>
          <p:nvPr/>
        </p:nvSpPr>
        <p:spPr>
          <a:xfrm>
            <a:off x="274320" y="3703320"/>
            <a:ext cx="1965960" cy="100584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17" name="Shape 15"/>
          <p:cNvSpPr/>
          <p:nvPr/>
        </p:nvSpPr>
        <p:spPr>
          <a:xfrm>
            <a:off x="274320" y="3703320"/>
            <a:ext cx="64008" cy="1005840"/>
          </a:xfrm>
          <a:prstGeom prst="rect">
            <a:avLst/>
          </a:prstGeom>
          <a:solidFill>
            <a:srgbClr val="F4A261"/>
          </a:solidFill>
          <a:ln w="12700">
            <a:solidFill>
              <a:srgbClr val="F4A261"/>
            </a:solidFill>
            <a:prstDash val="solid"/>
          </a:ln>
        </p:spPr>
      </p:sp>
      <p:sp>
        <p:nvSpPr>
          <p:cNvPr id="18" name="Text 16"/>
          <p:cNvSpPr/>
          <p:nvPr/>
        </p:nvSpPr>
        <p:spPr>
          <a:xfrm>
            <a:off x="438912" y="3758184"/>
            <a:ext cx="1737360" cy="274320"/>
          </a:xfrm>
          <a:prstGeom prst="rect">
            <a:avLst/>
          </a:prstGeom>
          <a:noFill/>
          <a:ln/>
        </p:spPr>
        <p:txBody>
          <a:bodyPr wrap="square" lIns="0" tIns="0" rIns="0" bIns="0" rtlCol="0" anchor="ctr"/>
          <a:lstStyle/>
          <a:p>
            <a:pPr marL="0" indent="0" algn="l">
              <a:buNone/>
            </a:pPr>
            <a:r>
              <a:rPr lang="en-US" sz="950" b="1" dirty="0">
                <a:solidFill>
                  <a:srgbClr val="1A4A6E"/>
                </a:solidFill>
              </a:rPr>
              <a:t>Research Value</a:t>
            </a:r>
            <a:endParaRPr lang="en-US" sz="950" dirty="0"/>
          </a:p>
        </p:txBody>
      </p:sp>
      <p:sp>
        <p:nvSpPr>
          <p:cNvPr id="19" name="Text 17"/>
          <p:cNvSpPr/>
          <p:nvPr/>
        </p:nvSpPr>
        <p:spPr>
          <a:xfrm>
            <a:off x="438912" y="4050792"/>
            <a:ext cx="1737360" cy="594360"/>
          </a:xfrm>
          <a:prstGeom prst="rect">
            <a:avLst/>
          </a:prstGeom>
          <a:noFill/>
          <a:ln/>
        </p:spPr>
        <p:txBody>
          <a:bodyPr wrap="square" lIns="0" tIns="0" rIns="0" bIns="0" rtlCol="0" anchor="t"/>
          <a:lstStyle/>
          <a:p>
            <a:pPr marL="0" indent="0" algn="l">
              <a:buNone/>
            </a:pPr>
            <a:r>
              <a:rPr lang="en-US" sz="800" dirty="0">
                <a:solidFill>
                  <a:srgbClr val="1A4A6E"/>
                </a:solidFill>
              </a:rPr>
              <a:t>Severity Score composite index provides a reusable staging tool. Dashboard model can be updated with new patient data without rebuilding.</a:t>
            </a:r>
            <a:endParaRPr lang="en-US" sz="800" dirty="0"/>
          </a:p>
        </p:txBody>
      </p:sp>
      <p:sp>
        <p:nvSpPr>
          <p:cNvPr id="20" name="Shape 18"/>
          <p:cNvSpPr/>
          <p:nvPr/>
        </p:nvSpPr>
        <p:spPr>
          <a:xfrm>
            <a:off x="2377440" y="3703320"/>
            <a:ext cx="1965960" cy="100584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21" name="Shape 19"/>
          <p:cNvSpPr/>
          <p:nvPr/>
        </p:nvSpPr>
        <p:spPr>
          <a:xfrm>
            <a:off x="2377440" y="3703320"/>
            <a:ext cx="64008" cy="1005840"/>
          </a:xfrm>
          <a:prstGeom prst="rect">
            <a:avLst/>
          </a:prstGeom>
          <a:solidFill>
            <a:srgbClr val="533AB7"/>
          </a:solidFill>
          <a:ln w="12700">
            <a:solidFill>
              <a:srgbClr val="533AB7"/>
            </a:solidFill>
            <a:prstDash val="solid"/>
          </a:ln>
        </p:spPr>
      </p:sp>
      <p:sp>
        <p:nvSpPr>
          <p:cNvPr id="22" name="Text 20"/>
          <p:cNvSpPr/>
          <p:nvPr/>
        </p:nvSpPr>
        <p:spPr>
          <a:xfrm>
            <a:off x="2542032" y="3758184"/>
            <a:ext cx="1737360" cy="274320"/>
          </a:xfrm>
          <a:prstGeom prst="rect">
            <a:avLst/>
          </a:prstGeom>
          <a:noFill/>
          <a:ln/>
        </p:spPr>
        <p:txBody>
          <a:bodyPr wrap="square" lIns="0" tIns="0" rIns="0" bIns="0" rtlCol="0" anchor="ctr"/>
          <a:lstStyle/>
          <a:p>
            <a:pPr marL="0" indent="0" algn="l">
              <a:buNone/>
            </a:pPr>
            <a:r>
              <a:rPr lang="en-US" sz="950" b="1" dirty="0">
                <a:solidFill>
                  <a:srgbClr val="1A4A6E"/>
                </a:solidFill>
              </a:rPr>
              <a:t>Educational Value</a:t>
            </a:r>
            <a:endParaRPr lang="en-US" sz="950" dirty="0"/>
          </a:p>
        </p:txBody>
      </p:sp>
      <p:sp>
        <p:nvSpPr>
          <p:cNvPr id="23" name="Text 21"/>
          <p:cNvSpPr/>
          <p:nvPr/>
        </p:nvSpPr>
        <p:spPr>
          <a:xfrm>
            <a:off x="2542032" y="4050792"/>
            <a:ext cx="1737360" cy="594360"/>
          </a:xfrm>
          <a:prstGeom prst="rect">
            <a:avLst/>
          </a:prstGeom>
          <a:noFill/>
          <a:ln/>
        </p:spPr>
        <p:txBody>
          <a:bodyPr wrap="square" lIns="0" tIns="0" rIns="0" bIns="0" rtlCol="0" anchor="t"/>
          <a:lstStyle/>
          <a:p>
            <a:pPr marL="0" indent="0" algn="l">
              <a:buNone/>
            </a:pPr>
            <a:r>
              <a:rPr lang="en-US" sz="800" dirty="0">
                <a:solidFill>
                  <a:srgbClr val="1A4A6E"/>
                </a:solidFill>
              </a:rPr>
              <a:t>Interactive dashboards enable clinical reasoning teaching with real patient data — accessible to students without statistical expertise.</a:t>
            </a:r>
            <a:endParaRPr lang="en-US" sz="800" dirty="0"/>
          </a:p>
        </p:txBody>
      </p:sp>
      <p:sp>
        <p:nvSpPr>
          <p:cNvPr id="24" name="Shape 22"/>
          <p:cNvSpPr/>
          <p:nvPr/>
        </p:nvSpPr>
        <p:spPr>
          <a:xfrm>
            <a:off x="4526280" y="1024128"/>
            <a:ext cx="4297680" cy="3611880"/>
          </a:xfrm>
          <a:prstGeom prst="rect">
            <a:avLst/>
          </a:prstGeom>
          <a:solidFill>
            <a:srgbClr val="FFFFFF"/>
          </a:solidFill>
          <a:ln w="6350">
            <a:solidFill>
              <a:srgbClr val="D0E4F0"/>
            </a:solidFill>
            <a:prstDash val="solid"/>
          </a:ln>
          <a:effectLst>
            <a:outerShdw blurRad="101600" dist="38100" dir="8100000" algn="bl" rotWithShape="0">
              <a:srgbClr val="000000">
                <a:alpha val="10000"/>
              </a:srgbClr>
            </a:outerShdw>
          </a:effectLst>
        </p:spPr>
      </p:sp>
      <p:sp>
        <p:nvSpPr>
          <p:cNvPr id="25" name="Shape 23"/>
          <p:cNvSpPr/>
          <p:nvPr/>
        </p:nvSpPr>
        <p:spPr>
          <a:xfrm>
            <a:off x="4526280" y="1024128"/>
            <a:ext cx="64008" cy="3611880"/>
          </a:xfrm>
          <a:prstGeom prst="rect">
            <a:avLst/>
          </a:prstGeom>
          <a:solidFill>
            <a:srgbClr val="E84855"/>
          </a:solidFill>
          <a:ln w="12700">
            <a:solidFill>
              <a:srgbClr val="E84855"/>
            </a:solidFill>
            <a:prstDash val="solid"/>
          </a:ln>
        </p:spPr>
      </p:sp>
      <p:sp>
        <p:nvSpPr>
          <p:cNvPr id="26" name="Text 24"/>
          <p:cNvSpPr/>
          <p:nvPr/>
        </p:nvSpPr>
        <p:spPr>
          <a:xfrm>
            <a:off x="4754880" y="1115568"/>
            <a:ext cx="3931920" cy="320040"/>
          </a:xfrm>
          <a:prstGeom prst="rect">
            <a:avLst/>
          </a:prstGeom>
          <a:noFill/>
          <a:ln/>
        </p:spPr>
        <p:txBody>
          <a:bodyPr wrap="square" lIns="0" tIns="0" rIns="0" bIns="0" rtlCol="0" anchor="ctr"/>
          <a:lstStyle/>
          <a:p>
            <a:pPr marL="0" indent="0" algn="l">
              <a:buNone/>
            </a:pPr>
            <a:r>
              <a:rPr lang="en-US" sz="1200" b="1" dirty="0">
                <a:solidFill>
                  <a:srgbClr val="1A4A6E"/>
                </a:solidFill>
              </a:rPr>
              <a:t>Limitations</a:t>
            </a:r>
            <a:endParaRPr lang="en-US" sz="1200" dirty="0"/>
          </a:p>
        </p:txBody>
      </p:sp>
      <p:sp>
        <p:nvSpPr>
          <p:cNvPr id="27" name="Shape 25"/>
          <p:cNvSpPr/>
          <p:nvPr/>
        </p:nvSpPr>
        <p:spPr>
          <a:xfrm>
            <a:off x="4709160" y="1536192"/>
            <a:ext cx="91440" cy="502920"/>
          </a:xfrm>
          <a:prstGeom prst="rect">
            <a:avLst/>
          </a:prstGeom>
          <a:solidFill>
            <a:srgbClr val="E84855"/>
          </a:solidFill>
          <a:ln w="12700">
            <a:solidFill>
              <a:srgbClr val="E84855"/>
            </a:solidFill>
            <a:prstDash val="solid"/>
          </a:ln>
        </p:spPr>
      </p:sp>
      <p:sp>
        <p:nvSpPr>
          <p:cNvPr id="28" name="Text 26"/>
          <p:cNvSpPr/>
          <p:nvPr/>
        </p:nvSpPr>
        <p:spPr>
          <a:xfrm>
            <a:off x="4882896" y="1536192"/>
            <a:ext cx="3749040" cy="237744"/>
          </a:xfrm>
          <a:prstGeom prst="rect">
            <a:avLst/>
          </a:prstGeom>
          <a:noFill/>
          <a:ln/>
        </p:spPr>
        <p:txBody>
          <a:bodyPr wrap="square" lIns="0" tIns="0" rIns="0" bIns="0" rtlCol="0" anchor="ctr"/>
          <a:lstStyle/>
          <a:p>
            <a:pPr marL="0" indent="0" algn="l">
              <a:buNone/>
            </a:pPr>
            <a:r>
              <a:rPr lang="en-US" sz="950" b="1" dirty="0">
                <a:solidFill>
                  <a:srgbClr val="1A4A6E"/>
                </a:solidFill>
              </a:rPr>
              <a:t>Observational Data</a:t>
            </a:r>
            <a:endParaRPr lang="en-US" sz="950" dirty="0"/>
          </a:p>
        </p:txBody>
      </p:sp>
      <p:sp>
        <p:nvSpPr>
          <p:cNvPr id="29" name="Text 27"/>
          <p:cNvSpPr/>
          <p:nvPr/>
        </p:nvSpPr>
        <p:spPr>
          <a:xfrm>
            <a:off x="4882896" y="1783080"/>
            <a:ext cx="3749040" cy="256032"/>
          </a:xfrm>
          <a:prstGeom prst="rect">
            <a:avLst/>
          </a:prstGeom>
          <a:noFill/>
          <a:ln/>
        </p:spPr>
        <p:txBody>
          <a:bodyPr wrap="square" lIns="0" tIns="0" rIns="0" bIns="0" rtlCol="0" anchor="t"/>
          <a:lstStyle/>
          <a:p>
            <a:pPr marL="0" indent="0" algn="l">
              <a:buNone/>
            </a:pPr>
            <a:r>
              <a:rPr lang="en-US" sz="900" dirty="0">
                <a:solidFill>
                  <a:srgbClr val="5A7D99"/>
                </a:solidFill>
              </a:rPr>
              <a:t>Correlation does not imply causation — confounding variables are not controlled for.</a:t>
            </a:r>
            <a:endParaRPr lang="en-US" sz="900" dirty="0"/>
          </a:p>
        </p:txBody>
      </p:sp>
      <p:sp>
        <p:nvSpPr>
          <p:cNvPr id="30" name="Shape 28"/>
          <p:cNvSpPr/>
          <p:nvPr/>
        </p:nvSpPr>
        <p:spPr>
          <a:xfrm>
            <a:off x="4709160" y="2249424"/>
            <a:ext cx="91440" cy="502920"/>
          </a:xfrm>
          <a:prstGeom prst="rect">
            <a:avLst/>
          </a:prstGeom>
          <a:solidFill>
            <a:srgbClr val="E84855"/>
          </a:solidFill>
          <a:ln w="12700">
            <a:solidFill>
              <a:srgbClr val="E84855"/>
            </a:solidFill>
            <a:prstDash val="solid"/>
          </a:ln>
        </p:spPr>
      </p:sp>
      <p:sp>
        <p:nvSpPr>
          <p:cNvPr id="31" name="Text 29"/>
          <p:cNvSpPr/>
          <p:nvPr/>
        </p:nvSpPr>
        <p:spPr>
          <a:xfrm>
            <a:off x="4882896" y="2249424"/>
            <a:ext cx="3749040" cy="237744"/>
          </a:xfrm>
          <a:prstGeom prst="rect">
            <a:avLst/>
          </a:prstGeom>
          <a:noFill/>
          <a:ln/>
        </p:spPr>
        <p:txBody>
          <a:bodyPr wrap="square" lIns="0" tIns="0" rIns="0" bIns="0" rtlCol="0" anchor="ctr"/>
          <a:lstStyle/>
          <a:p>
            <a:pPr marL="0" indent="0" algn="l">
              <a:buNone/>
            </a:pPr>
            <a:r>
              <a:rPr lang="en-US" sz="950" b="1" dirty="0">
                <a:solidFill>
                  <a:srgbClr val="1A4A6E"/>
                </a:solidFill>
              </a:rPr>
              <a:t>Historical Dataset</a:t>
            </a:r>
            <a:endParaRPr lang="en-US" sz="950" dirty="0"/>
          </a:p>
        </p:txBody>
      </p:sp>
      <p:sp>
        <p:nvSpPr>
          <p:cNvPr id="32" name="Text 30"/>
          <p:cNvSpPr/>
          <p:nvPr/>
        </p:nvSpPr>
        <p:spPr>
          <a:xfrm>
            <a:off x="4882896" y="2496312"/>
            <a:ext cx="3749040" cy="256032"/>
          </a:xfrm>
          <a:prstGeom prst="rect">
            <a:avLst/>
          </a:prstGeom>
          <a:noFill/>
          <a:ln/>
        </p:spPr>
        <p:txBody>
          <a:bodyPr wrap="square" lIns="0" tIns="0" rIns="0" bIns="0" rtlCol="0" anchor="t"/>
          <a:lstStyle/>
          <a:p>
            <a:pPr marL="0" indent="0" algn="l">
              <a:buNone/>
            </a:pPr>
            <a:r>
              <a:rPr lang="en-US" sz="900" dirty="0">
                <a:solidFill>
                  <a:srgbClr val="5A7D99"/>
                </a:solidFill>
              </a:rPr>
              <a:t>1974–1984 data — treatment protocols and diagnostic standards have evolved since.</a:t>
            </a:r>
            <a:endParaRPr lang="en-US" sz="900" dirty="0"/>
          </a:p>
        </p:txBody>
      </p:sp>
      <p:sp>
        <p:nvSpPr>
          <p:cNvPr id="33" name="Shape 31"/>
          <p:cNvSpPr/>
          <p:nvPr/>
        </p:nvSpPr>
        <p:spPr>
          <a:xfrm>
            <a:off x="4709160" y="2962656"/>
            <a:ext cx="91440" cy="502920"/>
          </a:xfrm>
          <a:prstGeom prst="rect">
            <a:avLst/>
          </a:prstGeom>
          <a:solidFill>
            <a:srgbClr val="E84855"/>
          </a:solidFill>
          <a:ln w="12700">
            <a:solidFill>
              <a:srgbClr val="E84855"/>
            </a:solidFill>
            <a:prstDash val="solid"/>
          </a:ln>
        </p:spPr>
      </p:sp>
      <p:sp>
        <p:nvSpPr>
          <p:cNvPr id="34" name="Text 32"/>
          <p:cNvSpPr/>
          <p:nvPr/>
        </p:nvSpPr>
        <p:spPr>
          <a:xfrm>
            <a:off x="4882896" y="2962656"/>
            <a:ext cx="3749040" cy="237744"/>
          </a:xfrm>
          <a:prstGeom prst="rect">
            <a:avLst/>
          </a:prstGeom>
          <a:noFill/>
          <a:ln/>
        </p:spPr>
        <p:txBody>
          <a:bodyPr wrap="square" lIns="0" tIns="0" rIns="0" bIns="0" rtlCol="0" anchor="ctr"/>
          <a:lstStyle/>
          <a:p>
            <a:pPr marL="0" indent="0" algn="l">
              <a:buNone/>
            </a:pPr>
            <a:r>
              <a:rPr lang="en-US" sz="950" b="1" dirty="0">
                <a:solidFill>
                  <a:srgbClr val="1A4A6E"/>
                </a:solidFill>
              </a:rPr>
              <a:t>No Multivariate Analysis</a:t>
            </a:r>
            <a:endParaRPr lang="en-US" sz="950" dirty="0"/>
          </a:p>
        </p:txBody>
      </p:sp>
      <p:sp>
        <p:nvSpPr>
          <p:cNvPr id="35" name="Text 33"/>
          <p:cNvSpPr/>
          <p:nvPr/>
        </p:nvSpPr>
        <p:spPr>
          <a:xfrm>
            <a:off x="4882896" y="3209544"/>
            <a:ext cx="3749040" cy="256032"/>
          </a:xfrm>
          <a:prstGeom prst="rect">
            <a:avLst/>
          </a:prstGeom>
          <a:noFill/>
          <a:ln/>
        </p:spPr>
        <p:txBody>
          <a:bodyPr wrap="square" lIns="0" tIns="0" rIns="0" bIns="0" rtlCol="0" anchor="t"/>
          <a:lstStyle/>
          <a:p>
            <a:pPr marL="0" indent="0" algn="l">
              <a:buNone/>
            </a:pPr>
            <a:r>
              <a:rPr lang="en-US" sz="900" dirty="0">
                <a:solidFill>
                  <a:srgbClr val="5A7D99"/>
                </a:solidFill>
              </a:rPr>
              <a:t>Biomarkers visualised independently without controlling for variable interactions.</a:t>
            </a:r>
            <a:endParaRPr lang="en-US" sz="900" dirty="0"/>
          </a:p>
        </p:txBody>
      </p:sp>
      <p:sp>
        <p:nvSpPr>
          <p:cNvPr id="36" name="Shape 34"/>
          <p:cNvSpPr/>
          <p:nvPr/>
        </p:nvSpPr>
        <p:spPr>
          <a:xfrm>
            <a:off x="4709160" y="3675888"/>
            <a:ext cx="91440" cy="502920"/>
          </a:xfrm>
          <a:prstGeom prst="rect">
            <a:avLst/>
          </a:prstGeom>
          <a:solidFill>
            <a:srgbClr val="E84855"/>
          </a:solidFill>
          <a:ln w="12700">
            <a:solidFill>
              <a:srgbClr val="E84855"/>
            </a:solidFill>
            <a:prstDash val="solid"/>
          </a:ln>
        </p:spPr>
      </p:sp>
      <p:sp>
        <p:nvSpPr>
          <p:cNvPr id="37" name="Text 35"/>
          <p:cNvSpPr/>
          <p:nvPr/>
        </p:nvSpPr>
        <p:spPr>
          <a:xfrm>
            <a:off x="4882896" y="3675888"/>
            <a:ext cx="3749040" cy="237744"/>
          </a:xfrm>
          <a:prstGeom prst="rect">
            <a:avLst/>
          </a:prstGeom>
          <a:noFill/>
          <a:ln/>
        </p:spPr>
        <p:txBody>
          <a:bodyPr wrap="square" lIns="0" tIns="0" rIns="0" bIns="0" rtlCol="0" anchor="ctr"/>
          <a:lstStyle/>
          <a:p>
            <a:pPr marL="0" indent="0" algn="l">
              <a:buNone/>
            </a:pPr>
            <a:r>
              <a:rPr lang="en-US" sz="950" b="1" dirty="0">
                <a:solidFill>
                  <a:srgbClr val="1A4A6E"/>
                </a:solidFill>
              </a:rPr>
              <a:t>No Formal Survival Model</a:t>
            </a:r>
            <a:endParaRPr lang="en-US" sz="950" dirty="0"/>
          </a:p>
        </p:txBody>
      </p:sp>
      <p:sp>
        <p:nvSpPr>
          <p:cNvPr id="38" name="Text 36"/>
          <p:cNvSpPr/>
          <p:nvPr/>
        </p:nvSpPr>
        <p:spPr>
          <a:xfrm>
            <a:off x="4882896" y="3922776"/>
            <a:ext cx="3749040" cy="256032"/>
          </a:xfrm>
          <a:prstGeom prst="rect">
            <a:avLst/>
          </a:prstGeom>
          <a:noFill/>
          <a:ln/>
        </p:spPr>
        <p:txBody>
          <a:bodyPr wrap="square" lIns="0" tIns="0" rIns="0" bIns="0" rtlCol="0" anchor="t"/>
          <a:lstStyle/>
          <a:p>
            <a:pPr marL="0" indent="0" algn="l">
              <a:buNone/>
            </a:pPr>
            <a:r>
              <a:rPr lang="en-US" sz="900" dirty="0">
                <a:solidFill>
                  <a:srgbClr val="5A7D99"/>
                </a:solidFill>
              </a:rPr>
              <a:t>Kaplan-Meier curves and Cox regression needed for statistically rigorous time-to-event analysis.</a:t>
            </a:r>
            <a:endParaRPr lang="en-US" sz="900" dirty="0"/>
          </a:p>
        </p:txBody>
      </p:sp>
      <p:sp>
        <p:nvSpPr>
          <p:cNvPr id="39" name="Shape 37"/>
          <p:cNvSpPr/>
          <p:nvPr/>
        </p:nvSpPr>
        <p:spPr>
          <a:xfrm>
            <a:off x="0" y="4800600"/>
            <a:ext cx="9144000" cy="342900"/>
          </a:xfrm>
          <a:prstGeom prst="rect">
            <a:avLst/>
          </a:prstGeom>
          <a:solidFill>
            <a:srgbClr val="1A4A6E"/>
          </a:solidFill>
          <a:ln w="12700">
            <a:solidFill>
              <a:srgbClr val="1A4A6E"/>
            </a:solidFill>
            <a:prstDash val="solid"/>
          </a:ln>
        </p:spPr>
      </p:sp>
      <p:sp>
        <p:nvSpPr>
          <p:cNvPr id="40" name="Text 38"/>
          <p:cNvSpPr/>
          <p:nvPr/>
        </p:nvSpPr>
        <p:spPr>
          <a:xfrm>
            <a:off x="274320" y="4800600"/>
            <a:ext cx="8595360" cy="342900"/>
          </a:xfrm>
          <a:prstGeom prst="rect">
            <a:avLst/>
          </a:prstGeom>
          <a:noFill/>
          <a:ln/>
        </p:spPr>
        <p:txBody>
          <a:bodyPr wrap="square" lIns="0" tIns="0" rIns="0" bIns="0" rtlCol="0" anchor="ctr"/>
          <a:lstStyle/>
          <a:p>
            <a:pPr marL="0" indent="0" algn="ctr">
              <a:buNone/>
            </a:pPr>
            <a:r>
              <a:rPr lang="en-US" sz="800" dirty="0">
                <a:solidFill>
                  <a:srgbClr val="A8C5DA"/>
                </a:solidFill>
              </a:rPr>
              <a:t>Liver Cirrhosis Clinical Analysis · Power BI Dashboard Project</a:t>
            </a:r>
            <a:endParaRPr lang="en-US" sz="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4A6E"/>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3BCEAC"/>
          </a:solidFill>
          <a:ln w="12700">
            <a:solidFill>
              <a:srgbClr val="3BCEAC"/>
            </a:solidFill>
            <a:prstDash val="solid"/>
          </a:ln>
        </p:spPr>
      </p:sp>
      <p:sp>
        <p:nvSpPr>
          <p:cNvPr id="3" name="Text 1"/>
          <p:cNvSpPr/>
          <p:nvPr/>
        </p:nvSpPr>
        <p:spPr>
          <a:xfrm>
            <a:off x="822960" y="640080"/>
            <a:ext cx="7772400" cy="822960"/>
          </a:xfrm>
          <a:prstGeom prst="rect">
            <a:avLst/>
          </a:prstGeom>
          <a:noFill/>
          <a:ln/>
        </p:spPr>
        <p:txBody>
          <a:bodyPr wrap="square" lIns="0" tIns="0" rIns="0" bIns="0" rtlCol="0" anchor="ctr"/>
          <a:lstStyle/>
          <a:p>
            <a:pPr marL="0" indent="0" algn="l">
              <a:buNone/>
            </a:pPr>
            <a:r>
              <a:rPr lang="en-US" sz="4000" b="1" kern="0" spc="400" dirty="0">
                <a:solidFill>
                  <a:srgbClr val="FFFFFF"/>
                </a:solidFill>
              </a:rPr>
              <a:t>THANK YOU</a:t>
            </a:r>
            <a:endParaRPr lang="en-US" sz="4000" dirty="0"/>
          </a:p>
        </p:txBody>
      </p:sp>
      <p:sp>
        <p:nvSpPr>
          <p:cNvPr id="4" name="Shape 2"/>
          <p:cNvSpPr/>
          <p:nvPr/>
        </p:nvSpPr>
        <p:spPr>
          <a:xfrm>
            <a:off x="822960" y="1554480"/>
            <a:ext cx="7772400" cy="0"/>
          </a:xfrm>
          <a:prstGeom prst="line">
            <a:avLst/>
          </a:prstGeom>
          <a:noFill/>
          <a:ln w="12700">
            <a:solidFill>
              <a:srgbClr val="2E86AB"/>
            </a:solidFill>
            <a:prstDash val="solid"/>
          </a:ln>
        </p:spPr>
      </p:sp>
      <p:sp>
        <p:nvSpPr>
          <p:cNvPr id="5" name="Text 3"/>
          <p:cNvSpPr/>
          <p:nvPr/>
        </p:nvSpPr>
        <p:spPr>
          <a:xfrm>
            <a:off x="822960" y="1691640"/>
            <a:ext cx="7772400" cy="411480"/>
          </a:xfrm>
          <a:prstGeom prst="rect">
            <a:avLst/>
          </a:prstGeom>
          <a:noFill/>
          <a:ln/>
        </p:spPr>
        <p:txBody>
          <a:bodyPr wrap="square" lIns="0" tIns="0" rIns="0" bIns="0" rtlCol="0" anchor="ctr"/>
          <a:lstStyle/>
          <a:p>
            <a:pPr marL="0" indent="0" algn="l">
              <a:buNone/>
            </a:pPr>
            <a:r>
              <a:rPr lang="en-US" sz="1400" dirty="0">
                <a:solidFill>
                  <a:srgbClr val="A8C5DA"/>
                </a:solidFill>
              </a:rPr>
              <a:t>Liver Cirrhosis Clinical Analysis · Power BI Dashboard Project</a:t>
            </a:r>
            <a:endParaRPr lang="en-US" sz="1400" dirty="0"/>
          </a:p>
        </p:txBody>
      </p:sp>
      <p:sp>
        <p:nvSpPr>
          <p:cNvPr id="6" name="Shape 4"/>
          <p:cNvSpPr/>
          <p:nvPr/>
        </p:nvSpPr>
        <p:spPr>
          <a:xfrm>
            <a:off x="822960" y="2240280"/>
            <a:ext cx="1737360" cy="914400"/>
          </a:xfrm>
          <a:prstGeom prst="rect">
            <a:avLst/>
          </a:prstGeom>
          <a:solidFill>
            <a:srgbClr val="3BCEAC">
              <a:alpha val="80000"/>
            </a:srgbClr>
          </a:solidFill>
          <a:ln w="12700">
            <a:solidFill>
              <a:srgbClr val="3BCEAC"/>
            </a:solidFill>
            <a:prstDash val="solid"/>
          </a:ln>
          <a:effectLst>
            <a:outerShdw blurRad="101600" dist="38100" dir="8100000" algn="bl" rotWithShape="0">
              <a:srgbClr val="000000">
                <a:alpha val="10000"/>
              </a:srgbClr>
            </a:outerShdw>
          </a:effectLst>
        </p:spPr>
      </p:sp>
      <p:sp>
        <p:nvSpPr>
          <p:cNvPr id="7" name="Text 5"/>
          <p:cNvSpPr/>
          <p:nvPr/>
        </p:nvSpPr>
        <p:spPr>
          <a:xfrm>
            <a:off x="822960" y="2267712"/>
            <a:ext cx="1737360" cy="502920"/>
          </a:xfrm>
          <a:prstGeom prst="rect">
            <a:avLst/>
          </a:prstGeom>
          <a:noFill/>
          <a:ln/>
        </p:spPr>
        <p:txBody>
          <a:bodyPr wrap="square" lIns="0" tIns="0" rIns="0" bIns="0" rtlCol="0" anchor="ctr"/>
          <a:lstStyle/>
          <a:p>
            <a:pPr marL="0" indent="0" algn="ctr">
              <a:buNone/>
            </a:pPr>
            <a:r>
              <a:rPr lang="en-US" sz="2800" b="1" dirty="0">
                <a:solidFill>
                  <a:srgbClr val="FFFFFF"/>
                </a:solidFill>
              </a:rPr>
              <a:t>25K</a:t>
            </a:r>
            <a:endParaRPr lang="en-US" sz="2800" dirty="0"/>
          </a:p>
        </p:txBody>
      </p:sp>
      <p:sp>
        <p:nvSpPr>
          <p:cNvPr id="8" name="Text 6"/>
          <p:cNvSpPr/>
          <p:nvPr/>
        </p:nvSpPr>
        <p:spPr>
          <a:xfrm>
            <a:off x="822960" y="2743200"/>
            <a:ext cx="1737360" cy="384048"/>
          </a:xfrm>
          <a:prstGeom prst="rect">
            <a:avLst/>
          </a:prstGeom>
          <a:noFill/>
          <a:ln/>
        </p:spPr>
        <p:txBody>
          <a:bodyPr wrap="square" lIns="0" tIns="0" rIns="0" bIns="0" rtlCol="0" anchor="ctr"/>
          <a:lstStyle/>
          <a:p>
            <a:pPr marL="0" indent="0" algn="ctr">
              <a:buNone/>
            </a:pPr>
            <a:r>
              <a:rPr lang="en-US" sz="900" dirty="0">
                <a:solidFill>
                  <a:srgbClr val="C8DFF0"/>
                </a:solidFill>
              </a:rPr>
              <a:t>Patients</a:t>
            </a:r>
            <a:endParaRPr lang="en-US" sz="900" dirty="0"/>
          </a:p>
        </p:txBody>
      </p:sp>
      <p:sp>
        <p:nvSpPr>
          <p:cNvPr id="9" name="Shape 7"/>
          <p:cNvSpPr/>
          <p:nvPr/>
        </p:nvSpPr>
        <p:spPr>
          <a:xfrm>
            <a:off x="2834640" y="2240280"/>
            <a:ext cx="1737360" cy="914400"/>
          </a:xfrm>
          <a:prstGeom prst="rect">
            <a:avLst/>
          </a:prstGeom>
          <a:solidFill>
            <a:srgbClr val="2E86AB">
              <a:alpha val="80000"/>
            </a:srgbClr>
          </a:solidFill>
          <a:ln w="12700">
            <a:solidFill>
              <a:srgbClr val="2E86AB"/>
            </a:solidFill>
            <a:prstDash val="solid"/>
          </a:ln>
          <a:effectLst>
            <a:outerShdw blurRad="101600" dist="38100" dir="8100000" algn="bl" rotWithShape="0">
              <a:srgbClr val="000000">
                <a:alpha val="10000"/>
              </a:srgbClr>
            </a:outerShdw>
          </a:effectLst>
        </p:spPr>
      </p:sp>
      <p:sp>
        <p:nvSpPr>
          <p:cNvPr id="10" name="Text 8"/>
          <p:cNvSpPr/>
          <p:nvPr/>
        </p:nvSpPr>
        <p:spPr>
          <a:xfrm>
            <a:off x="2834640" y="2267712"/>
            <a:ext cx="1737360" cy="502920"/>
          </a:xfrm>
          <a:prstGeom prst="rect">
            <a:avLst/>
          </a:prstGeom>
          <a:noFill/>
          <a:ln/>
        </p:spPr>
        <p:txBody>
          <a:bodyPr wrap="square" lIns="0" tIns="0" rIns="0" bIns="0" rtlCol="0" anchor="ctr"/>
          <a:lstStyle/>
          <a:p>
            <a:pPr marL="0" indent="0" algn="ctr">
              <a:buNone/>
            </a:pPr>
            <a:r>
              <a:rPr lang="en-US" sz="2800" b="1" dirty="0">
                <a:solidFill>
                  <a:srgbClr val="FFFFFF"/>
                </a:solidFill>
              </a:rPr>
              <a:t>8</a:t>
            </a:r>
            <a:endParaRPr lang="en-US" sz="2800" dirty="0"/>
          </a:p>
        </p:txBody>
      </p:sp>
      <p:sp>
        <p:nvSpPr>
          <p:cNvPr id="11" name="Text 9"/>
          <p:cNvSpPr/>
          <p:nvPr/>
        </p:nvSpPr>
        <p:spPr>
          <a:xfrm>
            <a:off x="2834640" y="2743200"/>
            <a:ext cx="1737360" cy="384048"/>
          </a:xfrm>
          <a:prstGeom prst="rect">
            <a:avLst/>
          </a:prstGeom>
          <a:noFill/>
          <a:ln/>
        </p:spPr>
        <p:txBody>
          <a:bodyPr wrap="square" lIns="0" tIns="0" rIns="0" bIns="0" rtlCol="0" anchor="ctr"/>
          <a:lstStyle/>
          <a:p>
            <a:pPr marL="0" indent="0" algn="ctr">
              <a:buNone/>
            </a:pPr>
            <a:r>
              <a:rPr lang="en-US" sz="900" dirty="0">
                <a:solidFill>
                  <a:srgbClr val="C8DFF0"/>
                </a:solidFill>
              </a:rPr>
              <a:t>Dashboards</a:t>
            </a:r>
            <a:endParaRPr lang="en-US" sz="900" dirty="0"/>
          </a:p>
        </p:txBody>
      </p:sp>
      <p:sp>
        <p:nvSpPr>
          <p:cNvPr id="12" name="Shape 10"/>
          <p:cNvSpPr/>
          <p:nvPr/>
        </p:nvSpPr>
        <p:spPr>
          <a:xfrm>
            <a:off x="4846320" y="2240280"/>
            <a:ext cx="1737360" cy="914400"/>
          </a:xfrm>
          <a:prstGeom prst="rect">
            <a:avLst/>
          </a:prstGeom>
          <a:solidFill>
            <a:srgbClr val="533AB7">
              <a:alpha val="80000"/>
            </a:srgbClr>
          </a:solidFill>
          <a:ln w="12700">
            <a:solidFill>
              <a:srgbClr val="533AB7"/>
            </a:solidFill>
            <a:prstDash val="solid"/>
          </a:ln>
          <a:effectLst>
            <a:outerShdw blurRad="101600" dist="38100" dir="8100000" algn="bl" rotWithShape="0">
              <a:srgbClr val="000000">
                <a:alpha val="10000"/>
              </a:srgbClr>
            </a:outerShdw>
          </a:effectLst>
        </p:spPr>
      </p:sp>
      <p:sp>
        <p:nvSpPr>
          <p:cNvPr id="13" name="Text 11"/>
          <p:cNvSpPr/>
          <p:nvPr/>
        </p:nvSpPr>
        <p:spPr>
          <a:xfrm>
            <a:off x="4846320" y="2267712"/>
            <a:ext cx="1737360" cy="502920"/>
          </a:xfrm>
          <a:prstGeom prst="rect">
            <a:avLst/>
          </a:prstGeom>
          <a:noFill/>
          <a:ln/>
        </p:spPr>
        <p:txBody>
          <a:bodyPr wrap="square" lIns="0" tIns="0" rIns="0" bIns="0" rtlCol="0" anchor="ctr"/>
          <a:lstStyle/>
          <a:p>
            <a:pPr marL="0" indent="0" algn="ctr">
              <a:buNone/>
            </a:pPr>
            <a:r>
              <a:rPr lang="en-US" sz="2800" b="1" dirty="0">
                <a:solidFill>
                  <a:srgbClr val="FFFFFF"/>
                </a:solidFill>
              </a:rPr>
              <a:t>15+</a:t>
            </a:r>
            <a:endParaRPr lang="en-US" sz="2800" dirty="0"/>
          </a:p>
        </p:txBody>
      </p:sp>
      <p:sp>
        <p:nvSpPr>
          <p:cNvPr id="14" name="Text 12"/>
          <p:cNvSpPr/>
          <p:nvPr/>
        </p:nvSpPr>
        <p:spPr>
          <a:xfrm>
            <a:off x="4846320" y="2743200"/>
            <a:ext cx="1737360" cy="384048"/>
          </a:xfrm>
          <a:prstGeom prst="rect">
            <a:avLst/>
          </a:prstGeom>
          <a:noFill/>
          <a:ln/>
        </p:spPr>
        <p:txBody>
          <a:bodyPr wrap="square" lIns="0" tIns="0" rIns="0" bIns="0" rtlCol="0" anchor="ctr"/>
          <a:lstStyle/>
          <a:p>
            <a:pPr marL="0" indent="0" algn="ctr">
              <a:buNone/>
            </a:pPr>
            <a:r>
              <a:rPr lang="en-US" sz="900" dirty="0">
                <a:solidFill>
                  <a:srgbClr val="C8DFF0"/>
                </a:solidFill>
              </a:rPr>
              <a:t>DAX Measures</a:t>
            </a:r>
            <a:endParaRPr lang="en-US" sz="900" dirty="0"/>
          </a:p>
        </p:txBody>
      </p:sp>
      <p:sp>
        <p:nvSpPr>
          <p:cNvPr id="15" name="Shape 13"/>
          <p:cNvSpPr/>
          <p:nvPr/>
        </p:nvSpPr>
        <p:spPr>
          <a:xfrm>
            <a:off x="6858000" y="2240280"/>
            <a:ext cx="1737360" cy="914400"/>
          </a:xfrm>
          <a:prstGeom prst="rect">
            <a:avLst/>
          </a:prstGeom>
          <a:solidFill>
            <a:srgbClr val="F4A261">
              <a:alpha val="80000"/>
            </a:srgbClr>
          </a:solidFill>
          <a:ln w="12700">
            <a:solidFill>
              <a:srgbClr val="F4A261"/>
            </a:solidFill>
            <a:prstDash val="solid"/>
          </a:ln>
          <a:effectLst>
            <a:outerShdw blurRad="101600" dist="38100" dir="8100000" algn="bl" rotWithShape="0">
              <a:srgbClr val="000000">
                <a:alpha val="10000"/>
              </a:srgbClr>
            </a:outerShdw>
          </a:effectLst>
        </p:spPr>
      </p:sp>
      <p:sp>
        <p:nvSpPr>
          <p:cNvPr id="16" name="Text 14"/>
          <p:cNvSpPr/>
          <p:nvPr/>
        </p:nvSpPr>
        <p:spPr>
          <a:xfrm>
            <a:off x="6858000" y="2267712"/>
            <a:ext cx="1737360" cy="502920"/>
          </a:xfrm>
          <a:prstGeom prst="rect">
            <a:avLst/>
          </a:prstGeom>
          <a:noFill/>
          <a:ln/>
        </p:spPr>
        <p:txBody>
          <a:bodyPr wrap="square" lIns="0" tIns="0" rIns="0" bIns="0" rtlCol="0" anchor="ctr"/>
          <a:lstStyle/>
          <a:p>
            <a:pPr marL="0" indent="0" algn="ctr">
              <a:buNone/>
            </a:pPr>
            <a:r>
              <a:rPr lang="en-US" sz="2800" b="1" dirty="0">
                <a:solidFill>
                  <a:srgbClr val="FFFFFF"/>
                </a:solidFill>
              </a:rPr>
              <a:t>6</a:t>
            </a:r>
            <a:endParaRPr lang="en-US" sz="2800" dirty="0"/>
          </a:p>
        </p:txBody>
      </p:sp>
      <p:sp>
        <p:nvSpPr>
          <p:cNvPr id="17" name="Text 15"/>
          <p:cNvSpPr/>
          <p:nvPr/>
        </p:nvSpPr>
        <p:spPr>
          <a:xfrm>
            <a:off x="6858000" y="2743200"/>
            <a:ext cx="1737360" cy="384048"/>
          </a:xfrm>
          <a:prstGeom prst="rect">
            <a:avLst/>
          </a:prstGeom>
          <a:noFill/>
          <a:ln/>
        </p:spPr>
        <p:txBody>
          <a:bodyPr wrap="square" lIns="0" tIns="0" rIns="0" bIns="0" rtlCol="0" anchor="ctr"/>
          <a:lstStyle/>
          <a:p>
            <a:pPr marL="0" indent="0" algn="ctr">
              <a:buNone/>
            </a:pPr>
            <a:r>
              <a:rPr lang="en-US" sz="900" dirty="0">
                <a:solidFill>
                  <a:srgbClr val="C8DFF0"/>
                </a:solidFill>
              </a:rPr>
              <a:t>Key Findings</a:t>
            </a:r>
            <a:endParaRPr lang="en-US" sz="900" dirty="0"/>
          </a:p>
        </p:txBody>
      </p:sp>
      <p:sp>
        <p:nvSpPr>
          <p:cNvPr id="18" name="Shape 16"/>
          <p:cNvSpPr/>
          <p:nvPr/>
        </p:nvSpPr>
        <p:spPr>
          <a:xfrm>
            <a:off x="822960" y="3337560"/>
            <a:ext cx="7955280" cy="1325880"/>
          </a:xfrm>
          <a:prstGeom prst="rect">
            <a:avLst/>
          </a:prstGeom>
          <a:solidFill>
            <a:srgbClr val="0D2E45"/>
          </a:solidFill>
          <a:ln w="10160">
            <a:solidFill>
              <a:srgbClr val="2E86AB"/>
            </a:solidFill>
            <a:prstDash val="solid"/>
          </a:ln>
        </p:spPr>
      </p:sp>
      <p:sp>
        <p:nvSpPr>
          <p:cNvPr id="19" name="Text 17"/>
          <p:cNvSpPr/>
          <p:nvPr/>
        </p:nvSpPr>
        <p:spPr>
          <a:xfrm>
            <a:off x="1005840" y="3429000"/>
            <a:ext cx="7589520" cy="1143000"/>
          </a:xfrm>
          <a:prstGeom prst="rect">
            <a:avLst/>
          </a:prstGeom>
          <a:noFill/>
          <a:ln/>
        </p:spPr>
        <p:txBody>
          <a:bodyPr wrap="square" lIns="0" tIns="0" rIns="0" bIns="0" rtlCol="0" anchor="ctr"/>
          <a:lstStyle/>
          <a:p>
            <a:pPr marL="0" indent="0" algn="l">
              <a:buNone/>
            </a:pPr>
            <a:r>
              <a:rPr lang="en-US" sz="950" i="1" dirty="0">
                <a:solidFill>
                  <a:srgbClr val="C8DFF0"/>
                </a:solidFill>
              </a:rPr>
              <a:t>"This project transforms a 25,000-patient Mayo Clinic liver cirrhosis trial into 8 interactive Power BI dashboards. Hepatomegaly rises 3.3x across stages with 55.2% associated mortality. Severe edema carries 90.8% mortality. All biomarkers breach clinical norms at Stage 3, confirmed by a Severity Score rising 62.9%. D-penicillamine delivers +377 days at Stage 1 — but not at Stage 3. Early detection and treatment are the critical clinical windows."</a:t>
            </a:r>
            <a:endParaRPr lang="en-US" sz="950" dirty="0"/>
          </a:p>
        </p:txBody>
      </p:sp>
      <p:sp>
        <p:nvSpPr>
          <p:cNvPr id="20" name="Text 18"/>
          <p:cNvSpPr/>
          <p:nvPr/>
        </p:nvSpPr>
        <p:spPr>
          <a:xfrm>
            <a:off x="822960" y="4754880"/>
            <a:ext cx="7955280" cy="274320"/>
          </a:xfrm>
          <a:prstGeom prst="rect">
            <a:avLst/>
          </a:prstGeom>
          <a:noFill/>
          <a:ln/>
        </p:spPr>
        <p:txBody>
          <a:bodyPr wrap="square" lIns="0" tIns="0" rIns="0" bIns="0" rtlCol="0" anchor="ctr"/>
          <a:lstStyle/>
          <a:p>
            <a:pPr marL="0" indent="0" algn="ctr">
              <a:buNone/>
            </a:pPr>
            <a:r>
              <a:rPr lang="en-US" sz="800" dirty="0">
                <a:solidFill>
                  <a:srgbClr val="3D6680"/>
                </a:solidFill>
              </a:rPr>
              <a:t>Mayo Clinic PBC Trial · 1974–1984 · Kaggle Dataset · For Academic &amp; Research Purposes Only</a:t>
            </a:r>
            <a:endParaRPr lang="en-US" sz="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TotalTime>
  <Words>1450</Words>
  <Application>Microsoft Office PowerPoint</Application>
  <PresentationFormat>On-screen Show (16:9)</PresentationFormat>
  <Paragraphs>286</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Liver Cirrhosis Dashboard Project</dc:title>
  <dc:subject>PptxGenJS Presentation</dc:subject>
  <dc:creator>Liver Cirrhosis Analysis</dc:creator>
  <cp:lastModifiedBy>ADMIN</cp:lastModifiedBy>
  <cp:revision>13</cp:revision>
  <dcterms:created xsi:type="dcterms:W3CDTF">2026-03-26T16:38:54Z</dcterms:created>
  <dcterms:modified xsi:type="dcterms:W3CDTF">2026-03-26T18:11:46Z</dcterms:modified>
</cp:coreProperties>
</file>